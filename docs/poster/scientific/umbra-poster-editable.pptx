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14630400" cy="21945600"/>
  <p:notesSz cx="21945600" cy="146304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10312"/>
            <a:ext cx="13533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321B4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RoSEF 2026  /  TEHNOLOGIA INFORMAȚIEI ȘI COMUNICAȚIILOR  /  APLICAȚIE MOBILĂ + CERCETARE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02920" y="438912"/>
            <a:ext cx="77724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200" b="1" dirty="0">
                <a:solidFill>
                  <a:srgbClr val="321B4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UMBRA</a:t>
            </a:r>
            <a:endParaRPr lang="en-US" sz="8200" dirty="0"/>
          </a:p>
        </p:txBody>
      </p:sp>
      <p:sp>
        <p:nvSpPr>
          <p:cNvPr id="4" name="Text 2"/>
          <p:cNvSpPr/>
          <p:nvPr/>
        </p:nvSpPr>
        <p:spPr>
          <a:xfrm>
            <a:off x="8641080" y="585216"/>
            <a:ext cx="53035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300" b="1" dirty="0">
                <a:solidFill>
                  <a:srgbClr val="B84419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Trasee umbrite.</a:t>
            </a:r>
            <a:endParaRPr lang="en-US" sz="2300" dirty="0"/>
          </a:p>
          <a:p>
            <a:pPr algn="l" indent="0" marL="0">
              <a:buNone/>
            </a:pPr>
            <a:r>
              <a:rPr lang="en-US" sz="2300" b="1" dirty="0">
                <a:solidFill>
                  <a:srgbClr val="B84419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Înălțimi din umbre.</a:t>
            </a:r>
            <a:endParaRPr lang="en-US" sz="2300" dirty="0"/>
          </a:p>
        </p:txBody>
      </p:sp>
      <p:sp>
        <p:nvSpPr>
          <p:cNvPr id="5" name="Text 3"/>
          <p:cNvSpPr/>
          <p:nvPr/>
        </p:nvSpPr>
        <p:spPr>
          <a:xfrm>
            <a:off x="594360" y="1691640"/>
            <a:ext cx="429768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21B4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Eduard-Mihai Perjoc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594360" y="1993392"/>
            <a:ext cx="429768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00" dirty="0">
                <a:solidFill>
                  <a:srgbClr val="625A6A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Liceul Tehnologic de Marină</a:t>
            </a:r>
            <a:endParaRPr lang="en-US" sz="1100" dirty="0"/>
          </a:p>
          <a:p>
            <a:pPr algn="l" indent="0" marL="0">
              <a:buNone/>
            </a:pPr>
            <a:r>
              <a:rPr lang="en-US" sz="1100" dirty="0">
                <a:solidFill>
                  <a:srgbClr val="625A6A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Constanța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148072" y="1691640"/>
            <a:ext cx="429768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21B4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Eduard-Andrei Haivas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5148072" y="1993392"/>
            <a:ext cx="429768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00" dirty="0">
                <a:solidFill>
                  <a:srgbClr val="625A6A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Liceul Internațional de Informatică</a:t>
            </a:r>
            <a:endParaRPr lang="en-US" sz="1100" dirty="0"/>
          </a:p>
          <a:p>
            <a:pPr algn="l" indent="0" marL="0">
              <a:buNone/>
            </a:pPr>
            <a:r>
              <a:rPr lang="en-US" sz="1100" dirty="0">
                <a:solidFill>
                  <a:srgbClr val="625A6A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Constanța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9701784" y="1691640"/>
            <a:ext cx="429768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21B4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Cezar-Ștefan Manea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9701784" y="1993392"/>
            <a:ext cx="429768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00" dirty="0">
                <a:solidFill>
                  <a:srgbClr val="625A6A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Liceul Tehnologic de Electrotehnică</a:t>
            </a:r>
            <a:endParaRPr lang="en-US" sz="1100" dirty="0"/>
          </a:p>
          <a:p>
            <a:pPr algn="l" indent="0" marL="0">
              <a:buNone/>
            </a:pPr>
            <a:r>
              <a:rPr lang="en-US" sz="1100" dirty="0">
                <a:solidFill>
                  <a:srgbClr val="625A6A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și Telecomunicații · Constanța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548640" y="2450592"/>
            <a:ext cx="13533120" cy="987552"/>
          </a:xfrm>
          <a:prstGeom prst="rect">
            <a:avLst/>
          </a:prstGeom>
          <a:solidFill>
            <a:srgbClr val="F1EDF5"/>
          </a:solidFill>
          <a:ln w="12700">
            <a:solidFill>
              <a:srgbClr val="F1EDF5">
                <a:alpha val="0"/>
              </a:srgbClr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31520" y="2532888"/>
            <a:ext cx="1307592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B84419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ÎNTREBAREA ȘTIINȚIFICĂ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731520" y="2807208"/>
            <a:ext cx="13075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321B4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Cu ce eroare estimăm înălțimea clădirilor din umbre și când rămân vârfurile umbrelor neobstrucționate?</a:t>
            </a:r>
            <a:endParaRPr lang="en-US" sz="1700" dirty="0"/>
          </a:p>
        </p:txBody>
      </p:sp>
      <p:sp>
        <p:nvSpPr>
          <p:cNvPr id="14" name="Text 12"/>
          <p:cNvSpPr/>
          <p:nvPr/>
        </p:nvSpPr>
        <p:spPr>
          <a:xfrm>
            <a:off x="731520" y="3191256"/>
            <a:ext cx="13075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625A6A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Aplicăm înălțimile obținute la harta umbrelor și la comparația traseelor pietonale.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48640" y="3593592"/>
            <a:ext cx="4251960" cy="310896"/>
          </a:xfrm>
          <a:prstGeom prst="rect">
            <a:avLst/>
          </a:prstGeom>
          <a:solidFill>
            <a:srgbClr val="321B40"/>
          </a:solidFill>
          <a:ln w="12700">
            <a:solidFill>
              <a:srgbClr val="321B40">
                <a:alpha val="0"/>
              </a:srgbClr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58368" y="3625596"/>
            <a:ext cx="40690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01  APLICAȚIA UMBRA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594360" y="4014216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321B4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Traseu mai rapid sau mai umbrit?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594360" y="4562856"/>
            <a:ext cx="406908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300" dirty="0">
                <a:solidFill>
                  <a:srgbClr val="321B4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Alegi destinația, ora plecării și ocolul acceptat. Umbra compară durata și expunerea estimată la soare.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594360" y="5394960"/>
            <a:ext cx="4069080" cy="7040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321B4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Clădiri + copaci + prognoză meteo: serverul calculează alternativele; telefonul afișează harta și urmărirea GPS.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594360" y="6217920"/>
            <a:ext cx="4069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321B4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„Măsoară clădirea”: GPS, ruletă/laser sau fotografie din dronă → înălțime și incertitudine.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594360" y="6903720"/>
            <a:ext cx="411480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00" dirty="0">
                <a:solidFill>
                  <a:srgbClr val="B84419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Salvare locală; partajare opțională. Înălțimile confirmate actualizează modelul.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548640" y="7424928"/>
            <a:ext cx="4251960" cy="310896"/>
          </a:xfrm>
          <a:prstGeom prst="rect">
            <a:avLst/>
          </a:prstGeom>
          <a:solidFill>
            <a:srgbClr val="321B40"/>
          </a:solidFill>
          <a:ln w="12700">
            <a:solidFill>
              <a:srgbClr val="321B40">
                <a:alpha val="0"/>
              </a:srgbClr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58368" y="7456932"/>
            <a:ext cx="40690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02  PRINCIPIU ȘI METODĂ</a:t>
            </a:r>
            <a:endParaRPr lang="en-US" sz="1300" dirty="0"/>
          </a:p>
        </p:txBody>
      </p:sp>
      <p:pic>
        <p:nvPicPr>
          <p:cNvPr id="24" name="Image 0" descr="/home/kawase/Documents/GitHub/umbra/docs/poster/scientific/building-3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60120" y="7836408"/>
            <a:ext cx="3246120" cy="1618488"/>
          </a:xfrm>
          <a:prstGeom prst="rect">
            <a:avLst/>
          </a:prstGeom>
        </p:spPr>
      </p:pic>
      <p:sp>
        <p:nvSpPr>
          <p:cNvPr id="25" name="Text 22"/>
          <p:cNvSpPr/>
          <p:nvPr/>
        </p:nvSpPr>
        <p:spPr>
          <a:xfrm>
            <a:off x="1298448" y="856792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321B4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h</a:t>
            </a:r>
            <a:endParaRPr lang="en-US" sz="1500" dirty="0"/>
          </a:p>
        </p:txBody>
      </p:sp>
      <p:sp>
        <p:nvSpPr>
          <p:cNvPr id="26" name="Text 23"/>
          <p:cNvSpPr/>
          <p:nvPr/>
        </p:nvSpPr>
        <p:spPr>
          <a:xfrm>
            <a:off x="2761488" y="9217152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321B4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L</a:t>
            </a:r>
            <a:endParaRPr lang="en-US" sz="1500" dirty="0"/>
          </a:p>
        </p:txBody>
      </p:sp>
      <p:sp>
        <p:nvSpPr>
          <p:cNvPr id="27" name="Text 24"/>
          <p:cNvSpPr/>
          <p:nvPr/>
        </p:nvSpPr>
        <p:spPr>
          <a:xfrm>
            <a:off x="3346704" y="8897112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321B4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e</a:t>
            </a:r>
            <a:endParaRPr lang="en-US" sz="1500" dirty="0"/>
          </a:p>
        </p:txBody>
      </p:sp>
      <p:sp>
        <p:nvSpPr>
          <p:cNvPr id="28" name="Text 25"/>
          <p:cNvSpPr/>
          <p:nvPr/>
        </p:nvSpPr>
        <p:spPr>
          <a:xfrm>
            <a:off x="658368" y="9409176"/>
            <a:ext cx="3931920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300" b="1" dirty="0">
                <a:solidFill>
                  <a:srgbClr val="321B4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h = L · tan(e)</a:t>
            </a:r>
            <a:endParaRPr lang="en-US" sz="2300" dirty="0"/>
          </a:p>
        </p:txBody>
      </p:sp>
      <p:sp>
        <p:nvSpPr>
          <p:cNvPr id="29" name="Text 26"/>
          <p:cNvSpPr/>
          <p:nvPr/>
        </p:nvSpPr>
        <p:spPr>
          <a:xfrm>
            <a:off x="658368" y="9811512"/>
            <a:ext cx="406908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00" dirty="0">
                <a:solidFill>
                  <a:srgbClr val="321B4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h: înălțime · L: lungimea umbrei · e: elevația Soarelui</a:t>
            </a:r>
            <a:endParaRPr lang="en-US" sz="1100" dirty="0"/>
          </a:p>
        </p:txBody>
      </p:sp>
      <p:sp>
        <p:nvSpPr>
          <p:cNvPr id="30" name="Shape 27"/>
          <p:cNvSpPr/>
          <p:nvPr/>
        </p:nvSpPr>
        <p:spPr>
          <a:xfrm>
            <a:off x="5257800" y="3593592"/>
            <a:ext cx="8823960" cy="310896"/>
          </a:xfrm>
          <a:prstGeom prst="rect">
            <a:avLst/>
          </a:prstGeom>
          <a:solidFill>
            <a:srgbClr val="321B40"/>
          </a:solidFill>
          <a:ln w="12700">
            <a:solidFill>
              <a:srgbClr val="321B40">
                <a:alpha val="0"/>
              </a:srgbClr>
            </a:solidFill>
            <a:prstDash val="solid"/>
          </a:ln>
        </p:spPr>
      </p:sp>
      <p:sp>
        <p:nvSpPr>
          <p:cNvPr id="31" name="Text 28"/>
          <p:cNvSpPr/>
          <p:nvPr/>
        </p:nvSpPr>
        <p:spPr>
          <a:xfrm>
            <a:off x="5367528" y="3625596"/>
            <a:ext cx="86410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03  CERCETARE: DATE ȘI REZULTATE</a:t>
            </a:r>
            <a:endParaRPr lang="en-US" sz="1300" dirty="0"/>
          </a:p>
        </p:txBody>
      </p:sp>
      <p:sp>
        <p:nvSpPr>
          <p:cNvPr id="32" name="Text 29"/>
          <p:cNvSpPr/>
          <p:nvPr/>
        </p:nvSpPr>
        <p:spPr>
          <a:xfrm>
            <a:off x="5303520" y="4014216"/>
            <a:ext cx="8686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321B4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Fig. 1  În OSM, 87,8% dintre clădiri nu au înălțime sau etaje</a:t>
            </a:r>
            <a:endParaRPr lang="en-US" sz="1500" dirty="0"/>
          </a:p>
        </p:txBody>
      </p:sp>
      <p:sp>
        <p:nvSpPr>
          <p:cNvPr id="33" name="Shape 30"/>
          <p:cNvSpPr/>
          <p:nvPr/>
        </p:nvSpPr>
        <p:spPr>
          <a:xfrm>
            <a:off x="5440680" y="4590288"/>
            <a:ext cx="42884" cy="475488"/>
          </a:xfrm>
          <a:prstGeom prst="rect">
            <a:avLst/>
          </a:prstGeom>
          <a:solidFill>
            <a:srgbClr val="321B40"/>
          </a:solidFill>
          <a:ln w="12700">
            <a:solidFill>
              <a:srgbClr val="321B40">
                <a:alpha val="0"/>
              </a:srgbClr>
            </a:solidFill>
            <a:prstDash val="solid"/>
          </a:ln>
        </p:spPr>
      </p:sp>
      <p:sp>
        <p:nvSpPr>
          <p:cNvPr id="34" name="Shape 31"/>
          <p:cNvSpPr/>
          <p:nvPr/>
        </p:nvSpPr>
        <p:spPr>
          <a:xfrm>
            <a:off x="5483564" y="4590288"/>
            <a:ext cx="935695" cy="475488"/>
          </a:xfrm>
          <a:prstGeom prst="rect">
            <a:avLst/>
          </a:prstGeom>
          <a:solidFill>
            <a:srgbClr val="AF9ABF"/>
          </a:solidFill>
          <a:ln w="12700">
            <a:solidFill>
              <a:srgbClr val="AF9ABF">
                <a:alpha val="0"/>
              </a:srgbClr>
            </a:solidFill>
            <a:prstDash val="solid"/>
          </a:ln>
        </p:spPr>
      </p:sp>
      <p:sp>
        <p:nvSpPr>
          <p:cNvPr id="35" name="Shape 32"/>
          <p:cNvSpPr/>
          <p:nvPr/>
        </p:nvSpPr>
        <p:spPr>
          <a:xfrm>
            <a:off x="6419259" y="4590288"/>
            <a:ext cx="7146130" cy="475488"/>
          </a:xfrm>
          <a:prstGeom prst="rect">
            <a:avLst/>
          </a:prstGeom>
          <a:solidFill>
            <a:srgbClr val="B84419"/>
          </a:solidFill>
          <a:ln w="12700">
            <a:solidFill>
              <a:srgbClr val="B84419">
                <a:alpha val="0"/>
              </a:srgbClr>
            </a:solidFill>
            <a:prstDash val="solid"/>
          </a:ln>
        </p:spPr>
      </p:sp>
      <p:sp>
        <p:nvSpPr>
          <p:cNvPr id="36" name="Shape 33"/>
          <p:cNvSpPr/>
          <p:nvPr/>
        </p:nvSpPr>
        <p:spPr>
          <a:xfrm>
            <a:off x="13565389" y="4590288"/>
            <a:ext cx="13451" cy="475488"/>
          </a:xfrm>
          <a:prstGeom prst="rect">
            <a:avLst/>
          </a:prstGeom>
          <a:solidFill>
            <a:srgbClr val="D2CBD7"/>
          </a:solidFill>
          <a:ln w="12700">
            <a:solidFill>
              <a:srgbClr val="D2CBD7">
                <a:alpha val="0"/>
              </a:srgbClr>
            </a:solidFill>
            <a:prstDash val="solid"/>
          </a:ln>
        </p:spPr>
      </p:sp>
      <p:sp>
        <p:nvSpPr>
          <p:cNvPr id="37" name="Text 34"/>
          <p:cNvSpPr/>
          <p:nvPr/>
        </p:nvSpPr>
        <p:spPr>
          <a:xfrm>
            <a:off x="7772400" y="4654296"/>
            <a:ext cx="5029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45.159 fără înălțime sau etaje</a:t>
            </a:r>
            <a:endParaRPr lang="en-US" sz="1400" dirty="0"/>
          </a:p>
        </p:txBody>
      </p:sp>
      <p:sp>
        <p:nvSpPr>
          <p:cNvPr id="38" name="Text 35"/>
          <p:cNvSpPr/>
          <p:nvPr/>
        </p:nvSpPr>
        <p:spPr>
          <a:xfrm>
            <a:off x="5440680" y="523036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321B4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271 înălțimi OSM · 5.913 doar etaje · 85 alte cazuri</a:t>
            </a:r>
            <a:endParaRPr lang="en-US" sz="1200" dirty="0"/>
          </a:p>
        </p:txBody>
      </p:sp>
      <p:sp>
        <p:nvSpPr>
          <p:cNvPr id="39" name="Text 36"/>
          <p:cNvSpPr/>
          <p:nvPr/>
        </p:nvSpPr>
        <p:spPr>
          <a:xfrm>
            <a:off x="5440680" y="5586984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625A6A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Studiu Constanța, OSM 25.10.2026: 51.428 clădiri; GBA asociat la 40.658.</a:t>
            </a:r>
            <a:endParaRPr lang="en-US" sz="1200" dirty="0"/>
          </a:p>
        </p:txBody>
      </p:sp>
      <p:sp>
        <p:nvSpPr>
          <p:cNvPr id="40" name="Text 37"/>
          <p:cNvSpPr/>
          <p:nvPr/>
        </p:nvSpPr>
        <p:spPr>
          <a:xfrm>
            <a:off x="5440680" y="5952744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B84419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În aplicație, Copernicus 2012 adaugă 16.243 estimări pentru clădiri fără înălțimi OSM.</a:t>
            </a:r>
            <a:endParaRPr lang="en-US" sz="1200" dirty="0"/>
          </a:p>
        </p:txBody>
      </p:sp>
      <p:sp>
        <p:nvSpPr>
          <p:cNvPr id="41" name="Text 38"/>
          <p:cNvSpPr/>
          <p:nvPr/>
        </p:nvSpPr>
        <p:spPr>
          <a:xfrm>
            <a:off x="5303520" y="6446520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321B4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Fig. 2  Înălțimea GBA pe etaj scade la blocurile înalte</a:t>
            </a:r>
            <a:endParaRPr lang="en-US" sz="1500" dirty="0"/>
          </a:p>
        </p:txBody>
      </p:sp>
      <p:sp>
        <p:nvSpPr>
          <p:cNvPr id="42" name="Shape 39"/>
          <p:cNvSpPr/>
          <p:nvPr/>
        </p:nvSpPr>
        <p:spPr>
          <a:xfrm>
            <a:off x="5989320" y="8833104"/>
            <a:ext cx="7589520" cy="914"/>
          </a:xfrm>
          <a:prstGeom prst="line">
            <a:avLst/>
          </a:prstGeom>
          <a:noFill/>
          <a:ln w="8890">
            <a:solidFill>
              <a:srgbClr val="DDD7E2"/>
            </a:solidFill>
            <a:prstDash val="solid"/>
          </a:ln>
        </p:spPr>
      </p:sp>
      <p:sp>
        <p:nvSpPr>
          <p:cNvPr id="43" name="Text 40"/>
          <p:cNvSpPr/>
          <p:nvPr/>
        </p:nvSpPr>
        <p:spPr>
          <a:xfrm>
            <a:off x="5669280" y="8723376"/>
            <a:ext cx="23774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100" dirty="0">
                <a:solidFill>
                  <a:srgbClr val="625A6A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0</a:t>
            </a:r>
            <a:endParaRPr lang="en-US" sz="1100" dirty="0"/>
          </a:p>
        </p:txBody>
      </p:sp>
      <p:sp>
        <p:nvSpPr>
          <p:cNvPr id="44" name="Shape 41"/>
          <p:cNvSpPr/>
          <p:nvPr/>
        </p:nvSpPr>
        <p:spPr>
          <a:xfrm>
            <a:off x="5989320" y="8403336"/>
            <a:ext cx="7589520" cy="914"/>
          </a:xfrm>
          <a:prstGeom prst="line">
            <a:avLst/>
          </a:prstGeom>
          <a:noFill/>
          <a:ln w="8890">
            <a:solidFill>
              <a:srgbClr val="DDD7E2"/>
            </a:solidFill>
            <a:prstDash val="solid"/>
          </a:ln>
        </p:spPr>
      </p:sp>
      <p:sp>
        <p:nvSpPr>
          <p:cNvPr id="45" name="Text 42"/>
          <p:cNvSpPr/>
          <p:nvPr/>
        </p:nvSpPr>
        <p:spPr>
          <a:xfrm>
            <a:off x="5669280" y="8293608"/>
            <a:ext cx="23774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100" dirty="0">
                <a:solidFill>
                  <a:srgbClr val="625A6A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1</a:t>
            </a:r>
            <a:endParaRPr lang="en-US" sz="1100" dirty="0"/>
          </a:p>
        </p:txBody>
      </p:sp>
      <p:sp>
        <p:nvSpPr>
          <p:cNvPr id="46" name="Shape 43"/>
          <p:cNvSpPr/>
          <p:nvPr/>
        </p:nvSpPr>
        <p:spPr>
          <a:xfrm>
            <a:off x="5989320" y="7973568"/>
            <a:ext cx="7589520" cy="914"/>
          </a:xfrm>
          <a:prstGeom prst="line">
            <a:avLst/>
          </a:prstGeom>
          <a:noFill/>
          <a:ln w="8890">
            <a:solidFill>
              <a:srgbClr val="DDD7E2"/>
            </a:solidFill>
            <a:prstDash val="solid"/>
          </a:ln>
        </p:spPr>
      </p:sp>
      <p:sp>
        <p:nvSpPr>
          <p:cNvPr id="47" name="Text 44"/>
          <p:cNvSpPr/>
          <p:nvPr/>
        </p:nvSpPr>
        <p:spPr>
          <a:xfrm>
            <a:off x="5669280" y="7863840"/>
            <a:ext cx="23774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100" dirty="0">
                <a:solidFill>
                  <a:srgbClr val="625A6A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2</a:t>
            </a:r>
            <a:endParaRPr lang="en-US" sz="1100" dirty="0"/>
          </a:p>
        </p:txBody>
      </p:sp>
      <p:sp>
        <p:nvSpPr>
          <p:cNvPr id="48" name="Shape 45"/>
          <p:cNvSpPr/>
          <p:nvPr/>
        </p:nvSpPr>
        <p:spPr>
          <a:xfrm>
            <a:off x="5989320" y="7543800"/>
            <a:ext cx="7589520" cy="914"/>
          </a:xfrm>
          <a:prstGeom prst="line">
            <a:avLst/>
          </a:prstGeom>
          <a:noFill/>
          <a:ln w="8890">
            <a:solidFill>
              <a:srgbClr val="DDD7E2"/>
            </a:solidFill>
            <a:prstDash val="solid"/>
          </a:ln>
        </p:spPr>
      </p:sp>
      <p:sp>
        <p:nvSpPr>
          <p:cNvPr id="49" name="Text 46"/>
          <p:cNvSpPr/>
          <p:nvPr/>
        </p:nvSpPr>
        <p:spPr>
          <a:xfrm>
            <a:off x="5669280" y="7434072"/>
            <a:ext cx="23774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100" dirty="0">
                <a:solidFill>
                  <a:srgbClr val="625A6A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3</a:t>
            </a:r>
            <a:endParaRPr lang="en-US" sz="1100" dirty="0"/>
          </a:p>
        </p:txBody>
      </p:sp>
      <p:sp>
        <p:nvSpPr>
          <p:cNvPr id="50" name="Shape 47"/>
          <p:cNvSpPr/>
          <p:nvPr/>
        </p:nvSpPr>
        <p:spPr>
          <a:xfrm>
            <a:off x="5989320" y="7114032"/>
            <a:ext cx="7589520" cy="914"/>
          </a:xfrm>
          <a:prstGeom prst="line">
            <a:avLst/>
          </a:prstGeom>
          <a:noFill/>
          <a:ln w="8890">
            <a:solidFill>
              <a:srgbClr val="DDD7E2"/>
            </a:solidFill>
            <a:prstDash val="solid"/>
          </a:ln>
        </p:spPr>
      </p:sp>
      <p:sp>
        <p:nvSpPr>
          <p:cNvPr id="51" name="Text 48"/>
          <p:cNvSpPr/>
          <p:nvPr/>
        </p:nvSpPr>
        <p:spPr>
          <a:xfrm>
            <a:off x="5669280" y="7004304"/>
            <a:ext cx="23774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100" dirty="0">
                <a:solidFill>
                  <a:srgbClr val="625A6A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4</a:t>
            </a:r>
            <a:endParaRPr lang="en-US" sz="1100" dirty="0"/>
          </a:p>
        </p:txBody>
      </p:sp>
      <p:sp>
        <p:nvSpPr>
          <p:cNvPr id="52" name="Shape 49"/>
          <p:cNvSpPr/>
          <p:nvPr/>
        </p:nvSpPr>
        <p:spPr>
          <a:xfrm>
            <a:off x="6519672" y="7131223"/>
            <a:ext cx="822960" cy="1701881"/>
          </a:xfrm>
          <a:prstGeom prst="rect">
            <a:avLst/>
          </a:prstGeom>
          <a:solidFill>
            <a:srgbClr val="AF9ABF"/>
          </a:solidFill>
          <a:ln w="12700">
            <a:solidFill>
              <a:srgbClr val="AF9ABF">
                <a:alpha val="0"/>
              </a:srgbClr>
            </a:solidFill>
            <a:prstDash val="solid"/>
          </a:ln>
        </p:spPr>
      </p:sp>
      <p:sp>
        <p:nvSpPr>
          <p:cNvPr id="53" name="Text 50"/>
          <p:cNvSpPr/>
          <p:nvPr/>
        </p:nvSpPr>
        <p:spPr>
          <a:xfrm>
            <a:off x="6519672" y="6856903"/>
            <a:ext cx="8229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21B4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3,96</a:t>
            </a:r>
            <a:endParaRPr lang="en-US" sz="1200" dirty="0"/>
          </a:p>
        </p:txBody>
      </p:sp>
      <p:sp>
        <p:nvSpPr>
          <p:cNvPr id="54" name="Text 51"/>
          <p:cNvSpPr/>
          <p:nvPr/>
        </p:nvSpPr>
        <p:spPr>
          <a:xfrm>
            <a:off x="6291072" y="8897112"/>
            <a:ext cx="12801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00" dirty="0">
                <a:solidFill>
                  <a:srgbClr val="321B4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1–2 etaje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321B4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n = 2.591</a:t>
            </a:r>
            <a:endParaRPr lang="en-US" sz="1100" dirty="0"/>
          </a:p>
        </p:txBody>
      </p:sp>
      <p:sp>
        <p:nvSpPr>
          <p:cNvPr id="55" name="Shape 52"/>
          <p:cNvSpPr/>
          <p:nvPr/>
        </p:nvSpPr>
        <p:spPr>
          <a:xfrm>
            <a:off x="8330184" y="7913400"/>
            <a:ext cx="822960" cy="919704"/>
          </a:xfrm>
          <a:prstGeom prst="rect">
            <a:avLst/>
          </a:prstGeom>
          <a:solidFill>
            <a:srgbClr val="AF9ABF"/>
          </a:solidFill>
          <a:ln w="12700">
            <a:solidFill>
              <a:srgbClr val="AF9ABF">
                <a:alpha val="0"/>
              </a:srgbClr>
            </a:solidFill>
            <a:prstDash val="solid"/>
          </a:ln>
        </p:spPr>
      </p:sp>
      <p:sp>
        <p:nvSpPr>
          <p:cNvPr id="56" name="Text 53"/>
          <p:cNvSpPr/>
          <p:nvPr/>
        </p:nvSpPr>
        <p:spPr>
          <a:xfrm>
            <a:off x="8330184" y="7639080"/>
            <a:ext cx="8229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21B4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2,14</a:t>
            </a:r>
            <a:endParaRPr lang="en-US" sz="1200" dirty="0"/>
          </a:p>
        </p:txBody>
      </p:sp>
      <p:sp>
        <p:nvSpPr>
          <p:cNvPr id="57" name="Text 54"/>
          <p:cNvSpPr/>
          <p:nvPr/>
        </p:nvSpPr>
        <p:spPr>
          <a:xfrm>
            <a:off x="8101584" y="8897112"/>
            <a:ext cx="12801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00" dirty="0">
                <a:solidFill>
                  <a:srgbClr val="321B4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3–4 etaje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321B4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n = 965</a:t>
            </a:r>
            <a:endParaRPr lang="en-US" sz="1100" dirty="0"/>
          </a:p>
        </p:txBody>
      </p:sp>
      <p:sp>
        <p:nvSpPr>
          <p:cNvPr id="58" name="Shape 55"/>
          <p:cNvSpPr/>
          <p:nvPr/>
        </p:nvSpPr>
        <p:spPr>
          <a:xfrm>
            <a:off x="10140696" y="8063819"/>
            <a:ext cx="822960" cy="769285"/>
          </a:xfrm>
          <a:prstGeom prst="rect">
            <a:avLst/>
          </a:prstGeom>
          <a:solidFill>
            <a:srgbClr val="AF9ABF"/>
          </a:solidFill>
          <a:ln w="12700">
            <a:solidFill>
              <a:srgbClr val="AF9ABF">
                <a:alpha val="0"/>
              </a:srgbClr>
            </a:solidFill>
            <a:prstDash val="solid"/>
          </a:ln>
        </p:spPr>
      </p:sp>
      <p:sp>
        <p:nvSpPr>
          <p:cNvPr id="59" name="Text 56"/>
          <p:cNvSpPr/>
          <p:nvPr/>
        </p:nvSpPr>
        <p:spPr>
          <a:xfrm>
            <a:off x="10140696" y="7789499"/>
            <a:ext cx="8229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21B4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1,79</a:t>
            </a:r>
            <a:endParaRPr lang="en-US" sz="1200" dirty="0"/>
          </a:p>
        </p:txBody>
      </p:sp>
      <p:sp>
        <p:nvSpPr>
          <p:cNvPr id="60" name="Text 57"/>
          <p:cNvSpPr/>
          <p:nvPr/>
        </p:nvSpPr>
        <p:spPr>
          <a:xfrm>
            <a:off x="9912096" y="8897112"/>
            <a:ext cx="12801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00" dirty="0">
                <a:solidFill>
                  <a:srgbClr val="321B4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5–8 etaje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321B4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n = 1.042</a:t>
            </a:r>
            <a:endParaRPr lang="en-US" sz="1100" dirty="0"/>
          </a:p>
        </p:txBody>
      </p:sp>
      <p:sp>
        <p:nvSpPr>
          <p:cNvPr id="61" name="Shape 58"/>
          <p:cNvSpPr/>
          <p:nvPr/>
        </p:nvSpPr>
        <p:spPr>
          <a:xfrm>
            <a:off x="11951208" y="8248620"/>
            <a:ext cx="822960" cy="584484"/>
          </a:xfrm>
          <a:prstGeom prst="rect">
            <a:avLst/>
          </a:prstGeom>
          <a:solidFill>
            <a:srgbClr val="B84419"/>
          </a:solidFill>
          <a:ln w="12700">
            <a:solidFill>
              <a:srgbClr val="B84419">
                <a:alpha val="0"/>
              </a:srgbClr>
            </a:solidFill>
            <a:prstDash val="solid"/>
          </a:ln>
        </p:spPr>
      </p:sp>
      <p:sp>
        <p:nvSpPr>
          <p:cNvPr id="62" name="Text 59"/>
          <p:cNvSpPr/>
          <p:nvPr/>
        </p:nvSpPr>
        <p:spPr>
          <a:xfrm>
            <a:off x="11951208" y="7974300"/>
            <a:ext cx="8229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21B4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1,36</a:t>
            </a:r>
            <a:endParaRPr lang="en-US" sz="1200" dirty="0"/>
          </a:p>
        </p:txBody>
      </p:sp>
      <p:sp>
        <p:nvSpPr>
          <p:cNvPr id="63" name="Text 60"/>
          <p:cNvSpPr/>
          <p:nvPr/>
        </p:nvSpPr>
        <p:spPr>
          <a:xfrm>
            <a:off x="11722608" y="8897112"/>
            <a:ext cx="12801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00" dirty="0">
                <a:solidFill>
                  <a:srgbClr val="321B4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9–12 etaje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321B4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n = 309</a:t>
            </a:r>
            <a:endParaRPr lang="en-US" sz="1100" dirty="0"/>
          </a:p>
        </p:txBody>
      </p:sp>
      <p:sp>
        <p:nvSpPr>
          <p:cNvPr id="64" name="Text 61"/>
          <p:cNvSpPr/>
          <p:nvPr/>
        </p:nvSpPr>
        <p:spPr>
          <a:xfrm>
            <a:off x="5989320" y="9418320"/>
            <a:ext cx="7498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00" dirty="0">
                <a:solidFill>
                  <a:srgbClr val="625A6A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Mediana înălțimii GBA / etaje (m)</a:t>
            </a:r>
            <a:endParaRPr lang="en-US" sz="1100" dirty="0"/>
          </a:p>
        </p:txBody>
      </p:sp>
      <p:sp>
        <p:nvSpPr>
          <p:cNvPr id="65" name="Text 62"/>
          <p:cNvSpPr/>
          <p:nvPr/>
        </p:nvSpPr>
        <p:spPr>
          <a:xfrm>
            <a:off x="5989320" y="9710928"/>
            <a:ext cx="7680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00" dirty="0">
                <a:solidFill>
                  <a:srgbClr val="625A6A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n = 4.925 asocieri; graficul arată 4.907 clădiri cu 1–12 etaje.</a:t>
            </a:r>
            <a:endParaRPr lang="en-US" sz="1100" dirty="0"/>
          </a:p>
        </p:txBody>
      </p:sp>
      <p:sp>
        <p:nvSpPr>
          <p:cNvPr id="66" name="Shape 63"/>
          <p:cNvSpPr/>
          <p:nvPr/>
        </p:nvSpPr>
        <p:spPr>
          <a:xfrm>
            <a:off x="548640" y="10104120"/>
            <a:ext cx="6492240" cy="310896"/>
          </a:xfrm>
          <a:prstGeom prst="rect">
            <a:avLst/>
          </a:prstGeom>
          <a:solidFill>
            <a:srgbClr val="321B40"/>
          </a:solidFill>
          <a:ln w="12700">
            <a:solidFill>
              <a:srgbClr val="321B40">
                <a:alpha val="0"/>
              </a:srgbClr>
            </a:solidFill>
            <a:prstDash val="solid"/>
          </a:ln>
        </p:spPr>
      </p:sp>
      <p:sp>
        <p:nvSpPr>
          <p:cNvPr id="67" name="Text 64"/>
          <p:cNvSpPr/>
          <p:nvPr/>
        </p:nvSpPr>
        <p:spPr>
          <a:xfrm>
            <a:off x="658368" y="10136124"/>
            <a:ext cx="63093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04  MODELUL INCERTITUDINII</a:t>
            </a:r>
            <a:endParaRPr lang="en-US" sz="1300" dirty="0"/>
          </a:p>
        </p:txBody>
      </p:sp>
      <p:sp>
        <p:nvSpPr>
          <p:cNvPr id="68" name="Shape 65"/>
          <p:cNvSpPr/>
          <p:nvPr/>
        </p:nvSpPr>
        <p:spPr>
          <a:xfrm>
            <a:off x="7498080" y="10104120"/>
            <a:ext cx="6583680" cy="310896"/>
          </a:xfrm>
          <a:prstGeom prst="rect">
            <a:avLst/>
          </a:prstGeom>
          <a:solidFill>
            <a:srgbClr val="321B40"/>
          </a:solidFill>
          <a:ln w="12700">
            <a:solidFill>
              <a:srgbClr val="321B40">
                <a:alpha val="0"/>
              </a:srgbClr>
            </a:solidFill>
            <a:prstDash val="solid"/>
          </a:ln>
        </p:spPr>
      </p:sp>
      <p:sp>
        <p:nvSpPr>
          <p:cNvPr id="69" name="Text 66"/>
          <p:cNvSpPr/>
          <p:nvPr/>
        </p:nvSpPr>
        <p:spPr>
          <a:xfrm>
            <a:off x="7607808" y="1013612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05  FEZABILITATE GEOMETRICĂ</a:t>
            </a:r>
            <a:endParaRPr lang="en-US" sz="1300" dirty="0"/>
          </a:p>
        </p:txBody>
      </p:sp>
      <p:sp>
        <p:nvSpPr>
          <p:cNvPr id="70" name="Text 67"/>
          <p:cNvSpPr/>
          <p:nvPr/>
        </p:nvSpPr>
        <p:spPr>
          <a:xfrm>
            <a:off x="594360" y="10533888"/>
            <a:ext cx="6400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321B4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Fig. 3  Eroarea crește la Soare înalt</a:t>
            </a:r>
            <a:endParaRPr lang="en-US" sz="1500" dirty="0"/>
          </a:p>
        </p:txBody>
      </p:sp>
      <p:sp>
        <p:nvSpPr>
          <p:cNvPr id="71" name="Text 68"/>
          <p:cNvSpPr/>
          <p:nvPr/>
        </p:nvSpPr>
        <p:spPr>
          <a:xfrm>
            <a:off x="7543800" y="10533888"/>
            <a:ext cx="6400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321B4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Fig. 4  Vârf de umbră neobstrucționat</a:t>
            </a:r>
            <a:endParaRPr lang="en-US" sz="1500" dirty="0"/>
          </a:p>
        </p:txBody>
      </p:sp>
      <p:sp>
        <p:nvSpPr>
          <p:cNvPr id="72" name="Text 69"/>
          <p:cNvSpPr/>
          <p:nvPr/>
        </p:nvSpPr>
        <p:spPr>
          <a:xfrm>
            <a:off x="1097280" y="11237976"/>
            <a:ext cx="54406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00" dirty="0">
                <a:solidFill>
                  <a:srgbClr val="625A6A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Eroarea înălțimii δh (m)</a:t>
            </a:r>
            <a:endParaRPr lang="en-US" sz="1100" dirty="0"/>
          </a:p>
        </p:txBody>
      </p:sp>
      <p:sp>
        <p:nvSpPr>
          <p:cNvPr id="73" name="Shape 70"/>
          <p:cNvSpPr/>
          <p:nvPr/>
        </p:nvSpPr>
        <p:spPr>
          <a:xfrm>
            <a:off x="1097280" y="14218920"/>
            <a:ext cx="5440680" cy="914"/>
          </a:xfrm>
          <a:prstGeom prst="line">
            <a:avLst/>
          </a:prstGeom>
          <a:noFill/>
          <a:ln w="8890">
            <a:solidFill>
              <a:srgbClr val="DDD7E2"/>
            </a:solidFill>
            <a:prstDash val="solid"/>
          </a:ln>
        </p:spPr>
      </p:sp>
      <p:sp>
        <p:nvSpPr>
          <p:cNvPr id="74" name="Text 71"/>
          <p:cNvSpPr/>
          <p:nvPr/>
        </p:nvSpPr>
        <p:spPr>
          <a:xfrm>
            <a:off x="768096" y="14127480"/>
            <a:ext cx="228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100" dirty="0">
                <a:solidFill>
                  <a:srgbClr val="625A6A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0</a:t>
            </a:r>
            <a:endParaRPr lang="en-US" sz="1100" dirty="0"/>
          </a:p>
        </p:txBody>
      </p:sp>
      <p:sp>
        <p:nvSpPr>
          <p:cNvPr id="75" name="Shape 72"/>
          <p:cNvSpPr/>
          <p:nvPr/>
        </p:nvSpPr>
        <p:spPr>
          <a:xfrm>
            <a:off x="1097280" y="13555980"/>
            <a:ext cx="5440680" cy="914"/>
          </a:xfrm>
          <a:prstGeom prst="line">
            <a:avLst/>
          </a:prstGeom>
          <a:noFill/>
          <a:ln w="8890">
            <a:solidFill>
              <a:srgbClr val="DDD7E2"/>
            </a:solidFill>
            <a:prstDash val="solid"/>
          </a:ln>
        </p:spPr>
      </p:sp>
      <p:sp>
        <p:nvSpPr>
          <p:cNvPr id="76" name="Text 73"/>
          <p:cNvSpPr/>
          <p:nvPr/>
        </p:nvSpPr>
        <p:spPr>
          <a:xfrm>
            <a:off x="768096" y="13464540"/>
            <a:ext cx="228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100" dirty="0">
                <a:solidFill>
                  <a:srgbClr val="625A6A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5</a:t>
            </a:r>
            <a:endParaRPr lang="en-US" sz="1100" dirty="0"/>
          </a:p>
        </p:txBody>
      </p:sp>
      <p:sp>
        <p:nvSpPr>
          <p:cNvPr id="77" name="Shape 74"/>
          <p:cNvSpPr/>
          <p:nvPr/>
        </p:nvSpPr>
        <p:spPr>
          <a:xfrm>
            <a:off x="1097280" y="12893040"/>
            <a:ext cx="5440680" cy="914"/>
          </a:xfrm>
          <a:prstGeom prst="line">
            <a:avLst/>
          </a:prstGeom>
          <a:noFill/>
          <a:ln w="8890">
            <a:solidFill>
              <a:srgbClr val="DDD7E2"/>
            </a:solidFill>
            <a:prstDash val="solid"/>
          </a:ln>
        </p:spPr>
      </p:sp>
      <p:sp>
        <p:nvSpPr>
          <p:cNvPr id="78" name="Text 75"/>
          <p:cNvSpPr/>
          <p:nvPr/>
        </p:nvSpPr>
        <p:spPr>
          <a:xfrm>
            <a:off x="768096" y="12801600"/>
            <a:ext cx="228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100" dirty="0">
                <a:solidFill>
                  <a:srgbClr val="625A6A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10</a:t>
            </a:r>
            <a:endParaRPr lang="en-US" sz="1100" dirty="0"/>
          </a:p>
        </p:txBody>
      </p:sp>
      <p:sp>
        <p:nvSpPr>
          <p:cNvPr id="79" name="Shape 76"/>
          <p:cNvSpPr/>
          <p:nvPr/>
        </p:nvSpPr>
        <p:spPr>
          <a:xfrm>
            <a:off x="1097280" y="12230100"/>
            <a:ext cx="5440680" cy="914"/>
          </a:xfrm>
          <a:prstGeom prst="line">
            <a:avLst/>
          </a:prstGeom>
          <a:noFill/>
          <a:ln w="8890">
            <a:solidFill>
              <a:srgbClr val="DDD7E2"/>
            </a:solidFill>
            <a:prstDash val="solid"/>
          </a:ln>
        </p:spPr>
      </p:sp>
      <p:sp>
        <p:nvSpPr>
          <p:cNvPr id="80" name="Text 77"/>
          <p:cNvSpPr/>
          <p:nvPr/>
        </p:nvSpPr>
        <p:spPr>
          <a:xfrm>
            <a:off x="768096" y="12138660"/>
            <a:ext cx="228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100" dirty="0">
                <a:solidFill>
                  <a:srgbClr val="625A6A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15</a:t>
            </a:r>
            <a:endParaRPr lang="en-US" sz="1100" dirty="0"/>
          </a:p>
        </p:txBody>
      </p:sp>
      <p:sp>
        <p:nvSpPr>
          <p:cNvPr id="81" name="Text 78"/>
          <p:cNvSpPr/>
          <p:nvPr/>
        </p:nvSpPr>
        <p:spPr>
          <a:xfrm>
            <a:off x="941832" y="14328648"/>
            <a:ext cx="32004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00" dirty="0">
                <a:solidFill>
                  <a:srgbClr val="321B4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10</a:t>
            </a:r>
            <a:endParaRPr lang="en-US" sz="1100" dirty="0"/>
          </a:p>
        </p:txBody>
      </p:sp>
      <p:sp>
        <p:nvSpPr>
          <p:cNvPr id="82" name="Text 79"/>
          <p:cNvSpPr/>
          <p:nvPr/>
        </p:nvSpPr>
        <p:spPr>
          <a:xfrm>
            <a:off x="1778860" y="14328648"/>
            <a:ext cx="32004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00" dirty="0">
                <a:solidFill>
                  <a:srgbClr val="321B4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20</a:t>
            </a:r>
            <a:endParaRPr lang="en-US" sz="1100" dirty="0"/>
          </a:p>
        </p:txBody>
      </p:sp>
      <p:sp>
        <p:nvSpPr>
          <p:cNvPr id="83" name="Text 80"/>
          <p:cNvSpPr/>
          <p:nvPr/>
        </p:nvSpPr>
        <p:spPr>
          <a:xfrm>
            <a:off x="2615887" y="14328648"/>
            <a:ext cx="32004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00" dirty="0">
                <a:solidFill>
                  <a:srgbClr val="321B4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30</a:t>
            </a:r>
            <a:endParaRPr lang="en-US" sz="1100" dirty="0"/>
          </a:p>
        </p:txBody>
      </p:sp>
      <p:sp>
        <p:nvSpPr>
          <p:cNvPr id="84" name="Text 81"/>
          <p:cNvSpPr/>
          <p:nvPr/>
        </p:nvSpPr>
        <p:spPr>
          <a:xfrm>
            <a:off x="3452915" y="14328648"/>
            <a:ext cx="32004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00" dirty="0">
                <a:solidFill>
                  <a:srgbClr val="321B4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40</a:t>
            </a:r>
            <a:endParaRPr lang="en-US" sz="1100" dirty="0"/>
          </a:p>
        </p:txBody>
      </p:sp>
      <p:sp>
        <p:nvSpPr>
          <p:cNvPr id="85" name="Text 82"/>
          <p:cNvSpPr/>
          <p:nvPr/>
        </p:nvSpPr>
        <p:spPr>
          <a:xfrm>
            <a:off x="4289943" y="14328648"/>
            <a:ext cx="32004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00" dirty="0">
                <a:solidFill>
                  <a:srgbClr val="321B4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50</a:t>
            </a:r>
            <a:endParaRPr lang="en-US" sz="1100" dirty="0"/>
          </a:p>
        </p:txBody>
      </p:sp>
      <p:sp>
        <p:nvSpPr>
          <p:cNvPr id="86" name="Text 83"/>
          <p:cNvSpPr/>
          <p:nvPr/>
        </p:nvSpPr>
        <p:spPr>
          <a:xfrm>
            <a:off x="5126970" y="14328648"/>
            <a:ext cx="32004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00" dirty="0">
                <a:solidFill>
                  <a:srgbClr val="321B4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60</a:t>
            </a:r>
            <a:endParaRPr lang="en-US" sz="1100" dirty="0"/>
          </a:p>
        </p:txBody>
      </p:sp>
      <p:sp>
        <p:nvSpPr>
          <p:cNvPr id="87" name="Text 84"/>
          <p:cNvSpPr/>
          <p:nvPr/>
        </p:nvSpPr>
        <p:spPr>
          <a:xfrm>
            <a:off x="5963998" y="14328648"/>
            <a:ext cx="32004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00" dirty="0">
                <a:solidFill>
                  <a:srgbClr val="321B4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70</a:t>
            </a:r>
            <a:endParaRPr lang="en-US" sz="1100" dirty="0"/>
          </a:p>
        </p:txBody>
      </p:sp>
      <p:sp>
        <p:nvSpPr>
          <p:cNvPr id="88" name="Shape 85"/>
          <p:cNvSpPr/>
          <p:nvPr/>
        </p:nvSpPr>
        <p:spPr>
          <a:xfrm flipV="1">
            <a:off x="1097280" y="14090058"/>
            <a:ext cx="83703" cy="11968"/>
          </a:xfrm>
          <a:prstGeom prst="line">
            <a:avLst/>
          </a:prstGeom>
          <a:noFill/>
          <a:ln w="21590">
            <a:solidFill>
              <a:srgbClr val="B84419"/>
            </a:solidFill>
            <a:prstDash val="solid"/>
          </a:ln>
        </p:spPr>
      </p:sp>
      <p:sp>
        <p:nvSpPr>
          <p:cNvPr id="89" name="Shape 86"/>
          <p:cNvSpPr/>
          <p:nvPr/>
        </p:nvSpPr>
        <p:spPr>
          <a:xfrm flipV="1">
            <a:off x="1180983" y="14078008"/>
            <a:ext cx="83703" cy="12050"/>
          </a:xfrm>
          <a:prstGeom prst="line">
            <a:avLst/>
          </a:prstGeom>
          <a:noFill/>
          <a:ln w="21590">
            <a:solidFill>
              <a:srgbClr val="B84419"/>
            </a:solidFill>
            <a:prstDash val="solid"/>
          </a:ln>
        </p:spPr>
      </p:sp>
      <p:sp>
        <p:nvSpPr>
          <p:cNvPr id="90" name="Shape 87"/>
          <p:cNvSpPr/>
          <p:nvPr/>
        </p:nvSpPr>
        <p:spPr>
          <a:xfrm flipV="1">
            <a:off x="1264686" y="14065868"/>
            <a:ext cx="83703" cy="12140"/>
          </a:xfrm>
          <a:prstGeom prst="line">
            <a:avLst/>
          </a:prstGeom>
          <a:noFill/>
          <a:ln w="21590">
            <a:solidFill>
              <a:srgbClr val="B84419"/>
            </a:solidFill>
            <a:prstDash val="solid"/>
          </a:ln>
        </p:spPr>
      </p:sp>
      <p:sp>
        <p:nvSpPr>
          <p:cNvPr id="91" name="Shape 88"/>
          <p:cNvSpPr/>
          <p:nvPr/>
        </p:nvSpPr>
        <p:spPr>
          <a:xfrm flipV="1">
            <a:off x="1348388" y="14053630"/>
            <a:ext cx="83703" cy="12238"/>
          </a:xfrm>
          <a:prstGeom prst="line">
            <a:avLst/>
          </a:prstGeom>
          <a:noFill/>
          <a:ln w="21590">
            <a:solidFill>
              <a:srgbClr val="B84419"/>
            </a:solidFill>
            <a:prstDash val="solid"/>
          </a:ln>
        </p:spPr>
      </p:sp>
      <p:sp>
        <p:nvSpPr>
          <p:cNvPr id="92" name="Shape 89"/>
          <p:cNvSpPr/>
          <p:nvPr/>
        </p:nvSpPr>
        <p:spPr>
          <a:xfrm flipV="1">
            <a:off x="1432091" y="14041286"/>
            <a:ext cx="83703" cy="12345"/>
          </a:xfrm>
          <a:prstGeom prst="line">
            <a:avLst/>
          </a:prstGeom>
          <a:noFill/>
          <a:ln w="21590">
            <a:solidFill>
              <a:srgbClr val="B84419"/>
            </a:solidFill>
            <a:prstDash val="solid"/>
          </a:ln>
        </p:spPr>
      </p:sp>
      <p:sp>
        <p:nvSpPr>
          <p:cNvPr id="93" name="Shape 90"/>
          <p:cNvSpPr/>
          <p:nvPr/>
        </p:nvSpPr>
        <p:spPr>
          <a:xfrm flipV="1">
            <a:off x="1515794" y="14028825"/>
            <a:ext cx="83703" cy="12461"/>
          </a:xfrm>
          <a:prstGeom prst="line">
            <a:avLst/>
          </a:prstGeom>
          <a:noFill/>
          <a:ln w="21590">
            <a:solidFill>
              <a:srgbClr val="B84419"/>
            </a:solidFill>
            <a:prstDash val="solid"/>
          </a:ln>
        </p:spPr>
      </p:sp>
      <p:sp>
        <p:nvSpPr>
          <p:cNvPr id="94" name="Shape 91"/>
          <p:cNvSpPr/>
          <p:nvPr/>
        </p:nvSpPr>
        <p:spPr>
          <a:xfrm flipV="1">
            <a:off x="1599497" y="14016239"/>
            <a:ext cx="83703" cy="12586"/>
          </a:xfrm>
          <a:prstGeom prst="line">
            <a:avLst/>
          </a:prstGeom>
          <a:noFill/>
          <a:ln w="21590">
            <a:solidFill>
              <a:srgbClr val="B84419"/>
            </a:solidFill>
            <a:prstDash val="solid"/>
          </a:ln>
        </p:spPr>
      </p:sp>
      <p:sp>
        <p:nvSpPr>
          <p:cNvPr id="95" name="Shape 92"/>
          <p:cNvSpPr/>
          <p:nvPr/>
        </p:nvSpPr>
        <p:spPr>
          <a:xfrm flipV="1">
            <a:off x="1683199" y="14003518"/>
            <a:ext cx="83703" cy="12721"/>
          </a:xfrm>
          <a:prstGeom prst="line">
            <a:avLst/>
          </a:prstGeom>
          <a:noFill/>
          <a:ln w="21590">
            <a:solidFill>
              <a:srgbClr val="B84419"/>
            </a:solidFill>
            <a:prstDash val="solid"/>
          </a:ln>
        </p:spPr>
      </p:sp>
      <p:sp>
        <p:nvSpPr>
          <p:cNvPr id="96" name="Shape 93"/>
          <p:cNvSpPr/>
          <p:nvPr/>
        </p:nvSpPr>
        <p:spPr>
          <a:xfrm flipV="1">
            <a:off x="1766902" y="13990651"/>
            <a:ext cx="83703" cy="12866"/>
          </a:xfrm>
          <a:prstGeom prst="line">
            <a:avLst/>
          </a:prstGeom>
          <a:noFill/>
          <a:ln w="21590">
            <a:solidFill>
              <a:srgbClr val="B84419"/>
            </a:solidFill>
            <a:prstDash val="solid"/>
          </a:ln>
        </p:spPr>
      </p:sp>
      <p:sp>
        <p:nvSpPr>
          <p:cNvPr id="97" name="Shape 94"/>
          <p:cNvSpPr/>
          <p:nvPr/>
        </p:nvSpPr>
        <p:spPr>
          <a:xfrm flipV="1">
            <a:off x="1850605" y="13977630"/>
            <a:ext cx="83703" cy="13022"/>
          </a:xfrm>
          <a:prstGeom prst="line">
            <a:avLst/>
          </a:prstGeom>
          <a:noFill/>
          <a:ln w="21590">
            <a:solidFill>
              <a:srgbClr val="B84419"/>
            </a:solidFill>
            <a:prstDash val="solid"/>
          </a:ln>
        </p:spPr>
      </p:sp>
      <p:sp>
        <p:nvSpPr>
          <p:cNvPr id="98" name="Shape 95"/>
          <p:cNvSpPr/>
          <p:nvPr/>
        </p:nvSpPr>
        <p:spPr>
          <a:xfrm flipV="1">
            <a:off x="1934308" y="13964441"/>
            <a:ext cx="83703" cy="13188"/>
          </a:xfrm>
          <a:prstGeom prst="line">
            <a:avLst/>
          </a:prstGeom>
          <a:noFill/>
          <a:ln w="21590">
            <a:solidFill>
              <a:srgbClr val="B84419"/>
            </a:solidFill>
            <a:prstDash val="solid"/>
          </a:ln>
        </p:spPr>
      </p:sp>
      <p:sp>
        <p:nvSpPr>
          <p:cNvPr id="99" name="Shape 96"/>
          <p:cNvSpPr/>
          <p:nvPr/>
        </p:nvSpPr>
        <p:spPr>
          <a:xfrm flipV="1">
            <a:off x="2018010" y="13951075"/>
            <a:ext cx="83703" cy="13366"/>
          </a:xfrm>
          <a:prstGeom prst="line">
            <a:avLst/>
          </a:prstGeom>
          <a:noFill/>
          <a:ln w="21590">
            <a:solidFill>
              <a:srgbClr val="B84419"/>
            </a:solidFill>
            <a:prstDash val="solid"/>
          </a:ln>
        </p:spPr>
      </p:sp>
      <p:sp>
        <p:nvSpPr>
          <p:cNvPr id="100" name="Shape 97"/>
          <p:cNvSpPr/>
          <p:nvPr/>
        </p:nvSpPr>
        <p:spPr>
          <a:xfrm flipV="1">
            <a:off x="2101713" y="13937519"/>
            <a:ext cx="83703" cy="13556"/>
          </a:xfrm>
          <a:prstGeom prst="line">
            <a:avLst/>
          </a:prstGeom>
          <a:noFill/>
          <a:ln w="21590">
            <a:solidFill>
              <a:srgbClr val="B84419"/>
            </a:solidFill>
            <a:prstDash val="solid"/>
          </a:ln>
        </p:spPr>
      </p:sp>
      <p:sp>
        <p:nvSpPr>
          <p:cNvPr id="101" name="Shape 98"/>
          <p:cNvSpPr/>
          <p:nvPr/>
        </p:nvSpPr>
        <p:spPr>
          <a:xfrm flipV="1">
            <a:off x="2185416" y="13923760"/>
            <a:ext cx="83703" cy="13759"/>
          </a:xfrm>
          <a:prstGeom prst="line">
            <a:avLst/>
          </a:prstGeom>
          <a:noFill/>
          <a:ln w="21590">
            <a:solidFill>
              <a:srgbClr val="B84419"/>
            </a:solidFill>
            <a:prstDash val="solid"/>
          </a:ln>
        </p:spPr>
      </p:sp>
      <p:sp>
        <p:nvSpPr>
          <p:cNvPr id="102" name="Shape 99"/>
          <p:cNvSpPr/>
          <p:nvPr/>
        </p:nvSpPr>
        <p:spPr>
          <a:xfrm flipV="1">
            <a:off x="2269119" y="13909786"/>
            <a:ext cx="83703" cy="13974"/>
          </a:xfrm>
          <a:prstGeom prst="line">
            <a:avLst/>
          </a:prstGeom>
          <a:noFill/>
          <a:ln w="21590">
            <a:solidFill>
              <a:srgbClr val="B84419"/>
            </a:solidFill>
            <a:prstDash val="solid"/>
          </a:ln>
        </p:spPr>
      </p:sp>
      <p:sp>
        <p:nvSpPr>
          <p:cNvPr id="103" name="Shape 100"/>
          <p:cNvSpPr/>
          <p:nvPr/>
        </p:nvSpPr>
        <p:spPr>
          <a:xfrm flipV="1">
            <a:off x="2352822" y="13895583"/>
            <a:ext cx="83703" cy="14203"/>
          </a:xfrm>
          <a:prstGeom prst="line">
            <a:avLst/>
          </a:prstGeom>
          <a:noFill/>
          <a:ln w="21590">
            <a:solidFill>
              <a:srgbClr val="B84419"/>
            </a:solidFill>
            <a:prstDash val="solid"/>
          </a:ln>
        </p:spPr>
      </p:sp>
      <p:sp>
        <p:nvSpPr>
          <p:cNvPr id="104" name="Shape 101"/>
          <p:cNvSpPr/>
          <p:nvPr/>
        </p:nvSpPr>
        <p:spPr>
          <a:xfrm flipV="1">
            <a:off x="2436524" y="13881135"/>
            <a:ext cx="83703" cy="14447"/>
          </a:xfrm>
          <a:prstGeom prst="line">
            <a:avLst/>
          </a:prstGeom>
          <a:noFill/>
          <a:ln w="21590">
            <a:solidFill>
              <a:srgbClr val="B84419"/>
            </a:solidFill>
            <a:prstDash val="solid"/>
          </a:ln>
        </p:spPr>
      </p:sp>
      <p:sp>
        <p:nvSpPr>
          <p:cNvPr id="105" name="Shape 102"/>
          <p:cNvSpPr/>
          <p:nvPr/>
        </p:nvSpPr>
        <p:spPr>
          <a:xfrm flipV="1">
            <a:off x="2520227" y="13866429"/>
            <a:ext cx="83703" cy="14707"/>
          </a:xfrm>
          <a:prstGeom prst="line">
            <a:avLst/>
          </a:prstGeom>
          <a:noFill/>
          <a:ln w="21590">
            <a:solidFill>
              <a:srgbClr val="B84419"/>
            </a:solidFill>
            <a:prstDash val="solid"/>
          </a:ln>
        </p:spPr>
      </p:sp>
      <p:sp>
        <p:nvSpPr>
          <p:cNvPr id="106" name="Shape 103"/>
          <p:cNvSpPr/>
          <p:nvPr/>
        </p:nvSpPr>
        <p:spPr>
          <a:xfrm flipV="1">
            <a:off x="2603930" y="13851446"/>
            <a:ext cx="83703" cy="14982"/>
          </a:xfrm>
          <a:prstGeom prst="line">
            <a:avLst/>
          </a:prstGeom>
          <a:noFill/>
          <a:ln w="21590">
            <a:solidFill>
              <a:srgbClr val="B84419"/>
            </a:solidFill>
            <a:prstDash val="solid"/>
          </a:ln>
        </p:spPr>
      </p:sp>
      <p:sp>
        <p:nvSpPr>
          <p:cNvPr id="107" name="Shape 104"/>
          <p:cNvSpPr/>
          <p:nvPr/>
        </p:nvSpPr>
        <p:spPr>
          <a:xfrm flipV="1">
            <a:off x="2687633" y="13836171"/>
            <a:ext cx="83703" cy="15275"/>
          </a:xfrm>
          <a:prstGeom prst="line">
            <a:avLst/>
          </a:prstGeom>
          <a:noFill/>
          <a:ln w="21590">
            <a:solidFill>
              <a:srgbClr val="B84419"/>
            </a:solidFill>
            <a:prstDash val="solid"/>
          </a:ln>
        </p:spPr>
      </p:sp>
      <p:sp>
        <p:nvSpPr>
          <p:cNvPr id="108" name="Shape 105"/>
          <p:cNvSpPr/>
          <p:nvPr/>
        </p:nvSpPr>
        <p:spPr>
          <a:xfrm flipV="1">
            <a:off x="2771335" y="13820585"/>
            <a:ext cx="83703" cy="15586"/>
          </a:xfrm>
          <a:prstGeom prst="line">
            <a:avLst/>
          </a:prstGeom>
          <a:noFill/>
          <a:ln w="21590">
            <a:solidFill>
              <a:srgbClr val="B84419"/>
            </a:solidFill>
            <a:prstDash val="solid"/>
          </a:ln>
        </p:spPr>
      </p:sp>
      <p:sp>
        <p:nvSpPr>
          <p:cNvPr id="109" name="Shape 106"/>
          <p:cNvSpPr/>
          <p:nvPr/>
        </p:nvSpPr>
        <p:spPr>
          <a:xfrm flipV="1">
            <a:off x="2855038" y="13804669"/>
            <a:ext cx="83703" cy="15916"/>
          </a:xfrm>
          <a:prstGeom prst="line">
            <a:avLst/>
          </a:prstGeom>
          <a:noFill/>
          <a:ln w="21590">
            <a:solidFill>
              <a:srgbClr val="B84419"/>
            </a:solidFill>
            <a:prstDash val="solid"/>
          </a:ln>
        </p:spPr>
      </p:sp>
      <p:sp>
        <p:nvSpPr>
          <p:cNvPr id="110" name="Shape 107"/>
          <p:cNvSpPr/>
          <p:nvPr/>
        </p:nvSpPr>
        <p:spPr>
          <a:xfrm flipV="1">
            <a:off x="2938741" y="13788402"/>
            <a:ext cx="83703" cy="16267"/>
          </a:xfrm>
          <a:prstGeom prst="line">
            <a:avLst/>
          </a:prstGeom>
          <a:noFill/>
          <a:ln w="21590">
            <a:solidFill>
              <a:srgbClr val="B84419"/>
            </a:solidFill>
            <a:prstDash val="solid"/>
          </a:ln>
        </p:spPr>
      </p:sp>
      <p:sp>
        <p:nvSpPr>
          <p:cNvPr id="111" name="Shape 108"/>
          <p:cNvSpPr/>
          <p:nvPr/>
        </p:nvSpPr>
        <p:spPr>
          <a:xfrm flipV="1">
            <a:off x="3022444" y="13771761"/>
            <a:ext cx="83703" cy="16640"/>
          </a:xfrm>
          <a:prstGeom prst="line">
            <a:avLst/>
          </a:prstGeom>
          <a:noFill/>
          <a:ln w="21590">
            <a:solidFill>
              <a:srgbClr val="B84419"/>
            </a:solidFill>
            <a:prstDash val="solid"/>
          </a:ln>
        </p:spPr>
      </p:sp>
      <p:sp>
        <p:nvSpPr>
          <p:cNvPr id="112" name="Shape 109"/>
          <p:cNvSpPr/>
          <p:nvPr/>
        </p:nvSpPr>
        <p:spPr>
          <a:xfrm flipV="1">
            <a:off x="3106146" y="13754724"/>
            <a:ext cx="83703" cy="17037"/>
          </a:xfrm>
          <a:prstGeom prst="line">
            <a:avLst/>
          </a:prstGeom>
          <a:noFill/>
          <a:ln w="21590">
            <a:solidFill>
              <a:srgbClr val="B84419"/>
            </a:solidFill>
            <a:prstDash val="solid"/>
          </a:ln>
        </p:spPr>
      </p:sp>
      <p:sp>
        <p:nvSpPr>
          <p:cNvPr id="113" name="Shape 110"/>
          <p:cNvSpPr/>
          <p:nvPr/>
        </p:nvSpPr>
        <p:spPr>
          <a:xfrm flipV="1">
            <a:off x="3189849" y="13737266"/>
            <a:ext cx="83703" cy="17459"/>
          </a:xfrm>
          <a:prstGeom prst="line">
            <a:avLst/>
          </a:prstGeom>
          <a:noFill/>
          <a:ln w="21590">
            <a:solidFill>
              <a:srgbClr val="B84419"/>
            </a:solidFill>
            <a:prstDash val="solid"/>
          </a:ln>
        </p:spPr>
      </p:sp>
      <p:sp>
        <p:nvSpPr>
          <p:cNvPr id="114" name="Shape 111"/>
          <p:cNvSpPr/>
          <p:nvPr/>
        </p:nvSpPr>
        <p:spPr>
          <a:xfrm flipV="1">
            <a:off x="3273552" y="13719359"/>
            <a:ext cx="83703" cy="17907"/>
          </a:xfrm>
          <a:prstGeom prst="line">
            <a:avLst/>
          </a:prstGeom>
          <a:noFill/>
          <a:ln w="21590">
            <a:solidFill>
              <a:srgbClr val="B84419"/>
            </a:solidFill>
            <a:prstDash val="solid"/>
          </a:ln>
        </p:spPr>
      </p:sp>
      <p:sp>
        <p:nvSpPr>
          <p:cNvPr id="115" name="Shape 112"/>
          <p:cNvSpPr/>
          <p:nvPr/>
        </p:nvSpPr>
        <p:spPr>
          <a:xfrm flipV="1">
            <a:off x="3357255" y="13700975"/>
            <a:ext cx="83703" cy="18384"/>
          </a:xfrm>
          <a:prstGeom prst="line">
            <a:avLst/>
          </a:prstGeom>
          <a:noFill/>
          <a:ln w="21590">
            <a:solidFill>
              <a:srgbClr val="B84419"/>
            </a:solidFill>
            <a:prstDash val="solid"/>
          </a:ln>
        </p:spPr>
      </p:sp>
      <p:sp>
        <p:nvSpPr>
          <p:cNvPr id="116" name="Shape 113"/>
          <p:cNvSpPr/>
          <p:nvPr/>
        </p:nvSpPr>
        <p:spPr>
          <a:xfrm flipV="1">
            <a:off x="3440958" y="13682082"/>
            <a:ext cx="83703" cy="18893"/>
          </a:xfrm>
          <a:prstGeom prst="line">
            <a:avLst/>
          </a:prstGeom>
          <a:noFill/>
          <a:ln w="21590">
            <a:solidFill>
              <a:srgbClr val="B84419"/>
            </a:solidFill>
            <a:prstDash val="solid"/>
          </a:ln>
        </p:spPr>
      </p:sp>
      <p:sp>
        <p:nvSpPr>
          <p:cNvPr id="117" name="Shape 114"/>
          <p:cNvSpPr/>
          <p:nvPr/>
        </p:nvSpPr>
        <p:spPr>
          <a:xfrm flipV="1">
            <a:off x="3524660" y="13662647"/>
            <a:ext cx="83703" cy="19434"/>
          </a:xfrm>
          <a:prstGeom prst="line">
            <a:avLst/>
          </a:prstGeom>
          <a:noFill/>
          <a:ln w="21590">
            <a:solidFill>
              <a:srgbClr val="B84419"/>
            </a:solidFill>
            <a:prstDash val="solid"/>
          </a:ln>
        </p:spPr>
      </p:sp>
      <p:sp>
        <p:nvSpPr>
          <p:cNvPr id="118" name="Shape 115"/>
          <p:cNvSpPr/>
          <p:nvPr/>
        </p:nvSpPr>
        <p:spPr>
          <a:xfrm flipV="1">
            <a:off x="3608363" y="13642635"/>
            <a:ext cx="83703" cy="20012"/>
          </a:xfrm>
          <a:prstGeom prst="line">
            <a:avLst/>
          </a:prstGeom>
          <a:noFill/>
          <a:ln w="21590">
            <a:solidFill>
              <a:srgbClr val="B84419"/>
            </a:solidFill>
            <a:prstDash val="solid"/>
          </a:ln>
        </p:spPr>
      </p:sp>
      <p:sp>
        <p:nvSpPr>
          <p:cNvPr id="119" name="Shape 116"/>
          <p:cNvSpPr/>
          <p:nvPr/>
        </p:nvSpPr>
        <p:spPr>
          <a:xfrm flipV="1">
            <a:off x="3692066" y="13622006"/>
            <a:ext cx="83703" cy="20629"/>
          </a:xfrm>
          <a:prstGeom prst="line">
            <a:avLst/>
          </a:prstGeom>
          <a:noFill/>
          <a:ln w="21590">
            <a:solidFill>
              <a:srgbClr val="B84419"/>
            </a:solidFill>
            <a:prstDash val="solid"/>
          </a:ln>
        </p:spPr>
      </p:sp>
      <p:sp>
        <p:nvSpPr>
          <p:cNvPr id="120" name="Shape 117"/>
          <p:cNvSpPr/>
          <p:nvPr/>
        </p:nvSpPr>
        <p:spPr>
          <a:xfrm flipV="1">
            <a:off x="3775769" y="13600718"/>
            <a:ext cx="83703" cy="21288"/>
          </a:xfrm>
          <a:prstGeom prst="line">
            <a:avLst/>
          </a:prstGeom>
          <a:noFill/>
          <a:ln w="21590">
            <a:solidFill>
              <a:srgbClr val="B84419"/>
            </a:solidFill>
            <a:prstDash val="solid"/>
          </a:ln>
        </p:spPr>
      </p:sp>
      <p:sp>
        <p:nvSpPr>
          <p:cNvPr id="121" name="Shape 118"/>
          <p:cNvSpPr/>
          <p:nvPr/>
        </p:nvSpPr>
        <p:spPr>
          <a:xfrm flipV="1">
            <a:off x="3859471" y="13578726"/>
            <a:ext cx="83703" cy="21992"/>
          </a:xfrm>
          <a:prstGeom prst="line">
            <a:avLst/>
          </a:prstGeom>
          <a:noFill/>
          <a:ln w="21590">
            <a:solidFill>
              <a:srgbClr val="B84419"/>
            </a:solidFill>
            <a:prstDash val="solid"/>
          </a:ln>
        </p:spPr>
      </p:sp>
      <p:sp>
        <p:nvSpPr>
          <p:cNvPr id="122" name="Shape 119"/>
          <p:cNvSpPr/>
          <p:nvPr/>
        </p:nvSpPr>
        <p:spPr>
          <a:xfrm flipV="1">
            <a:off x="3943174" y="13555980"/>
            <a:ext cx="83703" cy="22746"/>
          </a:xfrm>
          <a:prstGeom prst="line">
            <a:avLst/>
          </a:prstGeom>
          <a:noFill/>
          <a:ln w="21590">
            <a:solidFill>
              <a:srgbClr val="B84419"/>
            </a:solidFill>
            <a:prstDash val="solid"/>
          </a:ln>
        </p:spPr>
      </p:sp>
      <p:sp>
        <p:nvSpPr>
          <p:cNvPr id="123" name="Shape 120"/>
          <p:cNvSpPr/>
          <p:nvPr/>
        </p:nvSpPr>
        <p:spPr>
          <a:xfrm flipV="1">
            <a:off x="4026877" y="13532426"/>
            <a:ext cx="83703" cy="23554"/>
          </a:xfrm>
          <a:prstGeom prst="line">
            <a:avLst/>
          </a:prstGeom>
          <a:noFill/>
          <a:ln w="21590">
            <a:solidFill>
              <a:srgbClr val="B84419"/>
            </a:solidFill>
            <a:prstDash val="solid"/>
          </a:ln>
        </p:spPr>
      </p:sp>
      <p:sp>
        <p:nvSpPr>
          <p:cNvPr id="124" name="Shape 121"/>
          <p:cNvSpPr/>
          <p:nvPr/>
        </p:nvSpPr>
        <p:spPr>
          <a:xfrm flipV="1">
            <a:off x="4110580" y="13508004"/>
            <a:ext cx="83703" cy="24422"/>
          </a:xfrm>
          <a:prstGeom prst="line">
            <a:avLst/>
          </a:prstGeom>
          <a:noFill/>
          <a:ln w="21590">
            <a:solidFill>
              <a:srgbClr val="B84419"/>
            </a:solidFill>
            <a:prstDash val="solid"/>
          </a:ln>
        </p:spPr>
      </p:sp>
      <p:sp>
        <p:nvSpPr>
          <p:cNvPr id="125" name="Shape 122"/>
          <p:cNvSpPr/>
          <p:nvPr/>
        </p:nvSpPr>
        <p:spPr>
          <a:xfrm flipV="1">
            <a:off x="4194282" y="13482651"/>
            <a:ext cx="83703" cy="25353"/>
          </a:xfrm>
          <a:prstGeom prst="line">
            <a:avLst/>
          </a:prstGeom>
          <a:noFill/>
          <a:ln w="21590">
            <a:solidFill>
              <a:srgbClr val="B84419"/>
            </a:solidFill>
            <a:prstDash val="solid"/>
          </a:ln>
        </p:spPr>
      </p:sp>
      <p:sp>
        <p:nvSpPr>
          <p:cNvPr id="126" name="Shape 123"/>
          <p:cNvSpPr/>
          <p:nvPr/>
        </p:nvSpPr>
        <p:spPr>
          <a:xfrm flipV="1">
            <a:off x="4277985" y="13456295"/>
            <a:ext cx="83703" cy="26356"/>
          </a:xfrm>
          <a:prstGeom prst="line">
            <a:avLst/>
          </a:prstGeom>
          <a:noFill/>
          <a:ln w="21590">
            <a:solidFill>
              <a:srgbClr val="B84419"/>
            </a:solidFill>
            <a:prstDash val="solid"/>
          </a:ln>
        </p:spPr>
      </p:sp>
      <p:sp>
        <p:nvSpPr>
          <p:cNvPr id="127" name="Shape 124"/>
          <p:cNvSpPr/>
          <p:nvPr/>
        </p:nvSpPr>
        <p:spPr>
          <a:xfrm flipV="1">
            <a:off x="4361688" y="13428859"/>
            <a:ext cx="83703" cy="27436"/>
          </a:xfrm>
          <a:prstGeom prst="line">
            <a:avLst/>
          </a:prstGeom>
          <a:noFill/>
          <a:ln w="21590">
            <a:solidFill>
              <a:srgbClr val="B84419"/>
            </a:solidFill>
            <a:prstDash val="solid"/>
          </a:ln>
        </p:spPr>
      </p:sp>
      <p:sp>
        <p:nvSpPr>
          <p:cNvPr id="128" name="Shape 125"/>
          <p:cNvSpPr/>
          <p:nvPr/>
        </p:nvSpPr>
        <p:spPr>
          <a:xfrm flipV="1">
            <a:off x="4445391" y="13400257"/>
            <a:ext cx="83703" cy="28602"/>
          </a:xfrm>
          <a:prstGeom prst="line">
            <a:avLst/>
          </a:prstGeom>
          <a:noFill/>
          <a:ln w="21590">
            <a:solidFill>
              <a:srgbClr val="B84419"/>
            </a:solidFill>
            <a:prstDash val="solid"/>
          </a:ln>
        </p:spPr>
      </p:sp>
      <p:sp>
        <p:nvSpPr>
          <p:cNvPr id="129" name="Shape 126"/>
          <p:cNvSpPr/>
          <p:nvPr/>
        </p:nvSpPr>
        <p:spPr>
          <a:xfrm flipV="1">
            <a:off x="4529094" y="13370395"/>
            <a:ext cx="83703" cy="29862"/>
          </a:xfrm>
          <a:prstGeom prst="line">
            <a:avLst/>
          </a:prstGeom>
          <a:noFill/>
          <a:ln w="21590">
            <a:solidFill>
              <a:srgbClr val="B84419"/>
            </a:solidFill>
            <a:prstDash val="solid"/>
          </a:ln>
        </p:spPr>
      </p:sp>
      <p:sp>
        <p:nvSpPr>
          <p:cNvPr id="130" name="Shape 127"/>
          <p:cNvSpPr/>
          <p:nvPr/>
        </p:nvSpPr>
        <p:spPr>
          <a:xfrm flipV="1">
            <a:off x="4612796" y="13339169"/>
            <a:ext cx="83703" cy="31227"/>
          </a:xfrm>
          <a:prstGeom prst="line">
            <a:avLst/>
          </a:prstGeom>
          <a:noFill/>
          <a:ln w="21590">
            <a:solidFill>
              <a:srgbClr val="B84419"/>
            </a:solidFill>
            <a:prstDash val="solid"/>
          </a:ln>
        </p:spPr>
      </p:sp>
      <p:sp>
        <p:nvSpPr>
          <p:cNvPr id="131" name="Shape 128"/>
          <p:cNvSpPr/>
          <p:nvPr/>
        </p:nvSpPr>
        <p:spPr>
          <a:xfrm flipV="1">
            <a:off x="4696499" y="13306461"/>
            <a:ext cx="83703" cy="32708"/>
          </a:xfrm>
          <a:prstGeom prst="line">
            <a:avLst/>
          </a:prstGeom>
          <a:noFill/>
          <a:ln w="21590">
            <a:solidFill>
              <a:srgbClr val="B84419"/>
            </a:solidFill>
            <a:prstDash val="solid"/>
          </a:ln>
        </p:spPr>
      </p:sp>
      <p:sp>
        <p:nvSpPr>
          <p:cNvPr id="132" name="Shape 129"/>
          <p:cNvSpPr/>
          <p:nvPr/>
        </p:nvSpPr>
        <p:spPr>
          <a:xfrm flipV="1">
            <a:off x="4780202" y="13272144"/>
            <a:ext cx="83703" cy="34318"/>
          </a:xfrm>
          <a:prstGeom prst="line">
            <a:avLst/>
          </a:prstGeom>
          <a:noFill/>
          <a:ln w="21590">
            <a:solidFill>
              <a:srgbClr val="B84419"/>
            </a:solidFill>
            <a:prstDash val="solid"/>
          </a:ln>
        </p:spPr>
      </p:sp>
      <p:sp>
        <p:nvSpPr>
          <p:cNvPr id="133" name="Shape 130"/>
          <p:cNvSpPr/>
          <p:nvPr/>
        </p:nvSpPr>
        <p:spPr>
          <a:xfrm flipV="1">
            <a:off x="4863905" y="13236071"/>
            <a:ext cx="83703" cy="36073"/>
          </a:xfrm>
          <a:prstGeom prst="line">
            <a:avLst/>
          </a:prstGeom>
          <a:noFill/>
          <a:ln w="21590">
            <a:solidFill>
              <a:srgbClr val="B84419"/>
            </a:solidFill>
            <a:prstDash val="solid"/>
          </a:ln>
        </p:spPr>
      </p:sp>
      <p:sp>
        <p:nvSpPr>
          <p:cNvPr id="134" name="Shape 131"/>
          <p:cNvSpPr/>
          <p:nvPr/>
        </p:nvSpPr>
        <p:spPr>
          <a:xfrm flipV="1">
            <a:off x="4947607" y="13198082"/>
            <a:ext cx="83703" cy="37989"/>
          </a:xfrm>
          <a:prstGeom prst="line">
            <a:avLst/>
          </a:prstGeom>
          <a:noFill/>
          <a:ln w="21590">
            <a:solidFill>
              <a:srgbClr val="B84419"/>
            </a:solidFill>
            <a:prstDash val="solid"/>
          </a:ln>
        </p:spPr>
      </p:sp>
      <p:sp>
        <p:nvSpPr>
          <p:cNvPr id="135" name="Shape 132"/>
          <p:cNvSpPr/>
          <p:nvPr/>
        </p:nvSpPr>
        <p:spPr>
          <a:xfrm flipV="1">
            <a:off x="5031310" y="13157994"/>
            <a:ext cx="83703" cy="40088"/>
          </a:xfrm>
          <a:prstGeom prst="line">
            <a:avLst/>
          </a:prstGeom>
          <a:noFill/>
          <a:ln w="21590">
            <a:solidFill>
              <a:srgbClr val="B84419"/>
            </a:solidFill>
            <a:prstDash val="solid"/>
          </a:ln>
        </p:spPr>
      </p:sp>
      <p:sp>
        <p:nvSpPr>
          <p:cNvPr id="136" name="Shape 133"/>
          <p:cNvSpPr/>
          <p:nvPr/>
        </p:nvSpPr>
        <p:spPr>
          <a:xfrm flipV="1">
            <a:off x="5115013" y="13115603"/>
            <a:ext cx="83703" cy="42392"/>
          </a:xfrm>
          <a:prstGeom prst="line">
            <a:avLst/>
          </a:prstGeom>
          <a:noFill/>
          <a:ln w="21590">
            <a:solidFill>
              <a:srgbClr val="B84419"/>
            </a:solidFill>
            <a:prstDash val="solid"/>
          </a:ln>
        </p:spPr>
      </p:sp>
      <p:sp>
        <p:nvSpPr>
          <p:cNvPr id="137" name="Shape 134"/>
          <p:cNvSpPr/>
          <p:nvPr/>
        </p:nvSpPr>
        <p:spPr>
          <a:xfrm flipV="1">
            <a:off x="5198716" y="13070674"/>
            <a:ext cx="83703" cy="44928"/>
          </a:xfrm>
          <a:prstGeom prst="line">
            <a:avLst/>
          </a:prstGeom>
          <a:noFill/>
          <a:ln w="21590">
            <a:solidFill>
              <a:srgbClr val="B84419"/>
            </a:solidFill>
            <a:prstDash val="solid"/>
          </a:ln>
        </p:spPr>
      </p:sp>
      <p:sp>
        <p:nvSpPr>
          <p:cNvPr id="138" name="Shape 135"/>
          <p:cNvSpPr/>
          <p:nvPr/>
        </p:nvSpPr>
        <p:spPr>
          <a:xfrm flipV="1">
            <a:off x="5282418" y="13022945"/>
            <a:ext cx="83703" cy="47730"/>
          </a:xfrm>
          <a:prstGeom prst="line">
            <a:avLst/>
          </a:prstGeom>
          <a:noFill/>
          <a:ln w="21590">
            <a:solidFill>
              <a:srgbClr val="B84419"/>
            </a:solidFill>
            <a:prstDash val="solid"/>
          </a:ln>
        </p:spPr>
      </p:sp>
      <p:sp>
        <p:nvSpPr>
          <p:cNvPr id="139" name="Shape 136"/>
          <p:cNvSpPr/>
          <p:nvPr/>
        </p:nvSpPr>
        <p:spPr>
          <a:xfrm flipV="1">
            <a:off x="5366121" y="12972111"/>
            <a:ext cx="83703" cy="50833"/>
          </a:xfrm>
          <a:prstGeom prst="line">
            <a:avLst/>
          </a:prstGeom>
          <a:noFill/>
          <a:ln w="21590">
            <a:solidFill>
              <a:srgbClr val="B84419"/>
            </a:solidFill>
            <a:prstDash val="solid"/>
          </a:ln>
        </p:spPr>
      </p:sp>
      <p:sp>
        <p:nvSpPr>
          <p:cNvPr id="140" name="Shape 137"/>
          <p:cNvSpPr/>
          <p:nvPr/>
        </p:nvSpPr>
        <p:spPr>
          <a:xfrm flipV="1">
            <a:off x="5449824" y="12917827"/>
            <a:ext cx="83703" cy="54284"/>
          </a:xfrm>
          <a:prstGeom prst="line">
            <a:avLst/>
          </a:prstGeom>
          <a:noFill/>
          <a:ln w="21590">
            <a:solidFill>
              <a:srgbClr val="B84419"/>
            </a:solidFill>
            <a:prstDash val="solid"/>
          </a:ln>
        </p:spPr>
      </p:sp>
      <p:sp>
        <p:nvSpPr>
          <p:cNvPr id="141" name="Shape 138"/>
          <p:cNvSpPr/>
          <p:nvPr/>
        </p:nvSpPr>
        <p:spPr>
          <a:xfrm flipV="1">
            <a:off x="5533527" y="12859692"/>
            <a:ext cx="83703" cy="58135"/>
          </a:xfrm>
          <a:prstGeom prst="line">
            <a:avLst/>
          </a:prstGeom>
          <a:noFill/>
          <a:ln w="21590">
            <a:solidFill>
              <a:srgbClr val="B84419"/>
            </a:solidFill>
            <a:prstDash val="solid"/>
          </a:ln>
        </p:spPr>
      </p:sp>
      <p:sp>
        <p:nvSpPr>
          <p:cNvPr id="142" name="Shape 139"/>
          <p:cNvSpPr/>
          <p:nvPr/>
        </p:nvSpPr>
        <p:spPr>
          <a:xfrm flipV="1">
            <a:off x="5617230" y="12797241"/>
            <a:ext cx="83703" cy="62451"/>
          </a:xfrm>
          <a:prstGeom prst="line">
            <a:avLst/>
          </a:prstGeom>
          <a:noFill/>
          <a:ln w="21590">
            <a:solidFill>
              <a:srgbClr val="B84419"/>
            </a:solidFill>
            <a:prstDash val="solid"/>
          </a:ln>
        </p:spPr>
      </p:sp>
      <p:sp>
        <p:nvSpPr>
          <p:cNvPr id="143" name="Shape 140"/>
          <p:cNvSpPr/>
          <p:nvPr/>
        </p:nvSpPr>
        <p:spPr>
          <a:xfrm flipV="1">
            <a:off x="5700932" y="12729932"/>
            <a:ext cx="83703" cy="67308"/>
          </a:xfrm>
          <a:prstGeom prst="line">
            <a:avLst/>
          </a:prstGeom>
          <a:noFill/>
          <a:ln w="21590">
            <a:solidFill>
              <a:srgbClr val="B84419"/>
            </a:solidFill>
            <a:prstDash val="solid"/>
          </a:ln>
        </p:spPr>
      </p:sp>
      <p:sp>
        <p:nvSpPr>
          <p:cNvPr id="144" name="Shape 141"/>
          <p:cNvSpPr/>
          <p:nvPr/>
        </p:nvSpPr>
        <p:spPr>
          <a:xfrm flipV="1">
            <a:off x="5784635" y="12657131"/>
            <a:ext cx="83703" cy="72801"/>
          </a:xfrm>
          <a:prstGeom prst="line">
            <a:avLst/>
          </a:prstGeom>
          <a:noFill/>
          <a:ln w="21590">
            <a:solidFill>
              <a:srgbClr val="B84419"/>
            </a:solidFill>
            <a:prstDash val="solid"/>
          </a:ln>
        </p:spPr>
      </p:sp>
      <p:sp>
        <p:nvSpPr>
          <p:cNvPr id="145" name="Shape 142"/>
          <p:cNvSpPr/>
          <p:nvPr/>
        </p:nvSpPr>
        <p:spPr>
          <a:xfrm flipV="1">
            <a:off x="5868338" y="12578086"/>
            <a:ext cx="83703" cy="79045"/>
          </a:xfrm>
          <a:prstGeom prst="line">
            <a:avLst/>
          </a:prstGeom>
          <a:noFill/>
          <a:ln w="21590">
            <a:solidFill>
              <a:srgbClr val="B84419"/>
            </a:solidFill>
            <a:prstDash val="solid"/>
          </a:ln>
        </p:spPr>
      </p:sp>
      <p:sp>
        <p:nvSpPr>
          <p:cNvPr id="146" name="Shape 143"/>
          <p:cNvSpPr/>
          <p:nvPr/>
        </p:nvSpPr>
        <p:spPr>
          <a:xfrm flipV="1">
            <a:off x="5952041" y="12491902"/>
            <a:ext cx="83703" cy="86184"/>
          </a:xfrm>
          <a:prstGeom prst="line">
            <a:avLst/>
          </a:prstGeom>
          <a:noFill/>
          <a:ln w="21590">
            <a:solidFill>
              <a:srgbClr val="B84419"/>
            </a:solidFill>
            <a:prstDash val="solid"/>
          </a:ln>
        </p:spPr>
      </p:sp>
      <p:sp>
        <p:nvSpPr>
          <p:cNvPr id="147" name="Shape 144"/>
          <p:cNvSpPr/>
          <p:nvPr/>
        </p:nvSpPr>
        <p:spPr>
          <a:xfrm flipV="1">
            <a:off x="6035743" y="12397507"/>
            <a:ext cx="83703" cy="94395"/>
          </a:xfrm>
          <a:prstGeom prst="line">
            <a:avLst/>
          </a:prstGeom>
          <a:noFill/>
          <a:ln w="21590">
            <a:solidFill>
              <a:srgbClr val="B84419"/>
            </a:solidFill>
            <a:prstDash val="solid"/>
          </a:ln>
        </p:spPr>
      </p:sp>
      <p:sp>
        <p:nvSpPr>
          <p:cNvPr id="148" name="Shape 145"/>
          <p:cNvSpPr/>
          <p:nvPr/>
        </p:nvSpPr>
        <p:spPr>
          <a:xfrm flipV="1">
            <a:off x="6119446" y="12293602"/>
            <a:ext cx="83703" cy="103905"/>
          </a:xfrm>
          <a:prstGeom prst="line">
            <a:avLst/>
          </a:prstGeom>
          <a:noFill/>
          <a:ln w="21590">
            <a:solidFill>
              <a:srgbClr val="B84419"/>
            </a:solidFill>
            <a:prstDash val="solid"/>
          </a:ln>
        </p:spPr>
      </p:sp>
      <p:sp>
        <p:nvSpPr>
          <p:cNvPr id="149" name="Shape 146"/>
          <p:cNvSpPr/>
          <p:nvPr/>
        </p:nvSpPr>
        <p:spPr>
          <a:xfrm flipV="1">
            <a:off x="6203149" y="12178600"/>
            <a:ext cx="83703" cy="115002"/>
          </a:xfrm>
          <a:prstGeom prst="line">
            <a:avLst/>
          </a:prstGeom>
          <a:noFill/>
          <a:ln w="21590">
            <a:solidFill>
              <a:srgbClr val="B84419"/>
            </a:solidFill>
            <a:prstDash val="solid"/>
          </a:ln>
        </p:spPr>
      </p:sp>
      <p:sp>
        <p:nvSpPr>
          <p:cNvPr id="150" name="Shape 147"/>
          <p:cNvSpPr/>
          <p:nvPr/>
        </p:nvSpPr>
        <p:spPr>
          <a:xfrm flipV="1">
            <a:off x="6286852" y="12050541"/>
            <a:ext cx="83703" cy="128060"/>
          </a:xfrm>
          <a:prstGeom prst="line">
            <a:avLst/>
          </a:prstGeom>
          <a:noFill/>
          <a:ln w="21590">
            <a:solidFill>
              <a:srgbClr val="B84419"/>
            </a:solidFill>
            <a:prstDash val="solid"/>
          </a:ln>
        </p:spPr>
      </p:sp>
      <p:sp>
        <p:nvSpPr>
          <p:cNvPr id="151" name="Shape 148"/>
          <p:cNvSpPr/>
          <p:nvPr/>
        </p:nvSpPr>
        <p:spPr>
          <a:xfrm flipV="1">
            <a:off x="6370554" y="11906973"/>
            <a:ext cx="83703" cy="143567"/>
          </a:xfrm>
          <a:prstGeom prst="line">
            <a:avLst/>
          </a:prstGeom>
          <a:noFill/>
          <a:ln w="21590">
            <a:solidFill>
              <a:srgbClr val="B84419"/>
            </a:solidFill>
            <a:prstDash val="solid"/>
          </a:ln>
        </p:spPr>
      </p:sp>
      <p:sp>
        <p:nvSpPr>
          <p:cNvPr id="152" name="Shape 149"/>
          <p:cNvSpPr/>
          <p:nvPr/>
        </p:nvSpPr>
        <p:spPr>
          <a:xfrm flipV="1">
            <a:off x="6454257" y="11744794"/>
            <a:ext cx="83703" cy="162179"/>
          </a:xfrm>
          <a:prstGeom prst="line">
            <a:avLst/>
          </a:prstGeom>
          <a:noFill/>
          <a:ln w="21590">
            <a:solidFill>
              <a:srgbClr val="B84419"/>
            </a:solidFill>
            <a:prstDash val="solid"/>
          </a:ln>
        </p:spPr>
      </p:sp>
      <p:sp>
        <p:nvSpPr>
          <p:cNvPr id="153" name="Shape 150"/>
          <p:cNvSpPr/>
          <p:nvPr/>
        </p:nvSpPr>
        <p:spPr>
          <a:xfrm flipV="1">
            <a:off x="1097280" y="14211188"/>
            <a:ext cx="83703" cy="718"/>
          </a:xfrm>
          <a:prstGeom prst="line">
            <a:avLst/>
          </a:prstGeom>
          <a:noFill/>
          <a:ln w="21590">
            <a:solidFill>
              <a:srgbClr val="321B40"/>
            </a:solidFill>
            <a:prstDash val="solid"/>
          </a:ln>
        </p:spPr>
      </p:sp>
      <p:sp>
        <p:nvSpPr>
          <p:cNvPr id="154" name="Shape 151"/>
          <p:cNvSpPr/>
          <p:nvPr/>
        </p:nvSpPr>
        <p:spPr>
          <a:xfrm flipV="1">
            <a:off x="1180983" y="14210465"/>
            <a:ext cx="83703" cy="723"/>
          </a:xfrm>
          <a:prstGeom prst="line">
            <a:avLst/>
          </a:prstGeom>
          <a:noFill/>
          <a:ln w="21590">
            <a:solidFill>
              <a:srgbClr val="321B40"/>
            </a:solidFill>
            <a:prstDash val="solid"/>
          </a:ln>
        </p:spPr>
      </p:sp>
      <p:sp>
        <p:nvSpPr>
          <p:cNvPr id="155" name="Shape 152"/>
          <p:cNvSpPr/>
          <p:nvPr/>
        </p:nvSpPr>
        <p:spPr>
          <a:xfrm flipV="1">
            <a:off x="1264686" y="14209737"/>
            <a:ext cx="83703" cy="728"/>
          </a:xfrm>
          <a:prstGeom prst="line">
            <a:avLst/>
          </a:prstGeom>
          <a:noFill/>
          <a:ln w="21590">
            <a:solidFill>
              <a:srgbClr val="321B40"/>
            </a:solidFill>
            <a:prstDash val="solid"/>
          </a:ln>
        </p:spPr>
      </p:sp>
      <p:sp>
        <p:nvSpPr>
          <p:cNvPr id="156" name="Shape 153"/>
          <p:cNvSpPr/>
          <p:nvPr/>
        </p:nvSpPr>
        <p:spPr>
          <a:xfrm flipV="1">
            <a:off x="1348388" y="14209003"/>
            <a:ext cx="83703" cy="734"/>
          </a:xfrm>
          <a:prstGeom prst="line">
            <a:avLst/>
          </a:prstGeom>
          <a:noFill/>
          <a:ln w="21590">
            <a:solidFill>
              <a:srgbClr val="321B40"/>
            </a:solidFill>
            <a:prstDash val="solid"/>
          </a:ln>
        </p:spPr>
      </p:sp>
      <p:sp>
        <p:nvSpPr>
          <p:cNvPr id="157" name="Shape 154"/>
          <p:cNvSpPr/>
          <p:nvPr/>
        </p:nvSpPr>
        <p:spPr>
          <a:xfrm flipV="1">
            <a:off x="1432091" y="14208262"/>
            <a:ext cx="83703" cy="741"/>
          </a:xfrm>
          <a:prstGeom prst="line">
            <a:avLst/>
          </a:prstGeom>
          <a:noFill/>
          <a:ln w="21590">
            <a:solidFill>
              <a:srgbClr val="321B40"/>
            </a:solidFill>
            <a:prstDash val="solid"/>
          </a:ln>
        </p:spPr>
      </p:sp>
      <p:sp>
        <p:nvSpPr>
          <p:cNvPr id="158" name="Shape 155"/>
          <p:cNvSpPr/>
          <p:nvPr/>
        </p:nvSpPr>
        <p:spPr>
          <a:xfrm flipV="1">
            <a:off x="1515794" y="14207514"/>
            <a:ext cx="83703" cy="748"/>
          </a:xfrm>
          <a:prstGeom prst="line">
            <a:avLst/>
          </a:prstGeom>
          <a:noFill/>
          <a:ln w="21590">
            <a:solidFill>
              <a:srgbClr val="321B40"/>
            </a:solidFill>
            <a:prstDash val="solid"/>
          </a:ln>
        </p:spPr>
      </p:sp>
      <p:sp>
        <p:nvSpPr>
          <p:cNvPr id="159" name="Shape 156"/>
          <p:cNvSpPr/>
          <p:nvPr/>
        </p:nvSpPr>
        <p:spPr>
          <a:xfrm flipV="1">
            <a:off x="1599497" y="14206759"/>
            <a:ext cx="83703" cy="755"/>
          </a:xfrm>
          <a:prstGeom prst="line">
            <a:avLst/>
          </a:prstGeom>
          <a:noFill/>
          <a:ln w="21590">
            <a:solidFill>
              <a:srgbClr val="321B40"/>
            </a:solidFill>
            <a:prstDash val="solid"/>
          </a:ln>
        </p:spPr>
      </p:sp>
      <p:sp>
        <p:nvSpPr>
          <p:cNvPr id="160" name="Shape 157"/>
          <p:cNvSpPr/>
          <p:nvPr/>
        </p:nvSpPr>
        <p:spPr>
          <a:xfrm flipV="1">
            <a:off x="1683199" y="14205996"/>
            <a:ext cx="83703" cy="763"/>
          </a:xfrm>
          <a:prstGeom prst="line">
            <a:avLst/>
          </a:prstGeom>
          <a:noFill/>
          <a:ln w="21590">
            <a:solidFill>
              <a:srgbClr val="321B40"/>
            </a:solidFill>
            <a:prstDash val="solid"/>
          </a:ln>
        </p:spPr>
      </p:sp>
      <p:sp>
        <p:nvSpPr>
          <p:cNvPr id="161" name="Shape 158"/>
          <p:cNvSpPr/>
          <p:nvPr/>
        </p:nvSpPr>
        <p:spPr>
          <a:xfrm flipV="1">
            <a:off x="1766902" y="14205224"/>
            <a:ext cx="83703" cy="772"/>
          </a:xfrm>
          <a:prstGeom prst="line">
            <a:avLst/>
          </a:prstGeom>
          <a:noFill/>
          <a:ln w="21590">
            <a:solidFill>
              <a:srgbClr val="321B40"/>
            </a:solidFill>
            <a:prstDash val="solid"/>
          </a:ln>
        </p:spPr>
      </p:sp>
      <p:sp>
        <p:nvSpPr>
          <p:cNvPr id="162" name="Shape 159"/>
          <p:cNvSpPr/>
          <p:nvPr/>
        </p:nvSpPr>
        <p:spPr>
          <a:xfrm flipV="1">
            <a:off x="1850605" y="14204443"/>
            <a:ext cx="83703" cy="781"/>
          </a:xfrm>
          <a:prstGeom prst="line">
            <a:avLst/>
          </a:prstGeom>
          <a:noFill/>
          <a:ln w="21590">
            <a:solidFill>
              <a:srgbClr val="321B40"/>
            </a:solidFill>
            <a:prstDash val="solid"/>
          </a:ln>
        </p:spPr>
      </p:sp>
      <p:sp>
        <p:nvSpPr>
          <p:cNvPr id="163" name="Shape 160"/>
          <p:cNvSpPr/>
          <p:nvPr/>
        </p:nvSpPr>
        <p:spPr>
          <a:xfrm flipV="1">
            <a:off x="1934308" y="14203651"/>
            <a:ext cx="83703" cy="791"/>
          </a:xfrm>
          <a:prstGeom prst="line">
            <a:avLst/>
          </a:prstGeom>
          <a:noFill/>
          <a:ln w="21590">
            <a:solidFill>
              <a:srgbClr val="321B40"/>
            </a:solidFill>
            <a:prstDash val="solid"/>
          </a:ln>
        </p:spPr>
      </p:sp>
      <p:sp>
        <p:nvSpPr>
          <p:cNvPr id="164" name="Shape 161"/>
          <p:cNvSpPr/>
          <p:nvPr/>
        </p:nvSpPr>
        <p:spPr>
          <a:xfrm flipV="1">
            <a:off x="2018010" y="14202849"/>
            <a:ext cx="83703" cy="802"/>
          </a:xfrm>
          <a:prstGeom prst="line">
            <a:avLst/>
          </a:prstGeom>
          <a:noFill/>
          <a:ln w="21590">
            <a:solidFill>
              <a:srgbClr val="321B40"/>
            </a:solidFill>
            <a:prstDash val="solid"/>
          </a:ln>
        </p:spPr>
      </p:sp>
      <p:sp>
        <p:nvSpPr>
          <p:cNvPr id="165" name="Shape 162"/>
          <p:cNvSpPr/>
          <p:nvPr/>
        </p:nvSpPr>
        <p:spPr>
          <a:xfrm flipV="1">
            <a:off x="2101713" y="14202036"/>
            <a:ext cx="83703" cy="813"/>
          </a:xfrm>
          <a:prstGeom prst="line">
            <a:avLst/>
          </a:prstGeom>
          <a:noFill/>
          <a:ln w="21590">
            <a:solidFill>
              <a:srgbClr val="321B40"/>
            </a:solidFill>
            <a:prstDash val="solid"/>
          </a:ln>
        </p:spPr>
      </p:sp>
      <p:sp>
        <p:nvSpPr>
          <p:cNvPr id="166" name="Shape 163"/>
          <p:cNvSpPr/>
          <p:nvPr/>
        </p:nvSpPr>
        <p:spPr>
          <a:xfrm flipV="1">
            <a:off x="2185416" y="14201210"/>
            <a:ext cx="83703" cy="826"/>
          </a:xfrm>
          <a:prstGeom prst="line">
            <a:avLst/>
          </a:prstGeom>
          <a:noFill/>
          <a:ln w="21590">
            <a:solidFill>
              <a:srgbClr val="321B40"/>
            </a:solidFill>
            <a:prstDash val="solid"/>
          </a:ln>
        </p:spPr>
      </p:sp>
      <p:sp>
        <p:nvSpPr>
          <p:cNvPr id="167" name="Shape 164"/>
          <p:cNvSpPr/>
          <p:nvPr/>
        </p:nvSpPr>
        <p:spPr>
          <a:xfrm flipV="1">
            <a:off x="2269119" y="14200372"/>
            <a:ext cx="83703" cy="838"/>
          </a:xfrm>
          <a:prstGeom prst="line">
            <a:avLst/>
          </a:prstGeom>
          <a:noFill/>
          <a:ln w="21590">
            <a:solidFill>
              <a:srgbClr val="321B40"/>
            </a:solidFill>
            <a:prstDash val="solid"/>
          </a:ln>
        </p:spPr>
      </p:sp>
      <p:sp>
        <p:nvSpPr>
          <p:cNvPr id="168" name="Shape 165"/>
          <p:cNvSpPr/>
          <p:nvPr/>
        </p:nvSpPr>
        <p:spPr>
          <a:xfrm flipV="1">
            <a:off x="2352822" y="14199520"/>
            <a:ext cx="83703" cy="852"/>
          </a:xfrm>
          <a:prstGeom prst="line">
            <a:avLst/>
          </a:prstGeom>
          <a:noFill/>
          <a:ln w="21590">
            <a:solidFill>
              <a:srgbClr val="321B40"/>
            </a:solidFill>
            <a:prstDash val="solid"/>
          </a:ln>
        </p:spPr>
      </p:sp>
      <p:sp>
        <p:nvSpPr>
          <p:cNvPr id="169" name="Shape 166"/>
          <p:cNvSpPr/>
          <p:nvPr/>
        </p:nvSpPr>
        <p:spPr>
          <a:xfrm flipV="1">
            <a:off x="2436524" y="14198653"/>
            <a:ext cx="83703" cy="867"/>
          </a:xfrm>
          <a:prstGeom prst="line">
            <a:avLst/>
          </a:prstGeom>
          <a:noFill/>
          <a:ln w="21590">
            <a:solidFill>
              <a:srgbClr val="321B40"/>
            </a:solidFill>
            <a:prstDash val="solid"/>
          </a:ln>
        </p:spPr>
      </p:sp>
      <p:sp>
        <p:nvSpPr>
          <p:cNvPr id="170" name="Shape 167"/>
          <p:cNvSpPr/>
          <p:nvPr/>
        </p:nvSpPr>
        <p:spPr>
          <a:xfrm flipV="1">
            <a:off x="2520227" y="14197771"/>
            <a:ext cx="83703" cy="882"/>
          </a:xfrm>
          <a:prstGeom prst="line">
            <a:avLst/>
          </a:prstGeom>
          <a:noFill/>
          <a:ln w="21590">
            <a:solidFill>
              <a:srgbClr val="321B40"/>
            </a:solidFill>
            <a:prstDash val="solid"/>
          </a:ln>
        </p:spPr>
      </p:sp>
      <p:sp>
        <p:nvSpPr>
          <p:cNvPr id="171" name="Shape 168"/>
          <p:cNvSpPr/>
          <p:nvPr/>
        </p:nvSpPr>
        <p:spPr>
          <a:xfrm flipV="1">
            <a:off x="2603930" y="14196872"/>
            <a:ext cx="83703" cy="899"/>
          </a:xfrm>
          <a:prstGeom prst="line">
            <a:avLst/>
          </a:prstGeom>
          <a:noFill/>
          <a:ln w="21590">
            <a:solidFill>
              <a:srgbClr val="321B40"/>
            </a:solidFill>
            <a:prstDash val="solid"/>
          </a:ln>
        </p:spPr>
      </p:sp>
      <p:sp>
        <p:nvSpPr>
          <p:cNvPr id="172" name="Shape 169"/>
          <p:cNvSpPr/>
          <p:nvPr/>
        </p:nvSpPr>
        <p:spPr>
          <a:xfrm flipV="1">
            <a:off x="2687633" y="14195955"/>
            <a:ext cx="83703" cy="916"/>
          </a:xfrm>
          <a:prstGeom prst="line">
            <a:avLst/>
          </a:prstGeom>
          <a:noFill/>
          <a:ln w="21590">
            <a:solidFill>
              <a:srgbClr val="321B40"/>
            </a:solidFill>
            <a:prstDash val="solid"/>
          </a:ln>
        </p:spPr>
      </p:sp>
      <p:sp>
        <p:nvSpPr>
          <p:cNvPr id="173" name="Shape 170"/>
          <p:cNvSpPr/>
          <p:nvPr/>
        </p:nvSpPr>
        <p:spPr>
          <a:xfrm flipV="1">
            <a:off x="2771335" y="14195020"/>
            <a:ext cx="83703" cy="935"/>
          </a:xfrm>
          <a:prstGeom prst="line">
            <a:avLst/>
          </a:prstGeom>
          <a:noFill/>
          <a:ln w="21590">
            <a:solidFill>
              <a:srgbClr val="321B40"/>
            </a:solidFill>
            <a:prstDash val="solid"/>
          </a:ln>
        </p:spPr>
      </p:sp>
      <p:sp>
        <p:nvSpPr>
          <p:cNvPr id="174" name="Shape 171"/>
          <p:cNvSpPr/>
          <p:nvPr/>
        </p:nvSpPr>
        <p:spPr>
          <a:xfrm flipV="1">
            <a:off x="2855038" y="14194065"/>
            <a:ext cx="83703" cy="955"/>
          </a:xfrm>
          <a:prstGeom prst="line">
            <a:avLst/>
          </a:prstGeom>
          <a:noFill/>
          <a:ln w="21590">
            <a:solidFill>
              <a:srgbClr val="321B40"/>
            </a:solidFill>
            <a:prstDash val="solid"/>
          </a:ln>
        </p:spPr>
      </p:sp>
      <p:sp>
        <p:nvSpPr>
          <p:cNvPr id="175" name="Shape 172"/>
          <p:cNvSpPr/>
          <p:nvPr/>
        </p:nvSpPr>
        <p:spPr>
          <a:xfrm flipV="1">
            <a:off x="2938741" y="14193089"/>
            <a:ext cx="83703" cy="976"/>
          </a:xfrm>
          <a:prstGeom prst="line">
            <a:avLst/>
          </a:prstGeom>
          <a:noFill/>
          <a:ln w="21590">
            <a:solidFill>
              <a:srgbClr val="321B40"/>
            </a:solidFill>
            <a:prstDash val="solid"/>
          </a:ln>
        </p:spPr>
      </p:sp>
      <p:sp>
        <p:nvSpPr>
          <p:cNvPr id="176" name="Shape 173"/>
          <p:cNvSpPr/>
          <p:nvPr/>
        </p:nvSpPr>
        <p:spPr>
          <a:xfrm flipV="1">
            <a:off x="3022444" y="14192090"/>
            <a:ext cx="83703" cy="998"/>
          </a:xfrm>
          <a:prstGeom prst="line">
            <a:avLst/>
          </a:prstGeom>
          <a:noFill/>
          <a:ln w="21590">
            <a:solidFill>
              <a:srgbClr val="321B40"/>
            </a:solidFill>
            <a:prstDash val="solid"/>
          </a:ln>
        </p:spPr>
      </p:sp>
      <p:sp>
        <p:nvSpPr>
          <p:cNvPr id="177" name="Shape 174"/>
          <p:cNvSpPr/>
          <p:nvPr/>
        </p:nvSpPr>
        <p:spPr>
          <a:xfrm flipV="1">
            <a:off x="3106146" y="14191068"/>
            <a:ext cx="83703" cy="1022"/>
          </a:xfrm>
          <a:prstGeom prst="line">
            <a:avLst/>
          </a:prstGeom>
          <a:noFill/>
          <a:ln w="21590">
            <a:solidFill>
              <a:srgbClr val="321B40"/>
            </a:solidFill>
            <a:prstDash val="solid"/>
          </a:ln>
        </p:spPr>
      </p:sp>
      <p:sp>
        <p:nvSpPr>
          <p:cNvPr id="178" name="Shape 175"/>
          <p:cNvSpPr/>
          <p:nvPr/>
        </p:nvSpPr>
        <p:spPr>
          <a:xfrm flipV="1">
            <a:off x="3189849" y="14190021"/>
            <a:ext cx="83703" cy="1048"/>
          </a:xfrm>
          <a:prstGeom prst="line">
            <a:avLst/>
          </a:prstGeom>
          <a:noFill/>
          <a:ln w="21590">
            <a:solidFill>
              <a:srgbClr val="321B40"/>
            </a:solidFill>
            <a:prstDash val="solid"/>
          </a:ln>
        </p:spPr>
      </p:sp>
      <p:sp>
        <p:nvSpPr>
          <p:cNvPr id="179" name="Shape 176"/>
          <p:cNvSpPr/>
          <p:nvPr/>
        </p:nvSpPr>
        <p:spPr>
          <a:xfrm flipV="1">
            <a:off x="3273552" y="14188946"/>
            <a:ext cx="83703" cy="1074"/>
          </a:xfrm>
          <a:prstGeom prst="line">
            <a:avLst/>
          </a:prstGeom>
          <a:noFill/>
          <a:ln w="21590">
            <a:solidFill>
              <a:srgbClr val="321B40"/>
            </a:solidFill>
            <a:prstDash val="solid"/>
          </a:ln>
        </p:spPr>
      </p:sp>
      <p:sp>
        <p:nvSpPr>
          <p:cNvPr id="180" name="Shape 177"/>
          <p:cNvSpPr/>
          <p:nvPr/>
        </p:nvSpPr>
        <p:spPr>
          <a:xfrm flipV="1">
            <a:off x="3357255" y="14187843"/>
            <a:ext cx="83703" cy="1103"/>
          </a:xfrm>
          <a:prstGeom prst="line">
            <a:avLst/>
          </a:prstGeom>
          <a:noFill/>
          <a:ln w="21590">
            <a:solidFill>
              <a:srgbClr val="321B40"/>
            </a:solidFill>
            <a:prstDash val="solid"/>
          </a:ln>
        </p:spPr>
      </p:sp>
      <p:sp>
        <p:nvSpPr>
          <p:cNvPr id="181" name="Shape 178"/>
          <p:cNvSpPr/>
          <p:nvPr/>
        </p:nvSpPr>
        <p:spPr>
          <a:xfrm flipV="1">
            <a:off x="3440958" y="14186710"/>
            <a:ext cx="83703" cy="1134"/>
          </a:xfrm>
          <a:prstGeom prst="line">
            <a:avLst/>
          </a:prstGeom>
          <a:noFill/>
          <a:ln w="21590">
            <a:solidFill>
              <a:srgbClr val="321B40"/>
            </a:solidFill>
            <a:prstDash val="solid"/>
          </a:ln>
        </p:spPr>
      </p:sp>
      <p:sp>
        <p:nvSpPr>
          <p:cNvPr id="182" name="Shape 179"/>
          <p:cNvSpPr/>
          <p:nvPr/>
        </p:nvSpPr>
        <p:spPr>
          <a:xfrm flipV="1">
            <a:off x="3524660" y="14185544"/>
            <a:ext cx="83703" cy="1166"/>
          </a:xfrm>
          <a:prstGeom prst="line">
            <a:avLst/>
          </a:prstGeom>
          <a:noFill/>
          <a:ln w="21590">
            <a:solidFill>
              <a:srgbClr val="321B40"/>
            </a:solidFill>
            <a:prstDash val="solid"/>
          </a:ln>
        </p:spPr>
      </p:sp>
      <p:sp>
        <p:nvSpPr>
          <p:cNvPr id="183" name="Shape 180"/>
          <p:cNvSpPr/>
          <p:nvPr/>
        </p:nvSpPr>
        <p:spPr>
          <a:xfrm flipV="1">
            <a:off x="3608363" y="14184343"/>
            <a:ext cx="83703" cy="1201"/>
          </a:xfrm>
          <a:prstGeom prst="line">
            <a:avLst/>
          </a:prstGeom>
          <a:noFill/>
          <a:ln w="21590">
            <a:solidFill>
              <a:srgbClr val="321B40"/>
            </a:solidFill>
            <a:prstDash val="solid"/>
          </a:ln>
        </p:spPr>
      </p:sp>
      <p:sp>
        <p:nvSpPr>
          <p:cNvPr id="184" name="Shape 181"/>
          <p:cNvSpPr/>
          <p:nvPr/>
        </p:nvSpPr>
        <p:spPr>
          <a:xfrm flipV="1">
            <a:off x="3692066" y="14183105"/>
            <a:ext cx="83703" cy="1238"/>
          </a:xfrm>
          <a:prstGeom prst="line">
            <a:avLst/>
          </a:prstGeom>
          <a:noFill/>
          <a:ln w="21590">
            <a:solidFill>
              <a:srgbClr val="321B40"/>
            </a:solidFill>
            <a:prstDash val="solid"/>
          </a:ln>
        </p:spPr>
      </p:sp>
      <p:sp>
        <p:nvSpPr>
          <p:cNvPr id="185" name="Shape 182"/>
          <p:cNvSpPr/>
          <p:nvPr/>
        </p:nvSpPr>
        <p:spPr>
          <a:xfrm flipV="1">
            <a:off x="3775769" y="14181828"/>
            <a:ext cx="83703" cy="1277"/>
          </a:xfrm>
          <a:prstGeom prst="line">
            <a:avLst/>
          </a:prstGeom>
          <a:noFill/>
          <a:ln w="21590">
            <a:solidFill>
              <a:srgbClr val="321B40"/>
            </a:solidFill>
            <a:prstDash val="solid"/>
          </a:ln>
        </p:spPr>
      </p:sp>
      <p:sp>
        <p:nvSpPr>
          <p:cNvPr id="186" name="Shape 183"/>
          <p:cNvSpPr/>
          <p:nvPr/>
        </p:nvSpPr>
        <p:spPr>
          <a:xfrm flipV="1">
            <a:off x="3859471" y="14180508"/>
            <a:ext cx="83703" cy="1320"/>
          </a:xfrm>
          <a:prstGeom prst="line">
            <a:avLst/>
          </a:prstGeom>
          <a:noFill/>
          <a:ln w="21590">
            <a:solidFill>
              <a:srgbClr val="321B40"/>
            </a:solidFill>
            <a:prstDash val="solid"/>
          </a:ln>
        </p:spPr>
      </p:sp>
      <p:sp>
        <p:nvSpPr>
          <p:cNvPr id="187" name="Shape 184"/>
          <p:cNvSpPr/>
          <p:nvPr/>
        </p:nvSpPr>
        <p:spPr>
          <a:xfrm flipV="1">
            <a:off x="3943174" y="14179144"/>
            <a:ext cx="83703" cy="1365"/>
          </a:xfrm>
          <a:prstGeom prst="line">
            <a:avLst/>
          </a:prstGeom>
          <a:noFill/>
          <a:ln w="21590">
            <a:solidFill>
              <a:srgbClr val="321B40"/>
            </a:solidFill>
            <a:prstDash val="solid"/>
          </a:ln>
        </p:spPr>
      </p:sp>
      <p:sp>
        <p:nvSpPr>
          <p:cNvPr id="188" name="Shape 185"/>
          <p:cNvSpPr/>
          <p:nvPr/>
        </p:nvSpPr>
        <p:spPr>
          <a:xfrm flipV="1">
            <a:off x="4026877" y="14177730"/>
            <a:ext cx="83703" cy="1413"/>
          </a:xfrm>
          <a:prstGeom prst="line">
            <a:avLst/>
          </a:prstGeom>
          <a:noFill/>
          <a:ln w="21590">
            <a:solidFill>
              <a:srgbClr val="321B40"/>
            </a:solidFill>
            <a:prstDash val="solid"/>
          </a:ln>
        </p:spPr>
      </p:sp>
      <p:sp>
        <p:nvSpPr>
          <p:cNvPr id="189" name="Shape 186"/>
          <p:cNvSpPr/>
          <p:nvPr/>
        </p:nvSpPr>
        <p:spPr>
          <a:xfrm flipV="1">
            <a:off x="4110580" y="14176265"/>
            <a:ext cx="83703" cy="1465"/>
          </a:xfrm>
          <a:prstGeom prst="line">
            <a:avLst/>
          </a:prstGeom>
          <a:noFill/>
          <a:ln w="21590">
            <a:solidFill>
              <a:srgbClr val="321B40"/>
            </a:solidFill>
            <a:prstDash val="solid"/>
          </a:ln>
        </p:spPr>
      </p:sp>
      <p:sp>
        <p:nvSpPr>
          <p:cNvPr id="190" name="Shape 187"/>
          <p:cNvSpPr/>
          <p:nvPr/>
        </p:nvSpPr>
        <p:spPr>
          <a:xfrm flipV="1">
            <a:off x="4194282" y="14174744"/>
            <a:ext cx="83703" cy="1521"/>
          </a:xfrm>
          <a:prstGeom prst="line">
            <a:avLst/>
          </a:prstGeom>
          <a:noFill/>
          <a:ln w="21590">
            <a:solidFill>
              <a:srgbClr val="321B40"/>
            </a:solidFill>
            <a:prstDash val="solid"/>
          </a:ln>
        </p:spPr>
      </p:sp>
      <p:sp>
        <p:nvSpPr>
          <p:cNvPr id="191" name="Shape 188"/>
          <p:cNvSpPr/>
          <p:nvPr/>
        </p:nvSpPr>
        <p:spPr>
          <a:xfrm flipV="1">
            <a:off x="4277985" y="14173162"/>
            <a:ext cx="83703" cy="1581"/>
          </a:xfrm>
          <a:prstGeom prst="line">
            <a:avLst/>
          </a:prstGeom>
          <a:noFill/>
          <a:ln w="21590">
            <a:solidFill>
              <a:srgbClr val="321B40"/>
            </a:solidFill>
            <a:prstDash val="solid"/>
          </a:ln>
        </p:spPr>
      </p:sp>
      <p:sp>
        <p:nvSpPr>
          <p:cNvPr id="192" name="Shape 189"/>
          <p:cNvSpPr/>
          <p:nvPr/>
        </p:nvSpPr>
        <p:spPr>
          <a:xfrm flipV="1">
            <a:off x="4361688" y="14171516"/>
            <a:ext cx="83703" cy="1646"/>
          </a:xfrm>
          <a:prstGeom prst="line">
            <a:avLst/>
          </a:prstGeom>
          <a:noFill/>
          <a:ln w="21590">
            <a:solidFill>
              <a:srgbClr val="321B40"/>
            </a:solidFill>
            <a:prstDash val="solid"/>
          </a:ln>
        </p:spPr>
      </p:sp>
      <p:sp>
        <p:nvSpPr>
          <p:cNvPr id="193" name="Shape 190"/>
          <p:cNvSpPr/>
          <p:nvPr/>
        </p:nvSpPr>
        <p:spPr>
          <a:xfrm flipV="1">
            <a:off x="4445391" y="14169800"/>
            <a:ext cx="83703" cy="1716"/>
          </a:xfrm>
          <a:prstGeom prst="line">
            <a:avLst/>
          </a:prstGeom>
          <a:noFill/>
          <a:ln w="21590">
            <a:solidFill>
              <a:srgbClr val="321B40"/>
            </a:solidFill>
            <a:prstDash val="solid"/>
          </a:ln>
        </p:spPr>
      </p:sp>
      <p:sp>
        <p:nvSpPr>
          <p:cNvPr id="194" name="Shape 191"/>
          <p:cNvSpPr/>
          <p:nvPr/>
        </p:nvSpPr>
        <p:spPr>
          <a:xfrm flipV="1">
            <a:off x="4529094" y="14168009"/>
            <a:ext cx="83703" cy="1792"/>
          </a:xfrm>
          <a:prstGeom prst="line">
            <a:avLst/>
          </a:prstGeom>
          <a:noFill/>
          <a:ln w="21590">
            <a:solidFill>
              <a:srgbClr val="321B40"/>
            </a:solidFill>
            <a:prstDash val="solid"/>
          </a:ln>
        </p:spPr>
      </p:sp>
      <p:sp>
        <p:nvSpPr>
          <p:cNvPr id="195" name="Shape 192"/>
          <p:cNvSpPr/>
          <p:nvPr/>
        </p:nvSpPr>
        <p:spPr>
          <a:xfrm flipV="1">
            <a:off x="4612796" y="14166135"/>
            <a:ext cx="83703" cy="1874"/>
          </a:xfrm>
          <a:prstGeom prst="line">
            <a:avLst/>
          </a:prstGeom>
          <a:noFill/>
          <a:ln w="21590">
            <a:solidFill>
              <a:srgbClr val="321B40"/>
            </a:solidFill>
            <a:prstDash val="solid"/>
          </a:ln>
        </p:spPr>
      </p:sp>
      <p:sp>
        <p:nvSpPr>
          <p:cNvPr id="196" name="Shape 193"/>
          <p:cNvSpPr/>
          <p:nvPr/>
        </p:nvSpPr>
        <p:spPr>
          <a:xfrm flipV="1">
            <a:off x="4696499" y="14164172"/>
            <a:ext cx="83703" cy="1962"/>
          </a:xfrm>
          <a:prstGeom prst="line">
            <a:avLst/>
          </a:prstGeom>
          <a:noFill/>
          <a:ln w="21590">
            <a:solidFill>
              <a:srgbClr val="321B40"/>
            </a:solidFill>
            <a:prstDash val="solid"/>
          </a:ln>
        </p:spPr>
      </p:sp>
      <p:sp>
        <p:nvSpPr>
          <p:cNvPr id="197" name="Shape 194"/>
          <p:cNvSpPr/>
          <p:nvPr/>
        </p:nvSpPr>
        <p:spPr>
          <a:xfrm flipV="1">
            <a:off x="4780202" y="14162113"/>
            <a:ext cx="83703" cy="2059"/>
          </a:xfrm>
          <a:prstGeom prst="line">
            <a:avLst/>
          </a:prstGeom>
          <a:noFill/>
          <a:ln w="21590">
            <a:solidFill>
              <a:srgbClr val="321B40"/>
            </a:solidFill>
            <a:prstDash val="solid"/>
          </a:ln>
        </p:spPr>
      </p:sp>
      <p:sp>
        <p:nvSpPr>
          <p:cNvPr id="198" name="Shape 195"/>
          <p:cNvSpPr/>
          <p:nvPr/>
        </p:nvSpPr>
        <p:spPr>
          <a:xfrm flipV="1">
            <a:off x="4863905" y="14159949"/>
            <a:ext cx="83703" cy="2164"/>
          </a:xfrm>
          <a:prstGeom prst="line">
            <a:avLst/>
          </a:prstGeom>
          <a:noFill/>
          <a:ln w="21590">
            <a:solidFill>
              <a:srgbClr val="321B40"/>
            </a:solidFill>
            <a:prstDash val="solid"/>
          </a:ln>
        </p:spPr>
      </p:sp>
      <p:sp>
        <p:nvSpPr>
          <p:cNvPr id="199" name="Shape 196"/>
          <p:cNvSpPr/>
          <p:nvPr/>
        </p:nvSpPr>
        <p:spPr>
          <a:xfrm flipV="1">
            <a:off x="4947607" y="14157670"/>
            <a:ext cx="83703" cy="2279"/>
          </a:xfrm>
          <a:prstGeom prst="line">
            <a:avLst/>
          </a:prstGeom>
          <a:noFill/>
          <a:ln w="21590">
            <a:solidFill>
              <a:srgbClr val="321B40"/>
            </a:solidFill>
            <a:prstDash val="solid"/>
          </a:ln>
        </p:spPr>
      </p:sp>
      <p:sp>
        <p:nvSpPr>
          <p:cNvPr id="200" name="Shape 197"/>
          <p:cNvSpPr/>
          <p:nvPr/>
        </p:nvSpPr>
        <p:spPr>
          <a:xfrm flipV="1">
            <a:off x="5031310" y="14155264"/>
            <a:ext cx="83703" cy="2405"/>
          </a:xfrm>
          <a:prstGeom prst="line">
            <a:avLst/>
          </a:prstGeom>
          <a:noFill/>
          <a:ln w="21590">
            <a:solidFill>
              <a:srgbClr val="321B40"/>
            </a:solidFill>
            <a:prstDash val="solid"/>
          </a:ln>
        </p:spPr>
      </p:sp>
      <p:sp>
        <p:nvSpPr>
          <p:cNvPr id="201" name="Shape 198"/>
          <p:cNvSpPr/>
          <p:nvPr/>
        </p:nvSpPr>
        <p:spPr>
          <a:xfrm flipV="1">
            <a:off x="5115013" y="14152721"/>
            <a:ext cx="83703" cy="2544"/>
          </a:xfrm>
          <a:prstGeom prst="line">
            <a:avLst/>
          </a:prstGeom>
          <a:noFill/>
          <a:ln w="21590">
            <a:solidFill>
              <a:srgbClr val="321B40"/>
            </a:solidFill>
            <a:prstDash val="solid"/>
          </a:ln>
        </p:spPr>
      </p:sp>
      <p:sp>
        <p:nvSpPr>
          <p:cNvPr id="202" name="Shape 199"/>
          <p:cNvSpPr/>
          <p:nvPr/>
        </p:nvSpPr>
        <p:spPr>
          <a:xfrm flipV="1">
            <a:off x="5198716" y="14150025"/>
            <a:ext cx="83703" cy="2696"/>
          </a:xfrm>
          <a:prstGeom prst="line">
            <a:avLst/>
          </a:prstGeom>
          <a:noFill/>
          <a:ln w="21590">
            <a:solidFill>
              <a:srgbClr val="321B40"/>
            </a:solidFill>
            <a:prstDash val="solid"/>
          </a:ln>
        </p:spPr>
      </p:sp>
      <p:sp>
        <p:nvSpPr>
          <p:cNvPr id="203" name="Shape 200"/>
          <p:cNvSpPr/>
          <p:nvPr/>
        </p:nvSpPr>
        <p:spPr>
          <a:xfrm flipV="1">
            <a:off x="5282418" y="14147161"/>
            <a:ext cx="83703" cy="2864"/>
          </a:xfrm>
          <a:prstGeom prst="line">
            <a:avLst/>
          </a:prstGeom>
          <a:noFill/>
          <a:ln w="21590">
            <a:solidFill>
              <a:srgbClr val="321B40"/>
            </a:solidFill>
            <a:prstDash val="solid"/>
          </a:ln>
        </p:spPr>
      </p:sp>
      <p:sp>
        <p:nvSpPr>
          <p:cNvPr id="204" name="Shape 201"/>
          <p:cNvSpPr/>
          <p:nvPr/>
        </p:nvSpPr>
        <p:spPr>
          <a:xfrm flipV="1">
            <a:off x="5366121" y="14144111"/>
            <a:ext cx="83703" cy="3050"/>
          </a:xfrm>
          <a:prstGeom prst="line">
            <a:avLst/>
          </a:prstGeom>
          <a:noFill/>
          <a:ln w="21590">
            <a:solidFill>
              <a:srgbClr val="321B40"/>
            </a:solidFill>
            <a:prstDash val="solid"/>
          </a:ln>
        </p:spPr>
      </p:sp>
      <p:sp>
        <p:nvSpPr>
          <p:cNvPr id="205" name="Shape 202"/>
          <p:cNvSpPr/>
          <p:nvPr/>
        </p:nvSpPr>
        <p:spPr>
          <a:xfrm flipV="1">
            <a:off x="5449824" y="14140854"/>
            <a:ext cx="83703" cy="3257"/>
          </a:xfrm>
          <a:prstGeom prst="line">
            <a:avLst/>
          </a:prstGeom>
          <a:noFill/>
          <a:ln w="21590">
            <a:solidFill>
              <a:srgbClr val="321B40"/>
            </a:solidFill>
            <a:prstDash val="solid"/>
          </a:ln>
        </p:spPr>
      </p:sp>
      <p:sp>
        <p:nvSpPr>
          <p:cNvPr id="206" name="Shape 203"/>
          <p:cNvSpPr/>
          <p:nvPr/>
        </p:nvSpPr>
        <p:spPr>
          <a:xfrm flipV="1">
            <a:off x="5533527" y="14137366"/>
            <a:ext cx="83703" cy="3488"/>
          </a:xfrm>
          <a:prstGeom prst="line">
            <a:avLst/>
          </a:prstGeom>
          <a:noFill/>
          <a:ln w="21590">
            <a:solidFill>
              <a:srgbClr val="321B40"/>
            </a:solidFill>
            <a:prstDash val="solid"/>
          </a:ln>
        </p:spPr>
      </p:sp>
      <p:sp>
        <p:nvSpPr>
          <p:cNvPr id="207" name="Shape 204"/>
          <p:cNvSpPr/>
          <p:nvPr/>
        </p:nvSpPr>
        <p:spPr>
          <a:xfrm flipV="1">
            <a:off x="5617230" y="14133619"/>
            <a:ext cx="83703" cy="3747"/>
          </a:xfrm>
          <a:prstGeom prst="line">
            <a:avLst/>
          </a:prstGeom>
          <a:noFill/>
          <a:ln w="21590">
            <a:solidFill>
              <a:srgbClr val="321B40"/>
            </a:solidFill>
            <a:prstDash val="solid"/>
          </a:ln>
        </p:spPr>
      </p:sp>
      <p:sp>
        <p:nvSpPr>
          <p:cNvPr id="208" name="Shape 205"/>
          <p:cNvSpPr/>
          <p:nvPr/>
        </p:nvSpPr>
        <p:spPr>
          <a:xfrm flipV="1">
            <a:off x="5700932" y="14129581"/>
            <a:ext cx="83703" cy="4038"/>
          </a:xfrm>
          <a:prstGeom prst="line">
            <a:avLst/>
          </a:prstGeom>
          <a:noFill/>
          <a:ln w="21590">
            <a:solidFill>
              <a:srgbClr val="321B40"/>
            </a:solidFill>
            <a:prstDash val="solid"/>
          </a:ln>
        </p:spPr>
      </p:sp>
      <p:sp>
        <p:nvSpPr>
          <p:cNvPr id="209" name="Shape 206"/>
          <p:cNvSpPr/>
          <p:nvPr/>
        </p:nvSpPr>
        <p:spPr>
          <a:xfrm flipV="1">
            <a:off x="5784635" y="14125213"/>
            <a:ext cx="83703" cy="4368"/>
          </a:xfrm>
          <a:prstGeom prst="line">
            <a:avLst/>
          </a:prstGeom>
          <a:noFill/>
          <a:ln w="21590">
            <a:solidFill>
              <a:srgbClr val="321B40"/>
            </a:solidFill>
            <a:prstDash val="solid"/>
          </a:ln>
        </p:spPr>
      </p:sp>
      <p:sp>
        <p:nvSpPr>
          <p:cNvPr id="210" name="Shape 207"/>
          <p:cNvSpPr/>
          <p:nvPr/>
        </p:nvSpPr>
        <p:spPr>
          <a:xfrm flipV="1">
            <a:off x="5868338" y="14120470"/>
            <a:ext cx="83703" cy="4743"/>
          </a:xfrm>
          <a:prstGeom prst="line">
            <a:avLst/>
          </a:prstGeom>
          <a:noFill/>
          <a:ln w="21590">
            <a:solidFill>
              <a:srgbClr val="321B40"/>
            </a:solidFill>
            <a:prstDash val="solid"/>
          </a:ln>
        </p:spPr>
      </p:sp>
      <p:sp>
        <p:nvSpPr>
          <p:cNvPr id="211" name="Shape 208"/>
          <p:cNvSpPr/>
          <p:nvPr/>
        </p:nvSpPr>
        <p:spPr>
          <a:xfrm flipV="1">
            <a:off x="5952041" y="14115299"/>
            <a:ext cx="83703" cy="5171"/>
          </a:xfrm>
          <a:prstGeom prst="line">
            <a:avLst/>
          </a:prstGeom>
          <a:noFill/>
          <a:ln w="21590">
            <a:solidFill>
              <a:srgbClr val="321B40"/>
            </a:solidFill>
            <a:prstDash val="solid"/>
          </a:ln>
        </p:spPr>
      </p:sp>
      <p:sp>
        <p:nvSpPr>
          <p:cNvPr id="212" name="Shape 209"/>
          <p:cNvSpPr/>
          <p:nvPr/>
        </p:nvSpPr>
        <p:spPr>
          <a:xfrm flipV="1">
            <a:off x="6035743" y="14109635"/>
            <a:ext cx="83703" cy="5664"/>
          </a:xfrm>
          <a:prstGeom prst="line">
            <a:avLst/>
          </a:prstGeom>
          <a:noFill/>
          <a:ln w="21590">
            <a:solidFill>
              <a:srgbClr val="321B40"/>
            </a:solidFill>
            <a:prstDash val="solid"/>
          </a:ln>
        </p:spPr>
      </p:sp>
      <p:sp>
        <p:nvSpPr>
          <p:cNvPr id="213" name="Shape 210"/>
          <p:cNvSpPr/>
          <p:nvPr/>
        </p:nvSpPr>
        <p:spPr>
          <a:xfrm flipV="1">
            <a:off x="6119446" y="14103401"/>
            <a:ext cx="83703" cy="6234"/>
          </a:xfrm>
          <a:prstGeom prst="line">
            <a:avLst/>
          </a:prstGeom>
          <a:noFill/>
          <a:ln w="21590">
            <a:solidFill>
              <a:srgbClr val="321B40"/>
            </a:solidFill>
            <a:prstDash val="solid"/>
          </a:ln>
        </p:spPr>
      </p:sp>
      <p:sp>
        <p:nvSpPr>
          <p:cNvPr id="214" name="Shape 211"/>
          <p:cNvSpPr/>
          <p:nvPr/>
        </p:nvSpPr>
        <p:spPr>
          <a:xfrm flipV="1">
            <a:off x="6203149" y="14096501"/>
            <a:ext cx="83703" cy="6900"/>
          </a:xfrm>
          <a:prstGeom prst="line">
            <a:avLst/>
          </a:prstGeom>
          <a:noFill/>
          <a:ln w="21590">
            <a:solidFill>
              <a:srgbClr val="321B40"/>
            </a:solidFill>
            <a:prstDash val="solid"/>
          </a:ln>
        </p:spPr>
      </p:sp>
      <p:sp>
        <p:nvSpPr>
          <p:cNvPr id="215" name="Shape 212"/>
          <p:cNvSpPr/>
          <p:nvPr/>
        </p:nvSpPr>
        <p:spPr>
          <a:xfrm flipV="1">
            <a:off x="6286852" y="14088817"/>
            <a:ext cx="83703" cy="7684"/>
          </a:xfrm>
          <a:prstGeom prst="line">
            <a:avLst/>
          </a:prstGeom>
          <a:noFill/>
          <a:ln w="21590">
            <a:solidFill>
              <a:srgbClr val="321B40"/>
            </a:solidFill>
            <a:prstDash val="solid"/>
          </a:ln>
        </p:spPr>
      </p:sp>
      <p:sp>
        <p:nvSpPr>
          <p:cNvPr id="216" name="Shape 213"/>
          <p:cNvSpPr/>
          <p:nvPr/>
        </p:nvSpPr>
        <p:spPr>
          <a:xfrm flipV="1">
            <a:off x="6370554" y="14080203"/>
            <a:ext cx="83703" cy="8614"/>
          </a:xfrm>
          <a:prstGeom prst="line">
            <a:avLst/>
          </a:prstGeom>
          <a:noFill/>
          <a:ln w="21590">
            <a:solidFill>
              <a:srgbClr val="321B40"/>
            </a:solidFill>
            <a:prstDash val="solid"/>
          </a:ln>
        </p:spPr>
      </p:sp>
      <p:sp>
        <p:nvSpPr>
          <p:cNvPr id="217" name="Shape 214"/>
          <p:cNvSpPr/>
          <p:nvPr/>
        </p:nvSpPr>
        <p:spPr>
          <a:xfrm flipV="1">
            <a:off x="6454257" y="14070472"/>
            <a:ext cx="83703" cy="9731"/>
          </a:xfrm>
          <a:prstGeom prst="line">
            <a:avLst/>
          </a:prstGeom>
          <a:noFill/>
          <a:ln w="21590">
            <a:solidFill>
              <a:srgbClr val="321B40"/>
            </a:solidFill>
            <a:prstDash val="solid"/>
          </a:ln>
        </p:spPr>
      </p:sp>
      <p:sp>
        <p:nvSpPr>
          <p:cNvPr id="218" name="Text 215"/>
          <p:cNvSpPr/>
          <p:nvPr/>
        </p:nvSpPr>
        <p:spPr>
          <a:xfrm>
            <a:off x="1115568" y="10991088"/>
            <a:ext cx="2560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00" dirty="0">
                <a:solidFill>
                  <a:srgbClr val="B84419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GPS: δL = 5 m (ipoteză)</a:t>
            </a:r>
            <a:endParaRPr lang="en-US" sz="1100" dirty="0"/>
          </a:p>
        </p:txBody>
      </p:sp>
      <p:sp>
        <p:nvSpPr>
          <p:cNvPr id="219" name="Text 216"/>
          <p:cNvSpPr/>
          <p:nvPr/>
        </p:nvSpPr>
        <p:spPr>
          <a:xfrm>
            <a:off x="3703320" y="10991088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00" dirty="0">
                <a:solidFill>
                  <a:srgbClr val="321B4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Telemetru: δL = 0,3 m (ipoteză)</a:t>
            </a:r>
            <a:endParaRPr lang="en-US" sz="1100" dirty="0"/>
          </a:p>
        </p:txBody>
      </p:sp>
      <p:sp>
        <p:nvSpPr>
          <p:cNvPr id="220" name="Text 217"/>
          <p:cNvSpPr/>
          <p:nvPr/>
        </p:nvSpPr>
        <p:spPr>
          <a:xfrm>
            <a:off x="1965960" y="14538960"/>
            <a:ext cx="4023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00" dirty="0">
                <a:solidFill>
                  <a:srgbClr val="321B4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Elevația Soarelui e (grade)</a:t>
            </a:r>
            <a:endParaRPr lang="en-US" sz="1100" dirty="0"/>
          </a:p>
        </p:txBody>
      </p:sp>
      <p:sp>
        <p:nvSpPr>
          <p:cNvPr id="221" name="Text 218"/>
          <p:cNvSpPr/>
          <p:nvPr/>
        </p:nvSpPr>
        <p:spPr>
          <a:xfrm>
            <a:off x="713232" y="14941296"/>
            <a:ext cx="4572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321B4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δh ≈ tan(e) · δL</a:t>
            </a:r>
            <a:endParaRPr lang="en-US" sz="2000" dirty="0"/>
          </a:p>
        </p:txBody>
      </p:sp>
      <p:sp>
        <p:nvSpPr>
          <p:cNvPr id="222" name="Text 219"/>
          <p:cNvSpPr/>
          <p:nvPr/>
        </p:nvSpPr>
        <p:spPr>
          <a:xfrm>
            <a:off x="713232" y="15380208"/>
            <a:ext cx="6035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00" dirty="0">
                <a:solidFill>
                  <a:srgbClr val="625A6A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Modelul izolează eroarea lungimii; curbele exprimă ipoteze, nu precizii măsurate.</a:t>
            </a:r>
            <a:endParaRPr lang="en-US" sz="1100" dirty="0"/>
          </a:p>
        </p:txBody>
      </p:sp>
      <p:sp>
        <p:nvSpPr>
          <p:cNvPr id="223" name="Text 220"/>
          <p:cNvSpPr/>
          <p:nvPr/>
        </p:nvSpPr>
        <p:spPr>
          <a:xfrm>
            <a:off x="7909560" y="11237976"/>
            <a:ext cx="56692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00" dirty="0">
                <a:solidFill>
                  <a:srgbClr val="625A6A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Clădiri eligibile în simulare (%)</a:t>
            </a:r>
            <a:endParaRPr lang="en-US" sz="1100" dirty="0"/>
          </a:p>
        </p:txBody>
      </p:sp>
      <p:sp>
        <p:nvSpPr>
          <p:cNvPr id="224" name="Shape 221"/>
          <p:cNvSpPr/>
          <p:nvPr/>
        </p:nvSpPr>
        <p:spPr>
          <a:xfrm>
            <a:off x="7909560" y="14200632"/>
            <a:ext cx="5669280" cy="914"/>
          </a:xfrm>
          <a:prstGeom prst="line">
            <a:avLst/>
          </a:prstGeom>
          <a:noFill/>
          <a:ln w="8890">
            <a:solidFill>
              <a:srgbClr val="DDD7E2"/>
            </a:solidFill>
            <a:prstDash val="solid"/>
          </a:ln>
        </p:spPr>
      </p:sp>
      <p:sp>
        <p:nvSpPr>
          <p:cNvPr id="225" name="Text 222"/>
          <p:cNvSpPr/>
          <p:nvPr/>
        </p:nvSpPr>
        <p:spPr>
          <a:xfrm>
            <a:off x="7498080" y="14109192"/>
            <a:ext cx="3474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100" dirty="0">
                <a:solidFill>
                  <a:srgbClr val="625A6A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0</a:t>
            </a:r>
            <a:endParaRPr lang="en-US" sz="1100" dirty="0"/>
          </a:p>
        </p:txBody>
      </p:sp>
      <p:sp>
        <p:nvSpPr>
          <p:cNvPr id="226" name="Shape 223"/>
          <p:cNvSpPr/>
          <p:nvPr/>
        </p:nvSpPr>
        <p:spPr>
          <a:xfrm>
            <a:off x="7909560" y="13673938"/>
            <a:ext cx="5669280" cy="914"/>
          </a:xfrm>
          <a:prstGeom prst="line">
            <a:avLst/>
          </a:prstGeom>
          <a:noFill/>
          <a:ln w="8890">
            <a:solidFill>
              <a:srgbClr val="DDD7E2"/>
            </a:solidFill>
            <a:prstDash val="solid"/>
          </a:ln>
        </p:spPr>
      </p:sp>
      <p:sp>
        <p:nvSpPr>
          <p:cNvPr id="227" name="Text 224"/>
          <p:cNvSpPr/>
          <p:nvPr/>
        </p:nvSpPr>
        <p:spPr>
          <a:xfrm>
            <a:off x="7498080" y="13582498"/>
            <a:ext cx="3474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100" dirty="0">
                <a:solidFill>
                  <a:srgbClr val="625A6A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20</a:t>
            </a:r>
            <a:endParaRPr lang="en-US" sz="1100" dirty="0"/>
          </a:p>
        </p:txBody>
      </p:sp>
      <p:sp>
        <p:nvSpPr>
          <p:cNvPr id="228" name="Shape 225"/>
          <p:cNvSpPr/>
          <p:nvPr/>
        </p:nvSpPr>
        <p:spPr>
          <a:xfrm>
            <a:off x="7909560" y="13147243"/>
            <a:ext cx="5669280" cy="914"/>
          </a:xfrm>
          <a:prstGeom prst="line">
            <a:avLst/>
          </a:prstGeom>
          <a:noFill/>
          <a:ln w="8890">
            <a:solidFill>
              <a:srgbClr val="DDD7E2"/>
            </a:solidFill>
            <a:prstDash val="solid"/>
          </a:ln>
        </p:spPr>
      </p:sp>
      <p:sp>
        <p:nvSpPr>
          <p:cNvPr id="229" name="Text 226"/>
          <p:cNvSpPr/>
          <p:nvPr/>
        </p:nvSpPr>
        <p:spPr>
          <a:xfrm>
            <a:off x="7498080" y="13055803"/>
            <a:ext cx="3474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100" dirty="0">
                <a:solidFill>
                  <a:srgbClr val="625A6A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40</a:t>
            </a:r>
            <a:endParaRPr lang="en-US" sz="1100" dirty="0"/>
          </a:p>
        </p:txBody>
      </p:sp>
      <p:sp>
        <p:nvSpPr>
          <p:cNvPr id="230" name="Shape 227"/>
          <p:cNvSpPr/>
          <p:nvPr/>
        </p:nvSpPr>
        <p:spPr>
          <a:xfrm>
            <a:off x="7909560" y="12620549"/>
            <a:ext cx="5669280" cy="914"/>
          </a:xfrm>
          <a:prstGeom prst="line">
            <a:avLst/>
          </a:prstGeom>
          <a:noFill/>
          <a:ln w="8890">
            <a:solidFill>
              <a:srgbClr val="DDD7E2"/>
            </a:solidFill>
            <a:prstDash val="solid"/>
          </a:ln>
        </p:spPr>
      </p:sp>
      <p:sp>
        <p:nvSpPr>
          <p:cNvPr id="231" name="Text 228"/>
          <p:cNvSpPr/>
          <p:nvPr/>
        </p:nvSpPr>
        <p:spPr>
          <a:xfrm>
            <a:off x="7498080" y="12529109"/>
            <a:ext cx="3474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100" dirty="0">
                <a:solidFill>
                  <a:srgbClr val="625A6A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60</a:t>
            </a:r>
            <a:endParaRPr lang="en-US" sz="1100" dirty="0"/>
          </a:p>
        </p:txBody>
      </p:sp>
      <p:sp>
        <p:nvSpPr>
          <p:cNvPr id="232" name="Shape 229"/>
          <p:cNvSpPr/>
          <p:nvPr/>
        </p:nvSpPr>
        <p:spPr>
          <a:xfrm>
            <a:off x="7909560" y="12093854"/>
            <a:ext cx="5669280" cy="914"/>
          </a:xfrm>
          <a:prstGeom prst="line">
            <a:avLst/>
          </a:prstGeom>
          <a:noFill/>
          <a:ln w="8890">
            <a:solidFill>
              <a:srgbClr val="DDD7E2"/>
            </a:solidFill>
            <a:prstDash val="solid"/>
          </a:ln>
        </p:spPr>
      </p:sp>
      <p:sp>
        <p:nvSpPr>
          <p:cNvPr id="233" name="Text 230"/>
          <p:cNvSpPr/>
          <p:nvPr/>
        </p:nvSpPr>
        <p:spPr>
          <a:xfrm>
            <a:off x="7498080" y="12002414"/>
            <a:ext cx="3474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100" dirty="0">
                <a:solidFill>
                  <a:srgbClr val="625A6A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80</a:t>
            </a:r>
            <a:endParaRPr lang="en-US" sz="1100" dirty="0"/>
          </a:p>
        </p:txBody>
      </p:sp>
      <p:sp>
        <p:nvSpPr>
          <p:cNvPr id="234" name="Shape 231"/>
          <p:cNvSpPr/>
          <p:nvPr/>
        </p:nvSpPr>
        <p:spPr>
          <a:xfrm>
            <a:off x="7909560" y="11567160"/>
            <a:ext cx="5669280" cy="914"/>
          </a:xfrm>
          <a:prstGeom prst="line">
            <a:avLst/>
          </a:prstGeom>
          <a:noFill/>
          <a:ln w="8890">
            <a:solidFill>
              <a:srgbClr val="DDD7E2"/>
            </a:solidFill>
            <a:prstDash val="solid"/>
          </a:ln>
        </p:spPr>
      </p:sp>
      <p:sp>
        <p:nvSpPr>
          <p:cNvPr id="235" name="Text 232"/>
          <p:cNvSpPr/>
          <p:nvPr/>
        </p:nvSpPr>
        <p:spPr>
          <a:xfrm>
            <a:off x="7498080" y="11475720"/>
            <a:ext cx="3474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100" dirty="0">
                <a:solidFill>
                  <a:srgbClr val="625A6A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100</a:t>
            </a:r>
            <a:endParaRPr lang="en-US" sz="1100" dirty="0"/>
          </a:p>
        </p:txBody>
      </p:sp>
      <p:sp>
        <p:nvSpPr>
          <p:cNvPr id="236" name="Shape 233"/>
          <p:cNvSpPr/>
          <p:nvPr/>
        </p:nvSpPr>
        <p:spPr>
          <a:xfrm>
            <a:off x="8037576" y="11885810"/>
            <a:ext cx="274320" cy="2314822"/>
          </a:xfrm>
          <a:prstGeom prst="rect">
            <a:avLst/>
          </a:prstGeom>
          <a:solidFill>
            <a:srgbClr val="AF9ABF"/>
          </a:solidFill>
          <a:ln w="12700">
            <a:solidFill>
              <a:srgbClr val="AF9ABF">
                <a:alpha val="0"/>
              </a:srgbClr>
            </a:solidFill>
            <a:prstDash val="solid"/>
          </a:ln>
        </p:spPr>
      </p:sp>
      <p:sp>
        <p:nvSpPr>
          <p:cNvPr id="237" name="Shape 234"/>
          <p:cNvSpPr/>
          <p:nvPr/>
        </p:nvSpPr>
        <p:spPr>
          <a:xfrm>
            <a:off x="8330184" y="12538911"/>
            <a:ext cx="274320" cy="1661721"/>
          </a:xfrm>
          <a:prstGeom prst="rect">
            <a:avLst/>
          </a:prstGeom>
          <a:solidFill>
            <a:srgbClr val="321B40"/>
          </a:solidFill>
          <a:ln w="12700">
            <a:solidFill>
              <a:srgbClr val="321B40">
                <a:alpha val="0"/>
              </a:srgbClr>
            </a:solidFill>
            <a:prstDash val="solid"/>
          </a:ln>
        </p:spPr>
      </p:sp>
      <p:sp>
        <p:nvSpPr>
          <p:cNvPr id="238" name="Text 235"/>
          <p:cNvSpPr/>
          <p:nvPr/>
        </p:nvSpPr>
        <p:spPr>
          <a:xfrm>
            <a:off x="8001000" y="11675498"/>
            <a:ext cx="365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00" dirty="0">
                <a:solidFill>
                  <a:srgbClr val="321B4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87,9</a:t>
            </a:r>
            <a:endParaRPr lang="en-US" sz="1100" dirty="0"/>
          </a:p>
        </p:txBody>
      </p:sp>
      <p:sp>
        <p:nvSpPr>
          <p:cNvPr id="239" name="Text 236"/>
          <p:cNvSpPr/>
          <p:nvPr/>
        </p:nvSpPr>
        <p:spPr>
          <a:xfrm>
            <a:off x="7927848" y="14282928"/>
            <a:ext cx="822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00" dirty="0">
                <a:solidFill>
                  <a:srgbClr val="321B4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27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321B4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oct 10:00</a:t>
            </a:r>
            <a:endParaRPr lang="en-US" sz="1100" dirty="0"/>
          </a:p>
        </p:txBody>
      </p:sp>
      <p:sp>
        <p:nvSpPr>
          <p:cNvPr id="240" name="Shape 237"/>
          <p:cNvSpPr/>
          <p:nvPr/>
        </p:nvSpPr>
        <p:spPr>
          <a:xfrm>
            <a:off x="8951976" y="11827874"/>
            <a:ext cx="274320" cy="2372758"/>
          </a:xfrm>
          <a:prstGeom prst="rect">
            <a:avLst/>
          </a:prstGeom>
          <a:solidFill>
            <a:srgbClr val="AF9ABF"/>
          </a:solidFill>
          <a:ln w="12700">
            <a:solidFill>
              <a:srgbClr val="AF9ABF">
                <a:alpha val="0"/>
              </a:srgbClr>
            </a:solidFill>
            <a:prstDash val="solid"/>
          </a:ln>
        </p:spPr>
      </p:sp>
      <p:sp>
        <p:nvSpPr>
          <p:cNvPr id="241" name="Shape 238"/>
          <p:cNvSpPr/>
          <p:nvPr/>
        </p:nvSpPr>
        <p:spPr>
          <a:xfrm>
            <a:off x="9244584" y="12333500"/>
            <a:ext cx="274320" cy="1867132"/>
          </a:xfrm>
          <a:prstGeom prst="rect">
            <a:avLst/>
          </a:prstGeom>
          <a:solidFill>
            <a:srgbClr val="321B40"/>
          </a:solidFill>
          <a:ln w="12700">
            <a:solidFill>
              <a:srgbClr val="321B40">
                <a:alpha val="0"/>
              </a:srgbClr>
            </a:solidFill>
            <a:prstDash val="solid"/>
          </a:ln>
        </p:spPr>
      </p:sp>
      <p:sp>
        <p:nvSpPr>
          <p:cNvPr id="242" name="Text 239"/>
          <p:cNvSpPr/>
          <p:nvPr/>
        </p:nvSpPr>
        <p:spPr>
          <a:xfrm>
            <a:off x="8915400" y="11617562"/>
            <a:ext cx="365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00" dirty="0">
                <a:solidFill>
                  <a:srgbClr val="321B4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90,1</a:t>
            </a:r>
            <a:endParaRPr lang="en-US" sz="1100" dirty="0"/>
          </a:p>
        </p:txBody>
      </p:sp>
      <p:sp>
        <p:nvSpPr>
          <p:cNvPr id="243" name="Text 240"/>
          <p:cNvSpPr/>
          <p:nvPr/>
        </p:nvSpPr>
        <p:spPr>
          <a:xfrm>
            <a:off x="8842248" y="14282928"/>
            <a:ext cx="822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00" dirty="0">
                <a:solidFill>
                  <a:srgbClr val="321B4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27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321B4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oct 12:00</a:t>
            </a:r>
            <a:endParaRPr lang="en-US" sz="1100" dirty="0"/>
          </a:p>
        </p:txBody>
      </p:sp>
      <p:sp>
        <p:nvSpPr>
          <p:cNvPr id="244" name="Shape 241"/>
          <p:cNvSpPr/>
          <p:nvPr/>
        </p:nvSpPr>
        <p:spPr>
          <a:xfrm>
            <a:off x="9866376" y="11956914"/>
            <a:ext cx="274320" cy="2243718"/>
          </a:xfrm>
          <a:prstGeom prst="rect">
            <a:avLst/>
          </a:prstGeom>
          <a:solidFill>
            <a:srgbClr val="AF9ABF"/>
          </a:solidFill>
          <a:ln w="12700">
            <a:solidFill>
              <a:srgbClr val="AF9ABF">
                <a:alpha val="0"/>
              </a:srgbClr>
            </a:solidFill>
            <a:prstDash val="solid"/>
          </a:ln>
        </p:spPr>
      </p:sp>
      <p:sp>
        <p:nvSpPr>
          <p:cNvPr id="245" name="Shape 242"/>
          <p:cNvSpPr/>
          <p:nvPr/>
        </p:nvSpPr>
        <p:spPr>
          <a:xfrm>
            <a:off x="10158984" y="12631083"/>
            <a:ext cx="274320" cy="1569549"/>
          </a:xfrm>
          <a:prstGeom prst="rect">
            <a:avLst/>
          </a:prstGeom>
          <a:solidFill>
            <a:srgbClr val="321B40"/>
          </a:solidFill>
          <a:ln w="12700">
            <a:solidFill>
              <a:srgbClr val="321B40">
                <a:alpha val="0"/>
              </a:srgbClr>
            </a:solidFill>
            <a:prstDash val="solid"/>
          </a:ln>
        </p:spPr>
      </p:sp>
      <p:sp>
        <p:nvSpPr>
          <p:cNvPr id="246" name="Text 243"/>
          <p:cNvSpPr/>
          <p:nvPr/>
        </p:nvSpPr>
        <p:spPr>
          <a:xfrm>
            <a:off x="9829800" y="11746602"/>
            <a:ext cx="365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00" dirty="0">
                <a:solidFill>
                  <a:srgbClr val="321B4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85,2</a:t>
            </a:r>
            <a:endParaRPr lang="en-US" sz="1100" dirty="0"/>
          </a:p>
        </p:txBody>
      </p:sp>
      <p:sp>
        <p:nvSpPr>
          <p:cNvPr id="247" name="Text 244"/>
          <p:cNvSpPr/>
          <p:nvPr/>
        </p:nvSpPr>
        <p:spPr>
          <a:xfrm>
            <a:off x="9756648" y="14282928"/>
            <a:ext cx="822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00" dirty="0">
                <a:solidFill>
                  <a:srgbClr val="321B4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27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321B4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oct 14:00</a:t>
            </a:r>
            <a:endParaRPr lang="en-US" sz="1100" dirty="0"/>
          </a:p>
        </p:txBody>
      </p:sp>
      <p:sp>
        <p:nvSpPr>
          <p:cNvPr id="248" name="Shape 245"/>
          <p:cNvSpPr/>
          <p:nvPr/>
        </p:nvSpPr>
        <p:spPr>
          <a:xfrm>
            <a:off x="10780776" y="11796272"/>
            <a:ext cx="274320" cy="2404360"/>
          </a:xfrm>
          <a:prstGeom prst="rect">
            <a:avLst/>
          </a:prstGeom>
          <a:solidFill>
            <a:srgbClr val="AF9ABF"/>
          </a:solidFill>
          <a:ln w="12700">
            <a:solidFill>
              <a:srgbClr val="AF9ABF">
                <a:alpha val="0"/>
              </a:srgbClr>
            </a:solidFill>
            <a:prstDash val="solid"/>
          </a:ln>
        </p:spPr>
      </p:sp>
      <p:sp>
        <p:nvSpPr>
          <p:cNvPr id="249" name="Shape 246"/>
          <p:cNvSpPr/>
          <p:nvPr/>
        </p:nvSpPr>
        <p:spPr>
          <a:xfrm>
            <a:off x="11073384" y="12367735"/>
            <a:ext cx="274320" cy="1832897"/>
          </a:xfrm>
          <a:prstGeom prst="rect">
            <a:avLst/>
          </a:prstGeom>
          <a:solidFill>
            <a:srgbClr val="321B40"/>
          </a:solidFill>
          <a:ln w="12700">
            <a:solidFill>
              <a:srgbClr val="321B40">
                <a:alpha val="0"/>
              </a:srgbClr>
            </a:solidFill>
            <a:prstDash val="solid"/>
          </a:ln>
        </p:spPr>
      </p:sp>
      <p:sp>
        <p:nvSpPr>
          <p:cNvPr id="250" name="Text 247"/>
          <p:cNvSpPr/>
          <p:nvPr/>
        </p:nvSpPr>
        <p:spPr>
          <a:xfrm>
            <a:off x="10744200" y="11585960"/>
            <a:ext cx="365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00" dirty="0">
                <a:solidFill>
                  <a:srgbClr val="321B4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91,3</a:t>
            </a:r>
            <a:endParaRPr lang="en-US" sz="1100" dirty="0"/>
          </a:p>
        </p:txBody>
      </p:sp>
      <p:sp>
        <p:nvSpPr>
          <p:cNvPr id="251" name="Text 248"/>
          <p:cNvSpPr/>
          <p:nvPr/>
        </p:nvSpPr>
        <p:spPr>
          <a:xfrm>
            <a:off x="10671048" y="14282928"/>
            <a:ext cx="822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00" dirty="0">
                <a:solidFill>
                  <a:srgbClr val="321B4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21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321B4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iun 09:00</a:t>
            </a:r>
            <a:endParaRPr lang="en-US" sz="1100" dirty="0"/>
          </a:p>
        </p:txBody>
      </p:sp>
      <p:sp>
        <p:nvSpPr>
          <p:cNvPr id="252" name="Shape 249"/>
          <p:cNvSpPr/>
          <p:nvPr/>
        </p:nvSpPr>
        <p:spPr>
          <a:xfrm>
            <a:off x="11695176" y="11672499"/>
            <a:ext cx="274320" cy="2528133"/>
          </a:xfrm>
          <a:prstGeom prst="rect">
            <a:avLst/>
          </a:prstGeom>
          <a:solidFill>
            <a:srgbClr val="AF9ABF"/>
          </a:solidFill>
          <a:ln w="12700">
            <a:solidFill>
              <a:srgbClr val="AF9ABF">
                <a:alpha val="0"/>
              </a:srgbClr>
            </a:solidFill>
            <a:prstDash val="solid"/>
          </a:ln>
        </p:spPr>
      </p:sp>
      <p:sp>
        <p:nvSpPr>
          <p:cNvPr id="253" name="Shape 250"/>
          <p:cNvSpPr/>
          <p:nvPr/>
        </p:nvSpPr>
        <p:spPr>
          <a:xfrm>
            <a:off x="11987784" y="12125456"/>
            <a:ext cx="274320" cy="2075176"/>
          </a:xfrm>
          <a:prstGeom prst="rect">
            <a:avLst/>
          </a:prstGeom>
          <a:solidFill>
            <a:srgbClr val="321B40"/>
          </a:solidFill>
          <a:ln w="12700">
            <a:solidFill>
              <a:srgbClr val="321B40">
                <a:alpha val="0"/>
              </a:srgbClr>
            </a:solidFill>
            <a:prstDash val="solid"/>
          </a:ln>
        </p:spPr>
      </p:sp>
      <p:sp>
        <p:nvSpPr>
          <p:cNvPr id="254" name="Text 251"/>
          <p:cNvSpPr/>
          <p:nvPr/>
        </p:nvSpPr>
        <p:spPr>
          <a:xfrm>
            <a:off x="11658600" y="11462187"/>
            <a:ext cx="365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00" dirty="0">
                <a:solidFill>
                  <a:srgbClr val="321B4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96,0</a:t>
            </a:r>
            <a:endParaRPr lang="en-US" sz="1100" dirty="0"/>
          </a:p>
        </p:txBody>
      </p:sp>
      <p:sp>
        <p:nvSpPr>
          <p:cNvPr id="255" name="Text 252"/>
          <p:cNvSpPr/>
          <p:nvPr/>
        </p:nvSpPr>
        <p:spPr>
          <a:xfrm>
            <a:off x="11585448" y="14282928"/>
            <a:ext cx="822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00" dirty="0">
                <a:solidFill>
                  <a:srgbClr val="321B4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21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321B4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iun 13:00</a:t>
            </a:r>
            <a:endParaRPr lang="en-US" sz="1100" dirty="0"/>
          </a:p>
        </p:txBody>
      </p:sp>
      <p:sp>
        <p:nvSpPr>
          <p:cNvPr id="256" name="Shape 253"/>
          <p:cNvSpPr/>
          <p:nvPr/>
        </p:nvSpPr>
        <p:spPr>
          <a:xfrm>
            <a:off x="12609576" y="11785738"/>
            <a:ext cx="274320" cy="2414894"/>
          </a:xfrm>
          <a:prstGeom prst="rect">
            <a:avLst/>
          </a:prstGeom>
          <a:solidFill>
            <a:srgbClr val="AF9ABF"/>
          </a:solidFill>
          <a:ln w="12700">
            <a:solidFill>
              <a:srgbClr val="AF9ABF">
                <a:alpha val="0"/>
              </a:srgbClr>
            </a:solidFill>
            <a:prstDash val="solid"/>
          </a:ln>
        </p:spPr>
      </p:sp>
      <p:sp>
        <p:nvSpPr>
          <p:cNvPr id="257" name="Shape 254"/>
          <p:cNvSpPr/>
          <p:nvPr/>
        </p:nvSpPr>
        <p:spPr>
          <a:xfrm>
            <a:off x="12902184" y="12309799"/>
            <a:ext cx="274320" cy="1890833"/>
          </a:xfrm>
          <a:prstGeom prst="rect">
            <a:avLst/>
          </a:prstGeom>
          <a:solidFill>
            <a:srgbClr val="321B40"/>
          </a:solidFill>
          <a:ln w="12700">
            <a:solidFill>
              <a:srgbClr val="321B40">
                <a:alpha val="0"/>
              </a:srgbClr>
            </a:solidFill>
            <a:prstDash val="solid"/>
          </a:ln>
        </p:spPr>
      </p:sp>
      <p:sp>
        <p:nvSpPr>
          <p:cNvPr id="258" name="Text 255"/>
          <p:cNvSpPr/>
          <p:nvPr/>
        </p:nvSpPr>
        <p:spPr>
          <a:xfrm>
            <a:off x="12573000" y="11575426"/>
            <a:ext cx="365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00" dirty="0">
                <a:solidFill>
                  <a:srgbClr val="321B4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91,7</a:t>
            </a:r>
            <a:endParaRPr lang="en-US" sz="1100" dirty="0"/>
          </a:p>
        </p:txBody>
      </p:sp>
      <p:sp>
        <p:nvSpPr>
          <p:cNvPr id="259" name="Text 256"/>
          <p:cNvSpPr/>
          <p:nvPr/>
        </p:nvSpPr>
        <p:spPr>
          <a:xfrm>
            <a:off x="12499848" y="14282928"/>
            <a:ext cx="822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00" dirty="0">
                <a:solidFill>
                  <a:srgbClr val="321B4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21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321B4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iun 17:00</a:t>
            </a:r>
            <a:endParaRPr lang="en-US" sz="1100" dirty="0"/>
          </a:p>
        </p:txBody>
      </p:sp>
      <p:sp>
        <p:nvSpPr>
          <p:cNvPr id="260" name="Shape 257"/>
          <p:cNvSpPr/>
          <p:nvPr/>
        </p:nvSpPr>
        <p:spPr>
          <a:xfrm>
            <a:off x="7909560" y="11045952"/>
            <a:ext cx="137160" cy="82296"/>
          </a:xfrm>
          <a:prstGeom prst="rect">
            <a:avLst/>
          </a:prstGeom>
          <a:solidFill>
            <a:srgbClr val="AF9ABF"/>
          </a:solidFill>
          <a:ln w="12700">
            <a:solidFill>
              <a:srgbClr val="AF9ABF">
                <a:alpha val="0"/>
              </a:srgbClr>
            </a:solidFill>
            <a:prstDash val="solid"/>
          </a:ln>
        </p:spPr>
      </p:sp>
      <p:sp>
        <p:nvSpPr>
          <p:cNvPr id="261" name="Text 258"/>
          <p:cNvSpPr/>
          <p:nvPr/>
        </p:nvSpPr>
        <p:spPr>
          <a:xfrm>
            <a:off x="8138160" y="11009376"/>
            <a:ext cx="2651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00" dirty="0">
                <a:solidFill>
                  <a:srgbClr val="625A6A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Toate clădirile (n = 38.913)</a:t>
            </a:r>
            <a:endParaRPr lang="en-US" sz="1100" dirty="0"/>
          </a:p>
        </p:txBody>
      </p:sp>
      <p:sp>
        <p:nvSpPr>
          <p:cNvPr id="262" name="Shape 259"/>
          <p:cNvSpPr/>
          <p:nvPr/>
        </p:nvSpPr>
        <p:spPr>
          <a:xfrm>
            <a:off x="10789920" y="11045952"/>
            <a:ext cx="137160" cy="82296"/>
          </a:xfrm>
          <a:prstGeom prst="rect">
            <a:avLst/>
          </a:prstGeom>
          <a:solidFill>
            <a:srgbClr val="321B40"/>
          </a:solidFill>
          <a:ln w="12700">
            <a:solidFill>
              <a:srgbClr val="321B40">
                <a:alpha val="0"/>
              </a:srgbClr>
            </a:solidFill>
            <a:prstDash val="solid"/>
          </a:ln>
        </p:spPr>
      </p:sp>
      <p:sp>
        <p:nvSpPr>
          <p:cNvPr id="263" name="Text 260"/>
          <p:cNvSpPr/>
          <p:nvPr/>
        </p:nvSpPr>
        <p:spPr>
          <a:xfrm>
            <a:off x="11018520" y="11009376"/>
            <a:ext cx="2560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00" dirty="0">
                <a:solidFill>
                  <a:srgbClr val="321B4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Înălțime ≥ 20 m (n = 805)</a:t>
            </a:r>
            <a:endParaRPr lang="en-US" sz="1100" dirty="0"/>
          </a:p>
        </p:txBody>
      </p:sp>
      <p:sp>
        <p:nvSpPr>
          <p:cNvPr id="264" name="Text 261"/>
          <p:cNvSpPr/>
          <p:nvPr/>
        </p:nvSpPr>
        <p:spPr>
          <a:xfrm>
            <a:off x="7635240" y="14941296"/>
            <a:ext cx="6126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321B4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Toamna: 85–90% total; 60–71% la ≥ 20 m.</a:t>
            </a:r>
            <a:endParaRPr lang="en-US" sz="1500" dirty="0"/>
          </a:p>
        </p:txBody>
      </p:sp>
      <p:sp>
        <p:nvSpPr>
          <p:cNvPr id="265" name="Text 262"/>
          <p:cNvSpPr/>
          <p:nvPr/>
        </p:nvSpPr>
        <p:spPr>
          <a:xfrm>
            <a:off x="7635240" y="15380208"/>
            <a:ext cx="6126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00" dirty="0">
                <a:solidFill>
                  <a:srgbClr val="625A6A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Simulare: obstacolele sunt celelalte clădiri. Arborii, mașinile și accesul fizic nu sunt incluse.</a:t>
            </a:r>
            <a:endParaRPr lang="en-US" sz="1100" dirty="0"/>
          </a:p>
        </p:txBody>
      </p:sp>
      <p:sp>
        <p:nvSpPr>
          <p:cNvPr id="266" name="Shape 263"/>
          <p:cNvSpPr/>
          <p:nvPr/>
        </p:nvSpPr>
        <p:spPr>
          <a:xfrm>
            <a:off x="548640" y="16230600"/>
            <a:ext cx="6492240" cy="310896"/>
          </a:xfrm>
          <a:prstGeom prst="rect">
            <a:avLst/>
          </a:prstGeom>
          <a:solidFill>
            <a:srgbClr val="321B40"/>
          </a:solidFill>
          <a:ln w="12700">
            <a:solidFill>
              <a:srgbClr val="321B40">
                <a:alpha val="0"/>
              </a:srgbClr>
            </a:solidFill>
            <a:prstDash val="solid"/>
          </a:ln>
        </p:spPr>
      </p:sp>
      <p:sp>
        <p:nvSpPr>
          <p:cNvPr id="267" name="Text 264"/>
          <p:cNvSpPr/>
          <p:nvPr/>
        </p:nvSpPr>
        <p:spPr>
          <a:xfrm>
            <a:off x="658368" y="16262604"/>
            <a:ext cx="63093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06  COMPARAȚIA GBA CU OSM</a:t>
            </a:r>
            <a:endParaRPr lang="en-US" sz="1300" dirty="0"/>
          </a:p>
        </p:txBody>
      </p:sp>
      <p:sp>
        <p:nvSpPr>
          <p:cNvPr id="268" name="Shape 265"/>
          <p:cNvSpPr/>
          <p:nvPr/>
        </p:nvSpPr>
        <p:spPr>
          <a:xfrm>
            <a:off x="7498080" y="16230600"/>
            <a:ext cx="6583680" cy="310896"/>
          </a:xfrm>
          <a:prstGeom prst="rect">
            <a:avLst/>
          </a:prstGeom>
          <a:solidFill>
            <a:srgbClr val="321B40"/>
          </a:solidFill>
          <a:ln w="12700">
            <a:solidFill>
              <a:srgbClr val="321B40">
                <a:alpha val="0"/>
              </a:srgbClr>
            </a:solidFill>
            <a:prstDash val="solid"/>
          </a:ln>
        </p:spPr>
      </p:sp>
      <p:sp>
        <p:nvSpPr>
          <p:cNvPr id="269" name="Text 266"/>
          <p:cNvSpPr/>
          <p:nvPr/>
        </p:nvSpPr>
        <p:spPr>
          <a:xfrm>
            <a:off x="7607808" y="1626260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07  DE LA DATE LA TRASEU</a:t>
            </a:r>
            <a:endParaRPr lang="en-US" sz="1300" dirty="0"/>
          </a:p>
        </p:txBody>
      </p:sp>
      <p:sp>
        <p:nvSpPr>
          <p:cNvPr id="270" name="Text 267"/>
          <p:cNvSpPr/>
          <p:nvPr/>
        </p:nvSpPr>
        <p:spPr>
          <a:xfrm>
            <a:off x="594360" y="16660368"/>
            <a:ext cx="6400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21B4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Tabelul 1  Diferențe GBA − înălțime etichetată OSM</a:t>
            </a:r>
            <a:endParaRPr lang="en-US" sz="1300" dirty="0"/>
          </a:p>
        </p:txBody>
      </p:sp>
      <p:sp>
        <p:nvSpPr>
          <p:cNvPr id="271" name="Shape 268"/>
          <p:cNvSpPr/>
          <p:nvPr/>
        </p:nvSpPr>
        <p:spPr>
          <a:xfrm>
            <a:off x="685800" y="17135856"/>
            <a:ext cx="1508760" cy="347472"/>
          </a:xfrm>
          <a:prstGeom prst="rect">
            <a:avLst/>
          </a:prstGeom>
          <a:solidFill>
            <a:srgbClr val="321B40"/>
          </a:solidFill>
          <a:ln w="12700">
            <a:solidFill>
              <a:srgbClr val="321B40">
                <a:alpha val="0"/>
              </a:srgbClr>
            </a:solidFill>
            <a:prstDash val="solid"/>
          </a:ln>
        </p:spPr>
      </p:sp>
      <p:sp>
        <p:nvSpPr>
          <p:cNvPr id="272" name="Text 269"/>
          <p:cNvSpPr/>
          <p:nvPr/>
        </p:nvSpPr>
        <p:spPr>
          <a:xfrm>
            <a:off x="713232" y="17190720"/>
            <a:ext cx="145389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OSM</a:t>
            </a:r>
            <a:endParaRPr lang="en-US" sz="1100" dirty="0"/>
          </a:p>
        </p:txBody>
      </p:sp>
      <p:sp>
        <p:nvSpPr>
          <p:cNvPr id="273" name="Shape 270"/>
          <p:cNvSpPr/>
          <p:nvPr/>
        </p:nvSpPr>
        <p:spPr>
          <a:xfrm>
            <a:off x="2240280" y="17135856"/>
            <a:ext cx="640080" cy="347472"/>
          </a:xfrm>
          <a:prstGeom prst="rect">
            <a:avLst/>
          </a:prstGeom>
          <a:solidFill>
            <a:srgbClr val="321B40"/>
          </a:solidFill>
          <a:ln w="12700">
            <a:solidFill>
              <a:srgbClr val="321B40">
                <a:alpha val="0"/>
              </a:srgbClr>
            </a:solidFill>
            <a:prstDash val="solid"/>
          </a:ln>
        </p:spPr>
      </p:sp>
      <p:sp>
        <p:nvSpPr>
          <p:cNvPr id="274" name="Text 271"/>
          <p:cNvSpPr/>
          <p:nvPr/>
        </p:nvSpPr>
        <p:spPr>
          <a:xfrm>
            <a:off x="2267712" y="17190720"/>
            <a:ext cx="58521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n</a:t>
            </a:r>
            <a:endParaRPr lang="en-US" sz="1100" dirty="0"/>
          </a:p>
        </p:txBody>
      </p:sp>
      <p:sp>
        <p:nvSpPr>
          <p:cNvPr id="275" name="Shape 272"/>
          <p:cNvSpPr/>
          <p:nvPr/>
        </p:nvSpPr>
        <p:spPr>
          <a:xfrm>
            <a:off x="2880360" y="17135856"/>
            <a:ext cx="1234440" cy="347472"/>
          </a:xfrm>
          <a:prstGeom prst="rect">
            <a:avLst/>
          </a:prstGeom>
          <a:solidFill>
            <a:srgbClr val="321B40"/>
          </a:solidFill>
          <a:ln w="12700">
            <a:solidFill>
              <a:srgbClr val="321B40">
                <a:alpha val="0"/>
              </a:srgbClr>
            </a:solidFill>
            <a:prstDash val="solid"/>
          </a:ln>
        </p:spPr>
      </p:sp>
      <p:sp>
        <p:nvSpPr>
          <p:cNvPr id="276" name="Text 273"/>
          <p:cNvSpPr/>
          <p:nvPr/>
        </p:nvSpPr>
        <p:spPr>
          <a:xfrm>
            <a:off x="2907792" y="17190720"/>
            <a:ext cx="117957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Bias (m)</a:t>
            </a:r>
            <a:endParaRPr lang="en-US" sz="1100" dirty="0"/>
          </a:p>
        </p:txBody>
      </p:sp>
      <p:sp>
        <p:nvSpPr>
          <p:cNvPr id="277" name="Shape 274"/>
          <p:cNvSpPr/>
          <p:nvPr/>
        </p:nvSpPr>
        <p:spPr>
          <a:xfrm>
            <a:off x="4160520" y="17135856"/>
            <a:ext cx="1097280" cy="347472"/>
          </a:xfrm>
          <a:prstGeom prst="rect">
            <a:avLst/>
          </a:prstGeom>
          <a:solidFill>
            <a:srgbClr val="321B40"/>
          </a:solidFill>
          <a:ln w="12700">
            <a:solidFill>
              <a:srgbClr val="321B40">
                <a:alpha val="0"/>
              </a:srgbClr>
            </a:solidFill>
            <a:prstDash val="solid"/>
          </a:ln>
        </p:spPr>
      </p:sp>
      <p:sp>
        <p:nvSpPr>
          <p:cNvPr id="278" name="Text 275"/>
          <p:cNvSpPr/>
          <p:nvPr/>
        </p:nvSpPr>
        <p:spPr>
          <a:xfrm>
            <a:off x="4187952" y="17190720"/>
            <a:ext cx="104241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MAE (m)</a:t>
            </a:r>
            <a:endParaRPr lang="en-US" sz="1100" dirty="0"/>
          </a:p>
        </p:txBody>
      </p:sp>
      <p:sp>
        <p:nvSpPr>
          <p:cNvPr id="279" name="Shape 276"/>
          <p:cNvSpPr/>
          <p:nvPr/>
        </p:nvSpPr>
        <p:spPr>
          <a:xfrm>
            <a:off x="5303520" y="17135856"/>
            <a:ext cx="960120" cy="347472"/>
          </a:xfrm>
          <a:prstGeom prst="rect">
            <a:avLst/>
          </a:prstGeom>
          <a:solidFill>
            <a:srgbClr val="321B40"/>
          </a:solidFill>
          <a:ln w="12700">
            <a:solidFill>
              <a:srgbClr val="321B40">
                <a:alpha val="0"/>
              </a:srgbClr>
            </a:solidFill>
            <a:prstDash val="solid"/>
          </a:ln>
        </p:spPr>
      </p:sp>
      <p:sp>
        <p:nvSpPr>
          <p:cNvPr id="280" name="Text 277"/>
          <p:cNvSpPr/>
          <p:nvPr/>
        </p:nvSpPr>
        <p:spPr>
          <a:xfrm>
            <a:off x="5330952" y="17190720"/>
            <a:ext cx="90525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În ±3 m</a:t>
            </a:r>
            <a:endParaRPr lang="en-US" sz="1100" dirty="0"/>
          </a:p>
        </p:txBody>
      </p:sp>
      <p:sp>
        <p:nvSpPr>
          <p:cNvPr id="281" name="Shape 278"/>
          <p:cNvSpPr/>
          <p:nvPr/>
        </p:nvSpPr>
        <p:spPr>
          <a:xfrm>
            <a:off x="685800" y="17501616"/>
            <a:ext cx="1508760" cy="347472"/>
          </a:xfrm>
          <a:prstGeom prst="rect">
            <a:avLst/>
          </a:prstGeom>
          <a:solidFill>
            <a:srgbClr val="F1EDF5"/>
          </a:solidFill>
          <a:ln w="12700">
            <a:solidFill>
              <a:srgbClr val="F1EDF5">
                <a:alpha val="0"/>
              </a:srgbClr>
            </a:solidFill>
            <a:prstDash val="solid"/>
          </a:ln>
        </p:spPr>
      </p:sp>
      <p:sp>
        <p:nvSpPr>
          <p:cNvPr id="282" name="Text 279"/>
          <p:cNvSpPr/>
          <p:nvPr/>
        </p:nvSpPr>
        <p:spPr>
          <a:xfrm>
            <a:off x="713232" y="17556480"/>
            <a:ext cx="145389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00" dirty="0">
                <a:solidFill>
                  <a:srgbClr val="321B4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0–10 m</a:t>
            </a:r>
            <a:endParaRPr lang="en-US" sz="1100" dirty="0"/>
          </a:p>
        </p:txBody>
      </p:sp>
      <p:sp>
        <p:nvSpPr>
          <p:cNvPr id="283" name="Shape 280"/>
          <p:cNvSpPr/>
          <p:nvPr/>
        </p:nvSpPr>
        <p:spPr>
          <a:xfrm>
            <a:off x="2240280" y="17501616"/>
            <a:ext cx="640080" cy="347472"/>
          </a:xfrm>
          <a:prstGeom prst="rect">
            <a:avLst/>
          </a:prstGeom>
          <a:solidFill>
            <a:srgbClr val="F1EDF5"/>
          </a:solidFill>
          <a:ln w="12700">
            <a:solidFill>
              <a:srgbClr val="F1EDF5">
                <a:alpha val="0"/>
              </a:srgbClr>
            </a:solidFill>
            <a:prstDash val="solid"/>
          </a:ln>
        </p:spPr>
      </p:sp>
      <p:sp>
        <p:nvSpPr>
          <p:cNvPr id="284" name="Text 281"/>
          <p:cNvSpPr/>
          <p:nvPr/>
        </p:nvSpPr>
        <p:spPr>
          <a:xfrm>
            <a:off x="2267712" y="17556480"/>
            <a:ext cx="58521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00" dirty="0">
                <a:solidFill>
                  <a:srgbClr val="321B4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45</a:t>
            </a:r>
            <a:endParaRPr lang="en-US" sz="1100" dirty="0"/>
          </a:p>
        </p:txBody>
      </p:sp>
      <p:sp>
        <p:nvSpPr>
          <p:cNvPr id="285" name="Shape 282"/>
          <p:cNvSpPr/>
          <p:nvPr/>
        </p:nvSpPr>
        <p:spPr>
          <a:xfrm>
            <a:off x="2880360" y="17501616"/>
            <a:ext cx="1234440" cy="347472"/>
          </a:xfrm>
          <a:prstGeom prst="rect">
            <a:avLst/>
          </a:prstGeom>
          <a:solidFill>
            <a:srgbClr val="F1EDF5"/>
          </a:solidFill>
          <a:ln w="12700">
            <a:solidFill>
              <a:srgbClr val="F1EDF5">
                <a:alpha val="0"/>
              </a:srgbClr>
            </a:solidFill>
            <a:prstDash val="solid"/>
          </a:ln>
        </p:spPr>
      </p:sp>
      <p:sp>
        <p:nvSpPr>
          <p:cNvPr id="286" name="Text 283"/>
          <p:cNvSpPr/>
          <p:nvPr/>
        </p:nvSpPr>
        <p:spPr>
          <a:xfrm>
            <a:off x="2907792" y="17556480"/>
            <a:ext cx="117957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00" dirty="0">
                <a:solidFill>
                  <a:srgbClr val="321B4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-0,1</a:t>
            </a:r>
            <a:endParaRPr lang="en-US" sz="1100" dirty="0"/>
          </a:p>
        </p:txBody>
      </p:sp>
      <p:sp>
        <p:nvSpPr>
          <p:cNvPr id="287" name="Shape 284"/>
          <p:cNvSpPr/>
          <p:nvPr/>
        </p:nvSpPr>
        <p:spPr>
          <a:xfrm>
            <a:off x="4160520" y="17501616"/>
            <a:ext cx="1097280" cy="347472"/>
          </a:xfrm>
          <a:prstGeom prst="rect">
            <a:avLst/>
          </a:prstGeom>
          <a:solidFill>
            <a:srgbClr val="F1EDF5"/>
          </a:solidFill>
          <a:ln w="12700">
            <a:solidFill>
              <a:srgbClr val="F1EDF5">
                <a:alpha val="0"/>
              </a:srgbClr>
            </a:solidFill>
            <a:prstDash val="solid"/>
          </a:ln>
        </p:spPr>
      </p:sp>
      <p:sp>
        <p:nvSpPr>
          <p:cNvPr id="288" name="Text 285"/>
          <p:cNvSpPr/>
          <p:nvPr/>
        </p:nvSpPr>
        <p:spPr>
          <a:xfrm>
            <a:off x="4187952" y="17556480"/>
            <a:ext cx="104241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00" dirty="0">
                <a:solidFill>
                  <a:srgbClr val="321B4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2,3</a:t>
            </a:r>
            <a:endParaRPr lang="en-US" sz="1100" dirty="0"/>
          </a:p>
        </p:txBody>
      </p:sp>
      <p:sp>
        <p:nvSpPr>
          <p:cNvPr id="289" name="Shape 286"/>
          <p:cNvSpPr/>
          <p:nvPr/>
        </p:nvSpPr>
        <p:spPr>
          <a:xfrm>
            <a:off x="5303520" y="17501616"/>
            <a:ext cx="960120" cy="347472"/>
          </a:xfrm>
          <a:prstGeom prst="rect">
            <a:avLst/>
          </a:prstGeom>
          <a:solidFill>
            <a:srgbClr val="F1EDF5"/>
          </a:solidFill>
          <a:ln w="12700">
            <a:solidFill>
              <a:srgbClr val="F1EDF5">
                <a:alpha val="0"/>
              </a:srgbClr>
            </a:solidFill>
            <a:prstDash val="solid"/>
          </a:ln>
        </p:spPr>
      </p:sp>
      <p:sp>
        <p:nvSpPr>
          <p:cNvPr id="290" name="Text 287"/>
          <p:cNvSpPr/>
          <p:nvPr/>
        </p:nvSpPr>
        <p:spPr>
          <a:xfrm>
            <a:off x="5330952" y="17556480"/>
            <a:ext cx="90525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00" dirty="0">
                <a:solidFill>
                  <a:srgbClr val="321B4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71,1%</a:t>
            </a:r>
            <a:endParaRPr lang="en-US" sz="1100" dirty="0"/>
          </a:p>
        </p:txBody>
      </p:sp>
      <p:sp>
        <p:nvSpPr>
          <p:cNvPr id="291" name="Shape 288"/>
          <p:cNvSpPr/>
          <p:nvPr/>
        </p:nvSpPr>
        <p:spPr>
          <a:xfrm>
            <a:off x="685800" y="17867376"/>
            <a:ext cx="1508760" cy="347472"/>
          </a:xfrm>
          <a:prstGeom prst="rect">
            <a:avLst/>
          </a:prstGeom>
          <a:solidFill>
            <a:srgbClr val="F9F7FA"/>
          </a:solidFill>
          <a:ln w="12700">
            <a:solidFill>
              <a:srgbClr val="F9F7FA">
                <a:alpha val="0"/>
              </a:srgbClr>
            </a:solidFill>
            <a:prstDash val="solid"/>
          </a:ln>
        </p:spPr>
      </p:sp>
      <p:sp>
        <p:nvSpPr>
          <p:cNvPr id="292" name="Text 289"/>
          <p:cNvSpPr/>
          <p:nvPr/>
        </p:nvSpPr>
        <p:spPr>
          <a:xfrm>
            <a:off x="713232" y="17922240"/>
            <a:ext cx="145389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00" dirty="0">
                <a:solidFill>
                  <a:srgbClr val="321B4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10–20 m</a:t>
            </a:r>
            <a:endParaRPr lang="en-US" sz="1100" dirty="0"/>
          </a:p>
        </p:txBody>
      </p:sp>
      <p:sp>
        <p:nvSpPr>
          <p:cNvPr id="293" name="Shape 290"/>
          <p:cNvSpPr/>
          <p:nvPr/>
        </p:nvSpPr>
        <p:spPr>
          <a:xfrm>
            <a:off x="2240280" y="17867376"/>
            <a:ext cx="640080" cy="347472"/>
          </a:xfrm>
          <a:prstGeom prst="rect">
            <a:avLst/>
          </a:prstGeom>
          <a:solidFill>
            <a:srgbClr val="F9F7FA"/>
          </a:solidFill>
          <a:ln w="12700">
            <a:solidFill>
              <a:srgbClr val="F9F7FA">
                <a:alpha val="0"/>
              </a:srgbClr>
            </a:solidFill>
            <a:prstDash val="solid"/>
          </a:ln>
        </p:spPr>
      </p:sp>
      <p:sp>
        <p:nvSpPr>
          <p:cNvPr id="294" name="Text 291"/>
          <p:cNvSpPr/>
          <p:nvPr/>
        </p:nvSpPr>
        <p:spPr>
          <a:xfrm>
            <a:off x="2267712" y="17922240"/>
            <a:ext cx="58521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00" dirty="0">
                <a:solidFill>
                  <a:srgbClr val="321B4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28</a:t>
            </a:r>
            <a:endParaRPr lang="en-US" sz="1100" dirty="0"/>
          </a:p>
        </p:txBody>
      </p:sp>
      <p:sp>
        <p:nvSpPr>
          <p:cNvPr id="295" name="Shape 292"/>
          <p:cNvSpPr/>
          <p:nvPr/>
        </p:nvSpPr>
        <p:spPr>
          <a:xfrm>
            <a:off x="2880360" y="17867376"/>
            <a:ext cx="1234440" cy="347472"/>
          </a:xfrm>
          <a:prstGeom prst="rect">
            <a:avLst/>
          </a:prstGeom>
          <a:solidFill>
            <a:srgbClr val="F9F7FA"/>
          </a:solidFill>
          <a:ln w="12700">
            <a:solidFill>
              <a:srgbClr val="F9F7FA">
                <a:alpha val="0"/>
              </a:srgbClr>
            </a:solidFill>
            <a:prstDash val="solid"/>
          </a:ln>
        </p:spPr>
      </p:sp>
      <p:sp>
        <p:nvSpPr>
          <p:cNvPr id="296" name="Text 293"/>
          <p:cNvSpPr/>
          <p:nvPr/>
        </p:nvSpPr>
        <p:spPr>
          <a:xfrm>
            <a:off x="2907792" y="17922240"/>
            <a:ext cx="117957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00" dirty="0">
                <a:solidFill>
                  <a:srgbClr val="321B4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-5,1</a:t>
            </a:r>
            <a:endParaRPr lang="en-US" sz="1100" dirty="0"/>
          </a:p>
        </p:txBody>
      </p:sp>
      <p:sp>
        <p:nvSpPr>
          <p:cNvPr id="297" name="Shape 294"/>
          <p:cNvSpPr/>
          <p:nvPr/>
        </p:nvSpPr>
        <p:spPr>
          <a:xfrm>
            <a:off x="4160520" y="17867376"/>
            <a:ext cx="1097280" cy="347472"/>
          </a:xfrm>
          <a:prstGeom prst="rect">
            <a:avLst/>
          </a:prstGeom>
          <a:solidFill>
            <a:srgbClr val="F9F7FA"/>
          </a:solidFill>
          <a:ln w="12700">
            <a:solidFill>
              <a:srgbClr val="F9F7FA">
                <a:alpha val="0"/>
              </a:srgbClr>
            </a:solidFill>
            <a:prstDash val="solid"/>
          </a:ln>
        </p:spPr>
      </p:sp>
      <p:sp>
        <p:nvSpPr>
          <p:cNvPr id="298" name="Text 295"/>
          <p:cNvSpPr/>
          <p:nvPr/>
        </p:nvSpPr>
        <p:spPr>
          <a:xfrm>
            <a:off x="4187952" y="17922240"/>
            <a:ext cx="104241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00" dirty="0">
                <a:solidFill>
                  <a:srgbClr val="321B4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5,5</a:t>
            </a:r>
            <a:endParaRPr lang="en-US" sz="1100" dirty="0"/>
          </a:p>
        </p:txBody>
      </p:sp>
      <p:sp>
        <p:nvSpPr>
          <p:cNvPr id="299" name="Shape 296"/>
          <p:cNvSpPr/>
          <p:nvPr/>
        </p:nvSpPr>
        <p:spPr>
          <a:xfrm>
            <a:off x="5303520" y="17867376"/>
            <a:ext cx="960120" cy="347472"/>
          </a:xfrm>
          <a:prstGeom prst="rect">
            <a:avLst/>
          </a:prstGeom>
          <a:solidFill>
            <a:srgbClr val="F9F7FA"/>
          </a:solidFill>
          <a:ln w="12700">
            <a:solidFill>
              <a:srgbClr val="F9F7FA">
                <a:alpha val="0"/>
              </a:srgbClr>
            </a:solidFill>
            <a:prstDash val="solid"/>
          </a:ln>
        </p:spPr>
      </p:sp>
      <p:sp>
        <p:nvSpPr>
          <p:cNvPr id="300" name="Text 297"/>
          <p:cNvSpPr/>
          <p:nvPr/>
        </p:nvSpPr>
        <p:spPr>
          <a:xfrm>
            <a:off x="5330952" y="17922240"/>
            <a:ext cx="90525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00" dirty="0">
                <a:solidFill>
                  <a:srgbClr val="321B4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17,9%</a:t>
            </a:r>
            <a:endParaRPr lang="en-US" sz="1100" dirty="0"/>
          </a:p>
        </p:txBody>
      </p:sp>
      <p:sp>
        <p:nvSpPr>
          <p:cNvPr id="301" name="Shape 298"/>
          <p:cNvSpPr/>
          <p:nvPr/>
        </p:nvSpPr>
        <p:spPr>
          <a:xfrm>
            <a:off x="685800" y="18233136"/>
            <a:ext cx="1508760" cy="347472"/>
          </a:xfrm>
          <a:prstGeom prst="rect">
            <a:avLst/>
          </a:prstGeom>
          <a:solidFill>
            <a:srgbClr val="F1EDF5"/>
          </a:solidFill>
          <a:ln w="12700">
            <a:solidFill>
              <a:srgbClr val="F1EDF5">
                <a:alpha val="0"/>
              </a:srgbClr>
            </a:solidFill>
            <a:prstDash val="solid"/>
          </a:ln>
        </p:spPr>
      </p:sp>
      <p:sp>
        <p:nvSpPr>
          <p:cNvPr id="302" name="Text 299"/>
          <p:cNvSpPr/>
          <p:nvPr/>
        </p:nvSpPr>
        <p:spPr>
          <a:xfrm>
            <a:off x="713232" y="18288000"/>
            <a:ext cx="145389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00" dirty="0">
                <a:solidFill>
                  <a:srgbClr val="321B4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20–40 m</a:t>
            </a:r>
            <a:endParaRPr lang="en-US" sz="1100" dirty="0"/>
          </a:p>
        </p:txBody>
      </p:sp>
      <p:sp>
        <p:nvSpPr>
          <p:cNvPr id="303" name="Shape 300"/>
          <p:cNvSpPr/>
          <p:nvPr/>
        </p:nvSpPr>
        <p:spPr>
          <a:xfrm>
            <a:off x="2240280" y="18233136"/>
            <a:ext cx="640080" cy="347472"/>
          </a:xfrm>
          <a:prstGeom prst="rect">
            <a:avLst/>
          </a:prstGeom>
          <a:solidFill>
            <a:srgbClr val="F1EDF5"/>
          </a:solidFill>
          <a:ln w="12700">
            <a:solidFill>
              <a:srgbClr val="F1EDF5">
                <a:alpha val="0"/>
              </a:srgbClr>
            </a:solidFill>
            <a:prstDash val="solid"/>
          </a:ln>
        </p:spPr>
      </p:sp>
      <p:sp>
        <p:nvSpPr>
          <p:cNvPr id="304" name="Text 301"/>
          <p:cNvSpPr/>
          <p:nvPr/>
        </p:nvSpPr>
        <p:spPr>
          <a:xfrm>
            <a:off x="2267712" y="18288000"/>
            <a:ext cx="58521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00" dirty="0">
                <a:solidFill>
                  <a:srgbClr val="321B4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10</a:t>
            </a:r>
            <a:endParaRPr lang="en-US" sz="1100" dirty="0"/>
          </a:p>
        </p:txBody>
      </p:sp>
      <p:sp>
        <p:nvSpPr>
          <p:cNvPr id="305" name="Shape 302"/>
          <p:cNvSpPr/>
          <p:nvPr/>
        </p:nvSpPr>
        <p:spPr>
          <a:xfrm>
            <a:off x="2880360" y="18233136"/>
            <a:ext cx="1234440" cy="347472"/>
          </a:xfrm>
          <a:prstGeom prst="rect">
            <a:avLst/>
          </a:prstGeom>
          <a:solidFill>
            <a:srgbClr val="F1EDF5"/>
          </a:solidFill>
          <a:ln w="12700">
            <a:solidFill>
              <a:srgbClr val="F1EDF5">
                <a:alpha val="0"/>
              </a:srgbClr>
            </a:solidFill>
            <a:prstDash val="solid"/>
          </a:ln>
        </p:spPr>
      </p:sp>
      <p:sp>
        <p:nvSpPr>
          <p:cNvPr id="306" name="Text 303"/>
          <p:cNvSpPr/>
          <p:nvPr/>
        </p:nvSpPr>
        <p:spPr>
          <a:xfrm>
            <a:off x="2907792" y="18288000"/>
            <a:ext cx="117957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00" dirty="0">
                <a:solidFill>
                  <a:srgbClr val="321B4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-15,7</a:t>
            </a:r>
            <a:endParaRPr lang="en-US" sz="1100" dirty="0"/>
          </a:p>
        </p:txBody>
      </p:sp>
      <p:sp>
        <p:nvSpPr>
          <p:cNvPr id="307" name="Shape 304"/>
          <p:cNvSpPr/>
          <p:nvPr/>
        </p:nvSpPr>
        <p:spPr>
          <a:xfrm>
            <a:off x="4160520" y="18233136"/>
            <a:ext cx="1097280" cy="347472"/>
          </a:xfrm>
          <a:prstGeom prst="rect">
            <a:avLst/>
          </a:prstGeom>
          <a:solidFill>
            <a:srgbClr val="F1EDF5"/>
          </a:solidFill>
          <a:ln w="12700">
            <a:solidFill>
              <a:srgbClr val="F1EDF5">
                <a:alpha val="0"/>
              </a:srgbClr>
            </a:solidFill>
            <a:prstDash val="solid"/>
          </a:ln>
        </p:spPr>
      </p:sp>
      <p:sp>
        <p:nvSpPr>
          <p:cNvPr id="308" name="Text 305"/>
          <p:cNvSpPr/>
          <p:nvPr/>
        </p:nvSpPr>
        <p:spPr>
          <a:xfrm>
            <a:off x="4187952" y="18288000"/>
            <a:ext cx="104241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00" dirty="0">
                <a:solidFill>
                  <a:srgbClr val="321B4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15,7</a:t>
            </a:r>
            <a:endParaRPr lang="en-US" sz="1100" dirty="0"/>
          </a:p>
        </p:txBody>
      </p:sp>
      <p:sp>
        <p:nvSpPr>
          <p:cNvPr id="309" name="Shape 306"/>
          <p:cNvSpPr/>
          <p:nvPr/>
        </p:nvSpPr>
        <p:spPr>
          <a:xfrm>
            <a:off x="5303520" y="18233136"/>
            <a:ext cx="960120" cy="347472"/>
          </a:xfrm>
          <a:prstGeom prst="rect">
            <a:avLst/>
          </a:prstGeom>
          <a:solidFill>
            <a:srgbClr val="F1EDF5"/>
          </a:solidFill>
          <a:ln w="12700">
            <a:solidFill>
              <a:srgbClr val="F1EDF5">
                <a:alpha val="0"/>
              </a:srgbClr>
            </a:solidFill>
            <a:prstDash val="solid"/>
          </a:ln>
        </p:spPr>
      </p:sp>
      <p:sp>
        <p:nvSpPr>
          <p:cNvPr id="310" name="Text 307"/>
          <p:cNvSpPr/>
          <p:nvPr/>
        </p:nvSpPr>
        <p:spPr>
          <a:xfrm>
            <a:off x="5330952" y="18288000"/>
            <a:ext cx="90525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00" dirty="0">
                <a:solidFill>
                  <a:srgbClr val="321B4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10,0%</a:t>
            </a:r>
            <a:endParaRPr lang="en-US" sz="1100" dirty="0"/>
          </a:p>
        </p:txBody>
      </p:sp>
      <p:sp>
        <p:nvSpPr>
          <p:cNvPr id="311" name="Text 308"/>
          <p:cNvSpPr/>
          <p:nvPr/>
        </p:nvSpPr>
        <p:spPr>
          <a:xfrm>
            <a:off x="713232" y="18790920"/>
            <a:ext cx="6080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00" dirty="0">
                <a:solidFill>
                  <a:srgbClr val="625A6A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Referințe OSM; total n = 88. Cinci cazuri ≥ 40 m sunt omise din tabel.</a:t>
            </a:r>
            <a:endParaRPr lang="en-US" sz="1100" dirty="0"/>
          </a:p>
        </p:txBody>
      </p:sp>
      <p:sp>
        <p:nvSpPr>
          <p:cNvPr id="312" name="Text 309"/>
          <p:cNvSpPr/>
          <p:nvPr/>
        </p:nvSpPr>
        <p:spPr>
          <a:xfrm>
            <a:off x="713232" y="19366992"/>
            <a:ext cx="6080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00" dirty="0">
                <a:solidFill>
                  <a:srgbClr val="625A6A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Subset concordant cu etajele: n = 37; bias −5,0 m; MAE 6,1 m.</a:t>
            </a:r>
            <a:endParaRPr lang="en-US" sz="1100" dirty="0"/>
          </a:p>
        </p:txBody>
      </p:sp>
      <p:sp>
        <p:nvSpPr>
          <p:cNvPr id="313" name="Text 310"/>
          <p:cNvSpPr/>
          <p:nvPr/>
        </p:nvSpPr>
        <p:spPr>
          <a:xfrm>
            <a:off x="7635240" y="16660368"/>
            <a:ext cx="6309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21B4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1. Mai multe înălțimi disponibile</a:t>
            </a:r>
            <a:endParaRPr lang="en-US" sz="1400" dirty="0"/>
          </a:p>
        </p:txBody>
      </p:sp>
      <p:sp>
        <p:nvSpPr>
          <p:cNvPr id="314" name="Text 311"/>
          <p:cNvSpPr/>
          <p:nvPr/>
        </p:nvSpPr>
        <p:spPr>
          <a:xfrm>
            <a:off x="7635240" y="16989552"/>
            <a:ext cx="63093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321B4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Date OSM în 41 orașe; Copernicus 2012 completează înălțimi lipsă unde are acoperire. Măsurătorile confirmate au prioritate.</a:t>
            </a:r>
            <a:endParaRPr lang="en-US" sz="1200" dirty="0"/>
          </a:p>
        </p:txBody>
      </p:sp>
      <p:sp>
        <p:nvSpPr>
          <p:cNvPr id="315" name="Text 312"/>
          <p:cNvSpPr/>
          <p:nvPr/>
        </p:nvSpPr>
        <p:spPr>
          <a:xfrm>
            <a:off x="7635240" y="17556480"/>
            <a:ext cx="6309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21B4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2. Recomandare adaptată vremii</a:t>
            </a:r>
            <a:endParaRPr lang="en-US" sz="1400" dirty="0"/>
          </a:p>
        </p:txBody>
      </p:sp>
      <p:sp>
        <p:nvSpPr>
          <p:cNvPr id="316" name="Text 313"/>
          <p:cNvSpPr/>
          <p:nvPr/>
        </p:nvSpPr>
        <p:spPr>
          <a:xfrm>
            <a:off x="7635240" y="17885664"/>
            <a:ext cx="63093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321B4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Prognoza Open-Meteo ajustează alegerea între alternative, în funcție de radiația directă și durata mersului.</a:t>
            </a:r>
            <a:endParaRPr lang="en-US" sz="1200" dirty="0"/>
          </a:p>
        </p:txBody>
      </p:sp>
      <p:sp>
        <p:nvSpPr>
          <p:cNvPr id="317" name="Text 314"/>
          <p:cNvSpPr/>
          <p:nvPr/>
        </p:nvSpPr>
        <p:spPr>
          <a:xfrm>
            <a:off x="7635240" y="18452592"/>
            <a:ext cx="6309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21B4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3. Măsurare → hartă → traseu</a:t>
            </a:r>
            <a:endParaRPr lang="en-US" sz="1400" dirty="0"/>
          </a:p>
        </p:txBody>
      </p:sp>
      <p:sp>
        <p:nvSpPr>
          <p:cNvPr id="318" name="Text 315"/>
          <p:cNvSpPr/>
          <p:nvPr/>
        </p:nvSpPr>
        <p:spPr>
          <a:xfrm>
            <a:off x="7635240" y="18781776"/>
            <a:ext cx="63093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321B4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Telefonul salvează măsurători; baza comună este opțională. Serverul recalculează înălțimile și actualizează umbrele.</a:t>
            </a:r>
            <a:endParaRPr lang="en-US" sz="1200" dirty="0"/>
          </a:p>
        </p:txBody>
      </p:sp>
      <p:sp>
        <p:nvSpPr>
          <p:cNvPr id="319" name="Text 316"/>
          <p:cNvSpPr/>
          <p:nvPr/>
        </p:nvSpPr>
        <p:spPr>
          <a:xfrm>
            <a:off x="7635240" y="19366992"/>
            <a:ext cx="630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B84419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Testată pe teren în Constanța. Rutare în 41 orașe publicate; extindere automată prin catalogul de date.</a:t>
            </a:r>
            <a:endParaRPr lang="en-US" sz="1200" dirty="0"/>
          </a:p>
        </p:txBody>
      </p:sp>
      <p:sp>
        <p:nvSpPr>
          <p:cNvPr id="320" name="Shape 317"/>
          <p:cNvSpPr/>
          <p:nvPr/>
        </p:nvSpPr>
        <p:spPr>
          <a:xfrm>
            <a:off x="548640" y="20116800"/>
            <a:ext cx="13533120" cy="438912"/>
          </a:xfrm>
          <a:prstGeom prst="rect">
            <a:avLst/>
          </a:prstGeom>
          <a:solidFill>
            <a:srgbClr val="B84419"/>
          </a:solidFill>
          <a:ln w="12700">
            <a:solidFill>
              <a:srgbClr val="B84419">
                <a:alpha val="0"/>
              </a:srgbClr>
            </a:solidFill>
            <a:prstDash val="solid"/>
          </a:ln>
        </p:spPr>
      </p:sp>
      <p:sp>
        <p:nvSpPr>
          <p:cNvPr id="321" name="Text 318"/>
          <p:cNvSpPr/>
          <p:nvPr/>
        </p:nvSpPr>
        <p:spPr>
          <a:xfrm>
            <a:off x="713232" y="20199096"/>
            <a:ext cx="13075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CONCLUZIE: ÎNĂLȚIMILE LOCALE ȘI MOMENTUL MĂSURĂRII CONTEAZĂ ÎN MODELAREA UMBRELOR.</a:t>
            </a:r>
            <a:endParaRPr lang="en-US" sz="1400" dirty="0"/>
          </a:p>
        </p:txBody>
      </p:sp>
      <p:sp>
        <p:nvSpPr>
          <p:cNvPr id="322" name="Text 319"/>
          <p:cNvSpPr/>
          <p:nvPr/>
        </p:nvSpPr>
        <p:spPr>
          <a:xfrm>
            <a:off x="594360" y="20720304"/>
            <a:ext cx="120700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00" dirty="0">
                <a:solidFill>
                  <a:srgbClr val="625A6A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Surse: © OpenStreetMap contributors (ODbL); GlobalBuildingAtlas (ESSD 2025); Open-Meteo (CC BY 4.0); NOAA/Meeus.</a:t>
            </a:r>
            <a:endParaRPr lang="en-US" sz="1100" dirty="0"/>
          </a:p>
          <a:p>
            <a:pPr algn="l" indent="0" marL="0">
              <a:buNone/>
            </a:pPr>
            <a:r>
              <a:rPr lang="en-US" sz="1100" dirty="0">
                <a:solidFill>
                  <a:srgbClr val="625A6A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Copernicus: © European Union, Copernicus Land Monitoring Service 2022, European Environment Agency (EEA).</a:t>
            </a:r>
            <a:endParaRPr lang="en-US" sz="1100" dirty="0"/>
          </a:p>
        </p:txBody>
      </p:sp>
      <p:sp>
        <p:nvSpPr>
          <p:cNvPr id="323" name="Shape 320"/>
          <p:cNvSpPr/>
          <p:nvPr/>
        </p:nvSpPr>
        <p:spPr>
          <a:xfrm>
            <a:off x="594360" y="21232368"/>
            <a:ext cx="12298680" cy="914"/>
          </a:xfrm>
          <a:prstGeom prst="line">
            <a:avLst/>
          </a:prstGeom>
          <a:noFill/>
          <a:ln w="8890">
            <a:solidFill>
              <a:srgbClr val="DDD7E2"/>
            </a:solidFill>
            <a:prstDash val="solid"/>
          </a:ln>
        </p:spPr>
      </p:sp>
      <p:pic>
        <p:nvPicPr>
          <p:cNvPr id="324" name="Image 1" descr="/home/kawase/Documents/GitHub/umbra/docs/poster/qr-github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167360" y="20647152"/>
            <a:ext cx="914400" cy="914400"/>
          </a:xfrm>
          <a:prstGeom prst="rect">
            <a:avLst/>
          </a:prstGeom>
        </p:spPr>
      </p:pic>
      <p:sp>
        <p:nvSpPr>
          <p:cNvPr id="325" name="Text 321"/>
          <p:cNvSpPr/>
          <p:nvPr/>
        </p:nvSpPr>
        <p:spPr>
          <a:xfrm>
            <a:off x="594360" y="21305520"/>
            <a:ext cx="12252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00" dirty="0">
                <a:solidFill>
                  <a:srgbClr val="321B4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Clasa a X-a · Constanța · Coordonator: prof. Ramona Rădulescu · Informatică pentru Viitor (IPV)</a:t>
            </a:r>
            <a:endParaRPr lang="en-US" sz="1100" dirty="0"/>
          </a:p>
        </p:txBody>
      </p:sp>
      <p:sp>
        <p:nvSpPr>
          <p:cNvPr id="326" name="Text 322"/>
          <p:cNvSpPr/>
          <p:nvPr/>
        </p:nvSpPr>
        <p:spPr>
          <a:xfrm>
            <a:off x="594360" y="21570696"/>
            <a:ext cx="12252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00" dirty="0">
                <a:solidFill>
                  <a:srgbClr val="625A6A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Contact: radramra@gmail.com     |     Cod și documentație: github.com/Ieditzu/umbra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UMBRA — poster științific</dc:title>
  <dc:subject>PptxGenJS Presentation</dc:subject>
  <dc:creator>Echipa Umbra</dc:creator>
  <cp:lastModifiedBy>Echipa Umbra</cp:lastModifiedBy>
  <cp:revision>1</cp:revision>
  <dcterms:created xsi:type="dcterms:W3CDTF">2026-10-29T11:13:09Z</dcterms:created>
  <dcterms:modified xsi:type="dcterms:W3CDTF">2026-10-29T11:13:09Z</dcterms:modified>
</cp:coreProperties>
</file>