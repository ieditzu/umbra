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630400" cy="20684359"/>
  <p:notesSz cx="20684359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98225"/>
            <a:ext cx="13533120" cy="2154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RoSEF 2026  /  TEHNOLOGIA INFORMAȚIEI ȘI COMUNICAȚIILOR  /  APLICAȚIE MOBILĂ + CERCETARE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413687"/>
            <a:ext cx="7772400" cy="11204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0" b="1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UMBRA</a:t>
            </a:r>
            <a:endParaRPr lang="en-US" sz="8200" dirty="0"/>
          </a:p>
        </p:txBody>
      </p:sp>
      <p:sp>
        <p:nvSpPr>
          <p:cNvPr id="4" name="Text 2"/>
          <p:cNvSpPr/>
          <p:nvPr/>
        </p:nvSpPr>
        <p:spPr>
          <a:xfrm>
            <a:off x="8641080" y="551583"/>
            <a:ext cx="5303520" cy="9049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B8441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Trasee umbrite.</a:t>
            </a:r>
            <a:endParaRPr lang="en-US" sz="2300" dirty="0"/>
          </a:p>
          <a:p>
            <a:pPr algn="l" indent="0" marL="0">
              <a:buNone/>
            </a:pPr>
            <a:r>
              <a:rPr lang="en-US" sz="2300" b="1" dirty="0">
                <a:solidFill>
                  <a:srgbClr val="B8441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Înălțimi din umbre.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94360" y="1646130"/>
            <a:ext cx="13350240" cy="2585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Eduard-Mihai Perjoc · Eduard-Andrei Haivas · Cezar-Ștefan Manea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956396"/>
            <a:ext cx="13350240" cy="2154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25A6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Clasa a X-a · Constanța    |    Coordonator: prof. Ramona Rădulescu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309753"/>
            <a:ext cx="13533120" cy="930796"/>
          </a:xfrm>
          <a:prstGeom prst="rect">
            <a:avLst/>
          </a:prstGeom>
          <a:solidFill>
            <a:srgbClr val="F1EDF5"/>
          </a:solidFill>
          <a:ln w="12700">
            <a:solidFill>
              <a:srgbClr val="F1EDF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387320"/>
            <a:ext cx="13075920" cy="19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441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ÎNTREBAREA ȘTIINȚIFICĂ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645874"/>
            <a:ext cx="13075920" cy="3016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 ce eroare estimăm înălțimea clădirilor din umbre și când rămân vârfurile umbrelor neobstrucționate?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3007850"/>
            <a:ext cx="13075920" cy="1896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25A6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Aplicăm înălțimile obținute la harta umbrelor și la comparația traseelor pietonale.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387064"/>
            <a:ext cx="4251960" cy="293028"/>
          </a:xfrm>
          <a:prstGeom prst="rect">
            <a:avLst/>
          </a:prstGeom>
          <a:solidFill>
            <a:srgbClr val="321B40"/>
          </a:solidFill>
          <a:ln w="12700">
            <a:solidFill>
              <a:srgbClr val="321B40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417228"/>
            <a:ext cx="4069080" cy="2068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  APLICAȚIA UMBRA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3783514"/>
            <a:ext cx="4114800" cy="3447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Traseu mai rapid sau mai umbrit?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4300623"/>
            <a:ext cx="4069080" cy="6550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Alegi destinația, ora plecării și ocolul acceptat. Umbra compară durata și expunerea estimată la soare.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5084905"/>
            <a:ext cx="4069080" cy="6636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Clădiri + copaci + prognoză meteo: serverul calculează alternativele; telefonul afișează harta și urmărirea GPS.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5860568"/>
            <a:ext cx="4069080" cy="568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„Măsoară clădirea”: GPS, ruletă/laser sau fotografie din dronă → înălțime și incertitudine.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6506954"/>
            <a:ext cx="4114800" cy="3705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B8441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Salvare locală; partajare opțională. Înălțimile confirmate actualizează modelul.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6998208"/>
            <a:ext cx="4251960" cy="293028"/>
          </a:xfrm>
          <a:prstGeom prst="rect">
            <a:avLst/>
          </a:prstGeom>
          <a:solidFill>
            <a:srgbClr val="321B40"/>
          </a:solidFill>
          <a:ln w="12700">
            <a:solidFill>
              <a:srgbClr val="321B4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7028373"/>
            <a:ext cx="4069080" cy="2068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  PRINCIPIU ȘI METODĂ</a:t>
            </a:r>
            <a:endParaRPr lang="en-US" sz="1300" dirty="0"/>
          </a:p>
        </p:txBody>
      </p:sp>
      <p:pic>
        <p:nvPicPr>
          <p:cNvPr id="20" name="Image 0" descr="/home/kawase/Documents/GitHub/umbra/docs/poster/scientific/building-3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399" y="7386040"/>
            <a:ext cx="3059561" cy="1525471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298448" y="8075518"/>
            <a:ext cx="274320" cy="2585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2761488" y="8687431"/>
            <a:ext cx="274320" cy="2585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3346704" y="8385784"/>
            <a:ext cx="274320" cy="2585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58368" y="8868419"/>
            <a:ext cx="3931920" cy="3361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 = L · tan(e)</a:t>
            </a:r>
            <a:endParaRPr lang="en-US" sz="2300" dirty="0"/>
          </a:p>
        </p:txBody>
      </p:sp>
      <p:sp>
        <p:nvSpPr>
          <p:cNvPr id="25" name="Text 22"/>
          <p:cNvSpPr/>
          <p:nvPr/>
        </p:nvSpPr>
        <p:spPr>
          <a:xfrm>
            <a:off x="658368" y="9247632"/>
            <a:ext cx="4069080" cy="19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h: înălțime · L: lungimea umbrei · e: elevația Soarelui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257800" y="3387064"/>
            <a:ext cx="8823960" cy="293028"/>
          </a:xfrm>
          <a:prstGeom prst="rect">
            <a:avLst/>
          </a:prstGeom>
          <a:solidFill>
            <a:srgbClr val="321B40"/>
          </a:solidFill>
          <a:ln w="12700">
            <a:solidFill>
              <a:srgbClr val="321B40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67528" y="3417228"/>
            <a:ext cx="8641080" cy="2068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  CERCETARE: DATE ȘI REZULTATE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303520" y="3783514"/>
            <a:ext cx="8686800" cy="3275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Fig. 1  În OSM, 87,8% dintre clădiri nu au înălțime sau etaje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5440680" y="4326478"/>
            <a:ext cx="42884" cy="448161"/>
          </a:xfrm>
          <a:prstGeom prst="rect">
            <a:avLst/>
          </a:prstGeom>
          <a:solidFill>
            <a:srgbClr val="321B40"/>
          </a:solidFill>
          <a:ln w="12700">
            <a:solidFill>
              <a:srgbClr val="321B40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483564" y="4326478"/>
            <a:ext cx="935695" cy="448161"/>
          </a:xfrm>
          <a:prstGeom prst="rect">
            <a:avLst/>
          </a:prstGeom>
          <a:solidFill>
            <a:srgbClr val="AF9ABF"/>
          </a:solidFill>
          <a:ln w="12700">
            <a:solidFill>
              <a:srgbClr val="AF9ABF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419259" y="4326478"/>
            <a:ext cx="7146130" cy="448161"/>
          </a:xfrm>
          <a:prstGeom prst="rect">
            <a:avLst/>
          </a:prstGeom>
          <a:solidFill>
            <a:srgbClr val="B84419"/>
          </a:solidFill>
          <a:ln w="12700">
            <a:solidFill>
              <a:srgbClr val="B84419">
                <a:alpha val="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3565389" y="4326478"/>
            <a:ext cx="13451" cy="448161"/>
          </a:xfrm>
          <a:prstGeom prst="rect">
            <a:avLst/>
          </a:prstGeom>
          <a:solidFill>
            <a:srgbClr val="D2CBD7"/>
          </a:solidFill>
          <a:ln w="12700">
            <a:solidFill>
              <a:srgbClr val="D2CBD7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772400" y="4386808"/>
            <a:ext cx="5029200" cy="2757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45.159 fără înălțime sau etaje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5440680" y="4929772"/>
            <a:ext cx="8229600" cy="2585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271 înălțimi OSM · 5.913 doar etaje · 85 alte cazuri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5440680" y="5265893"/>
            <a:ext cx="8229600" cy="2585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25A6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Studiu Constanța, OSM 25.10.2026: 51.428 clădiri; GBA asociat la 40.658.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5440680" y="5610632"/>
            <a:ext cx="8229600" cy="2757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8441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În aplicație, Copernicus 2012 adaugă 16.243 estimări pentru clădiri fără înălțimi OSM.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5303520" y="6076030"/>
            <a:ext cx="8686800" cy="3016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Fig. 2  Înălțimea GBA pe etaj scade la blocurile înalte</a:t>
            </a:r>
            <a:endParaRPr lang="en-US" sz="1500" dirty="0"/>
          </a:p>
        </p:txBody>
      </p:sp>
      <p:sp>
        <p:nvSpPr>
          <p:cNvPr id="38" name="Shape 35"/>
          <p:cNvSpPr/>
          <p:nvPr/>
        </p:nvSpPr>
        <p:spPr>
          <a:xfrm>
            <a:off x="5989320" y="8325454"/>
            <a:ext cx="7589520" cy="914"/>
          </a:xfrm>
          <a:prstGeom prst="line">
            <a:avLst/>
          </a:prstGeom>
          <a:noFill/>
          <a:ln w="8890">
            <a:solidFill>
              <a:srgbClr val="DDD7E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669280" y="8222033"/>
            <a:ext cx="237744" cy="1896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625A6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5989320" y="7920386"/>
            <a:ext cx="7589520" cy="914"/>
          </a:xfrm>
          <a:prstGeom prst="line">
            <a:avLst/>
          </a:prstGeom>
          <a:noFill/>
          <a:ln w="8890">
            <a:solidFill>
              <a:srgbClr val="DDD7E2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669280" y="7816964"/>
            <a:ext cx="237744" cy="1896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625A6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5989320" y="7515317"/>
            <a:ext cx="7589520" cy="914"/>
          </a:xfrm>
          <a:prstGeom prst="line">
            <a:avLst/>
          </a:prstGeom>
          <a:noFill/>
          <a:ln w="8890">
            <a:solidFill>
              <a:srgbClr val="DDD7E2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669280" y="7411895"/>
            <a:ext cx="237744" cy="1896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625A6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5989320" y="7110248"/>
            <a:ext cx="7589520" cy="914"/>
          </a:xfrm>
          <a:prstGeom prst="line">
            <a:avLst/>
          </a:prstGeom>
          <a:noFill/>
          <a:ln w="8890">
            <a:solidFill>
              <a:srgbClr val="DDD7E2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669280" y="7006826"/>
            <a:ext cx="237744" cy="1896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625A6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5989320" y="6705180"/>
            <a:ext cx="7589520" cy="914"/>
          </a:xfrm>
          <a:prstGeom prst="line">
            <a:avLst/>
          </a:prstGeom>
          <a:noFill/>
          <a:ln w="8890">
            <a:solidFill>
              <a:srgbClr val="DDD7E2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669280" y="6601758"/>
            <a:ext cx="237744" cy="1896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625A6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6519672" y="6721382"/>
            <a:ext cx="822960" cy="1604072"/>
          </a:xfrm>
          <a:prstGeom prst="rect">
            <a:avLst/>
          </a:prstGeom>
          <a:solidFill>
            <a:srgbClr val="AF9ABF"/>
          </a:solidFill>
          <a:ln w="12700">
            <a:solidFill>
              <a:srgbClr val="AF9ABF">
                <a:alpha val="0"/>
              </a:srgbClr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519672" y="6462828"/>
            <a:ext cx="822960" cy="2068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3,96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6291072" y="8385784"/>
            <a:ext cx="1280160" cy="4136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1–2 etaje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 = 2.591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8330184" y="7458607"/>
            <a:ext cx="822960" cy="866847"/>
          </a:xfrm>
          <a:prstGeom prst="rect">
            <a:avLst/>
          </a:prstGeom>
          <a:solidFill>
            <a:srgbClr val="AF9ABF"/>
          </a:solidFill>
          <a:ln w="12700">
            <a:solidFill>
              <a:srgbClr val="AF9ABF">
                <a:alpha val="0"/>
              </a:srgbClr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330184" y="7200053"/>
            <a:ext cx="822960" cy="2068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2,14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8101584" y="8385784"/>
            <a:ext cx="1280160" cy="4136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3–4 etaje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 = 965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10140696" y="7600381"/>
            <a:ext cx="822960" cy="725073"/>
          </a:xfrm>
          <a:prstGeom prst="rect">
            <a:avLst/>
          </a:prstGeom>
          <a:solidFill>
            <a:srgbClr val="AF9ABF"/>
          </a:solidFill>
          <a:ln w="12700">
            <a:solidFill>
              <a:srgbClr val="AF9ABF">
                <a:alpha val="0"/>
              </a:srgbClr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10140696" y="7341827"/>
            <a:ext cx="822960" cy="2068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1,79</a:t>
            </a:r>
            <a:endParaRPr lang="en-US" sz="1200" dirty="0"/>
          </a:p>
        </p:txBody>
      </p:sp>
      <p:sp>
        <p:nvSpPr>
          <p:cNvPr id="56" name="Text 53"/>
          <p:cNvSpPr/>
          <p:nvPr/>
        </p:nvSpPr>
        <p:spPr>
          <a:xfrm>
            <a:off x="9912096" y="8385784"/>
            <a:ext cx="1280160" cy="4136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5–8 etaje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 = 1.042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11951208" y="7774561"/>
            <a:ext cx="822960" cy="550893"/>
          </a:xfrm>
          <a:prstGeom prst="rect">
            <a:avLst/>
          </a:prstGeom>
          <a:solidFill>
            <a:srgbClr val="B84419"/>
          </a:solidFill>
          <a:ln w="12700">
            <a:solidFill>
              <a:srgbClr val="B84419">
                <a:alpha val="0"/>
              </a:srgbClr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11951208" y="7516006"/>
            <a:ext cx="822960" cy="2068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1,36</a:t>
            </a:r>
            <a:endParaRPr lang="en-US" sz="1200" dirty="0"/>
          </a:p>
        </p:txBody>
      </p:sp>
      <p:sp>
        <p:nvSpPr>
          <p:cNvPr id="59" name="Text 56"/>
          <p:cNvSpPr/>
          <p:nvPr/>
        </p:nvSpPr>
        <p:spPr>
          <a:xfrm>
            <a:off x="11722608" y="8385784"/>
            <a:ext cx="1280160" cy="4136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9–12 etaje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 = 309</a:t>
            </a:r>
            <a:endParaRPr lang="en-US" sz="1100" dirty="0"/>
          </a:p>
        </p:txBody>
      </p:sp>
      <p:sp>
        <p:nvSpPr>
          <p:cNvPr id="60" name="Text 57"/>
          <p:cNvSpPr/>
          <p:nvPr/>
        </p:nvSpPr>
        <p:spPr>
          <a:xfrm>
            <a:off x="5989320" y="8877037"/>
            <a:ext cx="7498080" cy="2154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25A6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Mediana înălțimii GBA / etaje (m)</a:t>
            </a:r>
            <a:endParaRPr lang="en-US" sz="1100" dirty="0"/>
          </a:p>
        </p:txBody>
      </p:sp>
      <p:sp>
        <p:nvSpPr>
          <p:cNvPr id="61" name="Text 58"/>
          <p:cNvSpPr/>
          <p:nvPr/>
        </p:nvSpPr>
        <p:spPr>
          <a:xfrm>
            <a:off x="5989320" y="9152829"/>
            <a:ext cx="7680960" cy="2585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25A6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 = 4.925 asocieri; graficul arată 4.907 clădiri cu 1–12 etaje.</a:t>
            </a:r>
            <a:endParaRPr lang="en-US" sz="1100" dirty="0"/>
          </a:p>
        </p:txBody>
      </p:sp>
      <p:sp>
        <p:nvSpPr>
          <p:cNvPr id="62" name="Shape 59"/>
          <p:cNvSpPr/>
          <p:nvPr/>
        </p:nvSpPr>
        <p:spPr>
          <a:xfrm>
            <a:off x="548640" y="9523423"/>
            <a:ext cx="6492240" cy="293028"/>
          </a:xfrm>
          <a:prstGeom prst="rect">
            <a:avLst/>
          </a:prstGeom>
          <a:solidFill>
            <a:srgbClr val="321B40"/>
          </a:solidFill>
          <a:ln w="12700">
            <a:solidFill>
              <a:srgbClr val="321B40">
                <a:alpha val="0"/>
              </a:srgbClr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658368" y="9553588"/>
            <a:ext cx="6309360" cy="2068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  MODELUL INCERTITUDINII</a:t>
            </a:r>
            <a:endParaRPr lang="en-US" sz="1300" dirty="0"/>
          </a:p>
        </p:txBody>
      </p:sp>
      <p:sp>
        <p:nvSpPr>
          <p:cNvPr id="64" name="Shape 61"/>
          <p:cNvSpPr/>
          <p:nvPr/>
        </p:nvSpPr>
        <p:spPr>
          <a:xfrm>
            <a:off x="7498080" y="9523423"/>
            <a:ext cx="6583680" cy="293028"/>
          </a:xfrm>
          <a:prstGeom prst="rect">
            <a:avLst/>
          </a:prstGeom>
          <a:solidFill>
            <a:srgbClr val="321B40"/>
          </a:solidFill>
          <a:ln w="12700">
            <a:solidFill>
              <a:srgbClr val="321B40">
                <a:alpha val="0"/>
              </a:srgbClr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7607808" y="9553588"/>
            <a:ext cx="6400800" cy="2068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05  FEZABILITATE GEOMETRICĂ</a:t>
            </a:r>
            <a:endParaRPr lang="en-US" sz="1300" dirty="0"/>
          </a:p>
        </p:txBody>
      </p:sp>
      <p:sp>
        <p:nvSpPr>
          <p:cNvPr id="66" name="Text 63"/>
          <p:cNvSpPr/>
          <p:nvPr/>
        </p:nvSpPr>
        <p:spPr>
          <a:xfrm>
            <a:off x="594360" y="9928492"/>
            <a:ext cx="6400800" cy="2930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Fig. 3  Eroarea crește la Soare înalt</a:t>
            </a:r>
            <a:endParaRPr lang="en-US" sz="1500" dirty="0"/>
          </a:p>
        </p:txBody>
      </p:sp>
      <p:sp>
        <p:nvSpPr>
          <p:cNvPr id="67" name="Text 64"/>
          <p:cNvSpPr/>
          <p:nvPr/>
        </p:nvSpPr>
        <p:spPr>
          <a:xfrm>
            <a:off x="7543800" y="9928492"/>
            <a:ext cx="6400800" cy="2930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Fig. 4  Vârf de umbră neobstrucționat</a:t>
            </a:r>
            <a:endParaRPr lang="en-US" sz="1500" dirty="0"/>
          </a:p>
        </p:txBody>
      </p:sp>
      <p:sp>
        <p:nvSpPr>
          <p:cNvPr id="68" name="Text 65"/>
          <p:cNvSpPr/>
          <p:nvPr/>
        </p:nvSpPr>
        <p:spPr>
          <a:xfrm>
            <a:off x="1097280" y="10592115"/>
            <a:ext cx="5440680" cy="1896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25A6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Eroarea înălțimii δh (m)</a:t>
            </a:r>
            <a:endParaRPr lang="en-US" sz="1100" dirty="0"/>
          </a:p>
        </p:txBody>
      </p:sp>
      <p:sp>
        <p:nvSpPr>
          <p:cNvPr id="69" name="Shape 66"/>
          <p:cNvSpPr/>
          <p:nvPr/>
        </p:nvSpPr>
        <p:spPr>
          <a:xfrm>
            <a:off x="1097280" y="13401741"/>
            <a:ext cx="5440680" cy="914"/>
          </a:xfrm>
          <a:prstGeom prst="line">
            <a:avLst/>
          </a:prstGeom>
          <a:noFill/>
          <a:ln w="8890">
            <a:solidFill>
              <a:srgbClr val="DDD7E2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768096" y="13315556"/>
            <a:ext cx="228600" cy="1723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625A6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</a:t>
            </a:r>
            <a:endParaRPr lang="en-US" sz="1100" dirty="0"/>
          </a:p>
        </p:txBody>
      </p:sp>
      <p:sp>
        <p:nvSpPr>
          <p:cNvPr id="71" name="Shape 68"/>
          <p:cNvSpPr/>
          <p:nvPr/>
        </p:nvSpPr>
        <p:spPr>
          <a:xfrm>
            <a:off x="1097280" y="12776901"/>
            <a:ext cx="5440680" cy="914"/>
          </a:xfrm>
          <a:prstGeom prst="line">
            <a:avLst/>
          </a:prstGeom>
          <a:noFill/>
          <a:ln w="8890">
            <a:solidFill>
              <a:srgbClr val="DDD7E2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768096" y="12690716"/>
            <a:ext cx="228600" cy="1723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625A6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</a:t>
            </a:r>
            <a:endParaRPr lang="en-US" sz="1100" dirty="0"/>
          </a:p>
        </p:txBody>
      </p:sp>
      <p:sp>
        <p:nvSpPr>
          <p:cNvPr id="73" name="Shape 70"/>
          <p:cNvSpPr/>
          <p:nvPr/>
        </p:nvSpPr>
        <p:spPr>
          <a:xfrm>
            <a:off x="1097280" y="12152061"/>
            <a:ext cx="5440680" cy="914"/>
          </a:xfrm>
          <a:prstGeom prst="line">
            <a:avLst/>
          </a:prstGeom>
          <a:noFill/>
          <a:ln w="8890">
            <a:solidFill>
              <a:srgbClr val="DDD7E2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768096" y="12065876"/>
            <a:ext cx="228600" cy="1723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625A6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</a:t>
            </a:r>
            <a:endParaRPr lang="en-US" sz="1100" dirty="0"/>
          </a:p>
        </p:txBody>
      </p:sp>
      <p:sp>
        <p:nvSpPr>
          <p:cNvPr id="75" name="Shape 72"/>
          <p:cNvSpPr/>
          <p:nvPr/>
        </p:nvSpPr>
        <p:spPr>
          <a:xfrm>
            <a:off x="1097280" y="11527221"/>
            <a:ext cx="5440680" cy="914"/>
          </a:xfrm>
          <a:prstGeom prst="line">
            <a:avLst/>
          </a:prstGeom>
          <a:noFill/>
          <a:ln w="8890">
            <a:solidFill>
              <a:srgbClr val="DDD7E2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768096" y="11441036"/>
            <a:ext cx="228600" cy="1723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625A6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</a:t>
            </a:r>
            <a:endParaRPr lang="en-US" sz="1100" dirty="0"/>
          </a:p>
        </p:txBody>
      </p:sp>
      <p:sp>
        <p:nvSpPr>
          <p:cNvPr id="77" name="Text 74"/>
          <p:cNvSpPr/>
          <p:nvPr/>
        </p:nvSpPr>
        <p:spPr>
          <a:xfrm>
            <a:off x="941832" y="13505162"/>
            <a:ext cx="320040" cy="19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</a:t>
            </a:r>
            <a:endParaRPr lang="en-US" sz="1100" dirty="0"/>
          </a:p>
        </p:txBody>
      </p:sp>
      <p:sp>
        <p:nvSpPr>
          <p:cNvPr id="78" name="Text 75"/>
          <p:cNvSpPr/>
          <p:nvPr/>
        </p:nvSpPr>
        <p:spPr>
          <a:xfrm>
            <a:off x="1778860" y="13505162"/>
            <a:ext cx="320040" cy="19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</a:t>
            </a:r>
            <a:endParaRPr lang="en-US" sz="1100" dirty="0"/>
          </a:p>
        </p:txBody>
      </p:sp>
      <p:sp>
        <p:nvSpPr>
          <p:cNvPr id="79" name="Text 76"/>
          <p:cNvSpPr/>
          <p:nvPr/>
        </p:nvSpPr>
        <p:spPr>
          <a:xfrm>
            <a:off x="2615887" y="13505162"/>
            <a:ext cx="320040" cy="19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30</a:t>
            </a:r>
            <a:endParaRPr lang="en-US" sz="1100" dirty="0"/>
          </a:p>
        </p:txBody>
      </p:sp>
      <p:sp>
        <p:nvSpPr>
          <p:cNvPr id="80" name="Text 77"/>
          <p:cNvSpPr/>
          <p:nvPr/>
        </p:nvSpPr>
        <p:spPr>
          <a:xfrm>
            <a:off x="3452915" y="13505162"/>
            <a:ext cx="320040" cy="19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40</a:t>
            </a:r>
            <a:endParaRPr lang="en-US" sz="1100" dirty="0"/>
          </a:p>
        </p:txBody>
      </p:sp>
      <p:sp>
        <p:nvSpPr>
          <p:cNvPr id="81" name="Text 78"/>
          <p:cNvSpPr/>
          <p:nvPr/>
        </p:nvSpPr>
        <p:spPr>
          <a:xfrm>
            <a:off x="4289943" y="13505162"/>
            <a:ext cx="320040" cy="19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50</a:t>
            </a:r>
            <a:endParaRPr lang="en-US" sz="1100" dirty="0"/>
          </a:p>
        </p:txBody>
      </p:sp>
      <p:sp>
        <p:nvSpPr>
          <p:cNvPr id="82" name="Text 79"/>
          <p:cNvSpPr/>
          <p:nvPr/>
        </p:nvSpPr>
        <p:spPr>
          <a:xfrm>
            <a:off x="5126970" y="13505162"/>
            <a:ext cx="320040" cy="19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60</a:t>
            </a:r>
            <a:endParaRPr lang="en-US" sz="1100" dirty="0"/>
          </a:p>
        </p:txBody>
      </p:sp>
      <p:sp>
        <p:nvSpPr>
          <p:cNvPr id="83" name="Text 80"/>
          <p:cNvSpPr/>
          <p:nvPr/>
        </p:nvSpPr>
        <p:spPr>
          <a:xfrm>
            <a:off x="5963998" y="13505162"/>
            <a:ext cx="320040" cy="19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70</a:t>
            </a:r>
            <a:endParaRPr lang="en-US" sz="1100" dirty="0"/>
          </a:p>
        </p:txBody>
      </p:sp>
      <p:sp>
        <p:nvSpPr>
          <p:cNvPr id="84" name="Shape 81"/>
          <p:cNvSpPr/>
          <p:nvPr/>
        </p:nvSpPr>
        <p:spPr>
          <a:xfrm flipV="1">
            <a:off x="1097280" y="13280284"/>
            <a:ext cx="83703" cy="11280"/>
          </a:xfrm>
          <a:prstGeom prst="line">
            <a:avLst/>
          </a:prstGeom>
          <a:noFill/>
          <a:ln w="21590">
            <a:solidFill>
              <a:srgbClr val="B84419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 flipV="1">
            <a:off x="1180983" y="13268927"/>
            <a:ext cx="83703" cy="11357"/>
          </a:xfrm>
          <a:prstGeom prst="line">
            <a:avLst/>
          </a:prstGeom>
          <a:noFill/>
          <a:ln w="21590">
            <a:solidFill>
              <a:srgbClr val="B84419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 flipV="1">
            <a:off x="1264686" y="13257485"/>
            <a:ext cx="83703" cy="11442"/>
          </a:xfrm>
          <a:prstGeom prst="line">
            <a:avLst/>
          </a:prstGeom>
          <a:noFill/>
          <a:ln w="21590">
            <a:solidFill>
              <a:srgbClr val="B84419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 flipV="1">
            <a:off x="1348388" y="13245951"/>
            <a:ext cx="83703" cy="11534"/>
          </a:xfrm>
          <a:prstGeom prst="line">
            <a:avLst/>
          </a:prstGeom>
          <a:noFill/>
          <a:ln w="21590">
            <a:solidFill>
              <a:srgbClr val="B84419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 flipV="1">
            <a:off x="1432091" y="13234315"/>
            <a:ext cx="83703" cy="11635"/>
          </a:xfrm>
          <a:prstGeom prst="line">
            <a:avLst/>
          </a:prstGeom>
          <a:noFill/>
          <a:ln w="21590">
            <a:solidFill>
              <a:srgbClr val="B84419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 flipV="1">
            <a:off x="1515794" y="13222571"/>
            <a:ext cx="83703" cy="11745"/>
          </a:xfrm>
          <a:prstGeom prst="line">
            <a:avLst/>
          </a:prstGeom>
          <a:noFill/>
          <a:ln w="21590">
            <a:solidFill>
              <a:srgbClr val="B84419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 flipV="1">
            <a:off x="1599497" y="13210708"/>
            <a:ext cx="83703" cy="11863"/>
          </a:xfrm>
          <a:prstGeom prst="line">
            <a:avLst/>
          </a:prstGeom>
          <a:noFill/>
          <a:ln w="21590">
            <a:solidFill>
              <a:srgbClr val="B84419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 flipV="1">
            <a:off x="1683199" y="13198718"/>
            <a:ext cx="83703" cy="11990"/>
          </a:xfrm>
          <a:prstGeom prst="line">
            <a:avLst/>
          </a:prstGeom>
          <a:noFill/>
          <a:ln w="21590">
            <a:solidFill>
              <a:srgbClr val="B84419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 flipV="1">
            <a:off x="1766902" y="13186591"/>
            <a:ext cx="83703" cy="12127"/>
          </a:xfrm>
          <a:prstGeom prst="line">
            <a:avLst/>
          </a:prstGeom>
          <a:noFill/>
          <a:ln w="21590">
            <a:solidFill>
              <a:srgbClr val="B84419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 flipV="1">
            <a:off x="1850605" y="13174318"/>
            <a:ext cx="83703" cy="12273"/>
          </a:xfrm>
          <a:prstGeom prst="line">
            <a:avLst/>
          </a:prstGeom>
          <a:noFill/>
          <a:ln w="21590">
            <a:solidFill>
              <a:srgbClr val="B84419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 flipV="1">
            <a:off x="1934308" y="13161887"/>
            <a:ext cx="83703" cy="12430"/>
          </a:xfrm>
          <a:prstGeom prst="line">
            <a:avLst/>
          </a:prstGeom>
          <a:noFill/>
          <a:ln w="21590">
            <a:solidFill>
              <a:srgbClr val="B84419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 flipV="1">
            <a:off x="2018010" y="13149289"/>
            <a:ext cx="83703" cy="12598"/>
          </a:xfrm>
          <a:prstGeom prst="line">
            <a:avLst/>
          </a:prstGeom>
          <a:noFill/>
          <a:ln w="21590">
            <a:solidFill>
              <a:srgbClr val="B84419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 flipV="1">
            <a:off x="2101713" y="13136512"/>
            <a:ext cx="83703" cy="12777"/>
          </a:xfrm>
          <a:prstGeom prst="line">
            <a:avLst/>
          </a:prstGeom>
          <a:noFill/>
          <a:ln w="21590">
            <a:solidFill>
              <a:srgbClr val="B84419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 flipV="1">
            <a:off x="2185416" y="13123544"/>
            <a:ext cx="83703" cy="12968"/>
          </a:xfrm>
          <a:prstGeom prst="line">
            <a:avLst/>
          </a:prstGeom>
          <a:noFill/>
          <a:ln w="21590">
            <a:solidFill>
              <a:srgbClr val="B84419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 flipV="1">
            <a:off x="2269119" y="13110373"/>
            <a:ext cx="83703" cy="13171"/>
          </a:xfrm>
          <a:prstGeom prst="line">
            <a:avLst/>
          </a:prstGeom>
          <a:noFill/>
          <a:ln w="21590">
            <a:solidFill>
              <a:srgbClr val="B84419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 flipV="1">
            <a:off x="2352822" y="13096986"/>
            <a:ext cx="83703" cy="13387"/>
          </a:xfrm>
          <a:prstGeom prst="line">
            <a:avLst/>
          </a:prstGeom>
          <a:noFill/>
          <a:ln w="21590">
            <a:solidFill>
              <a:srgbClr val="B84419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 flipV="1">
            <a:off x="2436524" y="13083369"/>
            <a:ext cx="83703" cy="13617"/>
          </a:xfrm>
          <a:prstGeom prst="line">
            <a:avLst/>
          </a:prstGeom>
          <a:noFill/>
          <a:ln w="21590">
            <a:solidFill>
              <a:srgbClr val="B84419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 flipV="1">
            <a:off x="2520227" y="13069507"/>
            <a:ext cx="83703" cy="13861"/>
          </a:xfrm>
          <a:prstGeom prst="line">
            <a:avLst/>
          </a:prstGeom>
          <a:noFill/>
          <a:ln w="21590">
            <a:solidFill>
              <a:srgbClr val="B84419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 flipV="1">
            <a:off x="2603930" y="13055386"/>
            <a:ext cx="83703" cy="14121"/>
          </a:xfrm>
          <a:prstGeom prst="line">
            <a:avLst/>
          </a:prstGeom>
          <a:noFill/>
          <a:ln w="21590">
            <a:solidFill>
              <a:srgbClr val="B84419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 flipV="1">
            <a:off x="2687633" y="13040989"/>
            <a:ext cx="83703" cy="14397"/>
          </a:xfrm>
          <a:prstGeom prst="line">
            <a:avLst/>
          </a:prstGeom>
          <a:noFill/>
          <a:ln w="21590">
            <a:solidFill>
              <a:srgbClr val="B84419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 flipV="1">
            <a:off x="2771335" y="13026299"/>
            <a:ext cx="83703" cy="14690"/>
          </a:xfrm>
          <a:prstGeom prst="line">
            <a:avLst/>
          </a:prstGeom>
          <a:noFill/>
          <a:ln w="21590">
            <a:solidFill>
              <a:srgbClr val="B84419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 flipV="1">
            <a:off x="2855038" y="13011297"/>
            <a:ext cx="83703" cy="15002"/>
          </a:xfrm>
          <a:prstGeom prst="line">
            <a:avLst/>
          </a:prstGeom>
          <a:noFill/>
          <a:ln w="21590">
            <a:solidFill>
              <a:srgbClr val="B84419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 flipV="1">
            <a:off x="2938741" y="12995965"/>
            <a:ext cx="83703" cy="15332"/>
          </a:xfrm>
          <a:prstGeom prst="line">
            <a:avLst/>
          </a:prstGeom>
          <a:noFill/>
          <a:ln w="21590">
            <a:solidFill>
              <a:srgbClr val="B84419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 flipV="1">
            <a:off x="3022444" y="12980281"/>
            <a:ext cx="83703" cy="15684"/>
          </a:xfrm>
          <a:prstGeom prst="line">
            <a:avLst/>
          </a:prstGeom>
          <a:noFill/>
          <a:ln w="21590">
            <a:solidFill>
              <a:srgbClr val="B84419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 flipV="1">
            <a:off x="3106146" y="12964223"/>
            <a:ext cx="83703" cy="16058"/>
          </a:xfrm>
          <a:prstGeom prst="line">
            <a:avLst/>
          </a:prstGeom>
          <a:noFill/>
          <a:ln w="21590">
            <a:solidFill>
              <a:srgbClr val="B84419"/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 flipV="1">
            <a:off x="3189849" y="12947768"/>
            <a:ext cx="83703" cy="16455"/>
          </a:xfrm>
          <a:prstGeom prst="line">
            <a:avLst/>
          </a:prstGeom>
          <a:noFill/>
          <a:ln w="21590">
            <a:solidFill>
              <a:srgbClr val="B84419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 flipV="1">
            <a:off x="3273552" y="12930890"/>
            <a:ext cx="83703" cy="16878"/>
          </a:xfrm>
          <a:prstGeom prst="line">
            <a:avLst/>
          </a:prstGeom>
          <a:noFill/>
          <a:ln w="21590">
            <a:solidFill>
              <a:srgbClr val="B84419"/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 flipV="1">
            <a:off x="3357255" y="12913562"/>
            <a:ext cx="83703" cy="17328"/>
          </a:xfrm>
          <a:prstGeom prst="line">
            <a:avLst/>
          </a:prstGeom>
          <a:noFill/>
          <a:ln w="21590">
            <a:solidFill>
              <a:srgbClr val="B84419"/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 flipV="1">
            <a:off x="3440958" y="12895755"/>
            <a:ext cx="83703" cy="17807"/>
          </a:xfrm>
          <a:prstGeom prst="line">
            <a:avLst/>
          </a:prstGeom>
          <a:noFill/>
          <a:ln w="21590">
            <a:solidFill>
              <a:srgbClr val="B84419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 flipV="1">
            <a:off x="3524660" y="12877438"/>
            <a:ext cx="83703" cy="18318"/>
          </a:xfrm>
          <a:prstGeom prst="line">
            <a:avLst/>
          </a:prstGeom>
          <a:noFill/>
          <a:ln w="21590">
            <a:solidFill>
              <a:srgbClr val="B84419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 flipV="1">
            <a:off x="3608363" y="12858576"/>
            <a:ext cx="83703" cy="18862"/>
          </a:xfrm>
          <a:prstGeom prst="line">
            <a:avLst/>
          </a:prstGeom>
          <a:noFill/>
          <a:ln w="21590">
            <a:solidFill>
              <a:srgbClr val="B84419"/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 flipV="1">
            <a:off x="3692066" y="12839132"/>
            <a:ext cx="83703" cy="19443"/>
          </a:xfrm>
          <a:prstGeom prst="line">
            <a:avLst/>
          </a:prstGeom>
          <a:noFill/>
          <a:ln w="21590">
            <a:solidFill>
              <a:srgbClr val="B84419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 flipV="1">
            <a:off x="3775769" y="12819068"/>
            <a:ext cx="83703" cy="20064"/>
          </a:xfrm>
          <a:prstGeom prst="line">
            <a:avLst/>
          </a:prstGeom>
          <a:noFill/>
          <a:ln w="21590">
            <a:solidFill>
              <a:srgbClr val="B84419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 flipV="1">
            <a:off x="3859471" y="12798340"/>
            <a:ext cx="83703" cy="20728"/>
          </a:xfrm>
          <a:prstGeom prst="line">
            <a:avLst/>
          </a:prstGeom>
          <a:noFill/>
          <a:ln w="21590">
            <a:solidFill>
              <a:srgbClr val="B84419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 flipV="1">
            <a:off x="3943174" y="12776901"/>
            <a:ext cx="83703" cy="21439"/>
          </a:xfrm>
          <a:prstGeom prst="line">
            <a:avLst/>
          </a:prstGeom>
          <a:noFill/>
          <a:ln w="21590">
            <a:solidFill>
              <a:srgbClr val="B84419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 flipV="1">
            <a:off x="4026877" y="12754700"/>
            <a:ext cx="83703" cy="22201"/>
          </a:xfrm>
          <a:prstGeom prst="line">
            <a:avLst/>
          </a:prstGeom>
          <a:noFill/>
          <a:ln w="21590">
            <a:solidFill>
              <a:srgbClr val="B84419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 flipV="1">
            <a:off x="4110580" y="12731682"/>
            <a:ext cx="83703" cy="23018"/>
          </a:xfrm>
          <a:prstGeom prst="line">
            <a:avLst/>
          </a:prstGeom>
          <a:noFill/>
          <a:ln w="21590">
            <a:solidFill>
              <a:srgbClr val="B84419"/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 flipV="1">
            <a:off x="4194282" y="12707786"/>
            <a:ext cx="83703" cy="23896"/>
          </a:xfrm>
          <a:prstGeom prst="line">
            <a:avLst/>
          </a:prstGeom>
          <a:noFill/>
          <a:ln w="21590">
            <a:solidFill>
              <a:srgbClr val="B84419"/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 flipV="1">
            <a:off x="4277985" y="12682944"/>
            <a:ext cx="83703" cy="24841"/>
          </a:xfrm>
          <a:prstGeom prst="line">
            <a:avLst/>
          </a:prstGeom>
          <a:noFill/>
          <a:ln w="21590">
            <a:solidFill>
              <a:srgbClr val="B84419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 flipV="1">
            <a:off x="4361688" y="12657085"/>
            <a:ext cx="83703" cy="25859"/>
          </a:xfrm>
          <a:prstGeom prst="line">
            <a:avLst/>
          </a:prstGeom>
          <a:noFill/>
          <a:ln w="21590">
            <a:solidFill>
              <a:srgbClr val="B84419"/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 flipV="1">
            <a:off x="4445391" y="12630128"/>
            <a:ext cx="83703" cy="26958"/>
          </a:xfrm>
          <a:prstGeom prst="line">
            <a:avLst/>
          </a:prstGeom>
          <a:noFill/>
          <a:ln w="21590">
            <a:solidFill>
              <a:srgbClr val="B84419"/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 flipV="1">
            <a:off x="4529094" y="12601982"/>
            <a:ext cx="83703" cy="28146"/>
          </a:xfrm>
          <a:prstGeom prst="line">
            <a:avLst/>
          </a:prstGeom>
          <a:noFill/>
          <a:ln w="21590">
            <a:solidFill>
              <a:srgbClr val="B84419"/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 flipV="1">
            <a:off x="4612796" y="12572550"/>
            <a:ext cx="83703" cy="29432"/>
          </a:xfrm>
          <a:prstGeom prst="line">
            <a:avLst/>
          </a:prstGeom>
          <a:noFill/>
          <a:ln w="21590">
            <a:solidFill>
              <a:srgbClr val="B84419"/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 flipV="1">
            <a:off x="4696499" y="12541722"/>
            <a:ext cx="83703" cy="30828"/>
          </a:xfrm>
          <a:prstGeom prst="line">
            <a:avLst/>
          </a:prstGeom>
          <a:noFill/>
          <a:ln w="21590">
            <a:solidFill>
              <a:srgbClr val="B84419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 flipV="1">
            <a:off x="4780202" y="12509377"/>
            <a:ext cx="83703" cy="32346"/>
          </a:xfrm>
          <a:prstGeom prst="line">
            <a:avLst/>
          </a:prstGeom>
          <a:noFill/>
          <a:ln w="21590">
            <a:solidFill>
              <a:srgbClr val="B84419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 flipV="1">
            <a:off x="4863905" y="12475377"/>
            <a:ext cx="83703" cy="33999"/>
          </a:xfrm>
          <a:prstGeom prst="line">
            <a:avLst/>
          </a:prstGeom>
          <a:noFill/>
          <a:ln w="21590">
            <a:solidFill>
              <a:srgbClr val="B84419"/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 flipV="1">
            <a:off x="4947607" y="12439571"/>
            <a:ext cx="83703" cy="35806"/>
          </a:xfrm>
          <a:prstGeom prst="line">
            <a:avLst/>
          </a:prstGeom>
          <a:noFill/>
          <a:ln w="21590">
            <a:solidFill>
              <a:srgbClr val="B84419"/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 flipV="1">
            <a:off x="5031310" y="12401788"/>
            <a:ext cx="83703" cy="37784"/>
          </a:xfrm>
          <a:prstGeom prst="line">
            <a:avLst/>
          </a:prstGeom>
          <a:noFill/>
          <a:ln w="21590">
            <a:solidFill>
              <a:srgbClr val="B84419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 flipV="1">
            <a:off x="5115013" y="12361832"/>
            <a:ext cx="83703" cy="39955"/>
          </a:xfrm>
          <a:prstGeom prst="line">
            <a:avLst/>
          </a:prstGeom>
          <a:noFill/>
          <a:ln w="21590">
            <a:solidFill>
              <a:srgbClr val="B84419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 flipV="1">
            <a:off x="5198716" y="12319486"/>
            <a:ext cx="83703" cy="42346"/>
          </a:xfrm>
          <a:prstGeom prst="line">
            <a:avLst/>
          </a:prstGeom>
          <a:noFill/>
          <a:ln w="21590">
            <a:solidFill>
              <a:srgbClr val="B84419"/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 flipV="1">
            <a:off x="5282418" y="12274499"/>
            <a:ext cx="83703" cy="44987"/>
          </a:xfrm>
          <a:prstGeom prst="line">
            <a:avLst/>
          </a:prstGeom>
          <a:noFill/>
          <a:ln w="21590">
            <a:solidFill>
              <a:srgbClr val="B84419"/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 flipV="1">
            <a:off x="5366121" y="12226588"/>
            <a:ext cx="83703" cy="47912"/>
          </a:xfrm>
          <a:prstGeom prst="line">
            <a:avLst/>
          </a:prstGeom>
          <a:noFill/>
          <a:ln w="21590">
            <a:solidFill>
              <a:srgbClr val="B84419"/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 flipV="1">
            <a:off x="5449824" y="12175423"/>
            <a:ext cx="83703" cy="51164"/>
          </a:xfrm>
          <a:prstGeom prst="line">
            <a:avLst/>
          </a:prstGeom>
          <a:noFill/>
          <a:ln w="21590">
            <a:solidFill>
              <a:srgbClr val="B84419"/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 flipV="1">
            <a:off x="5533527" y="12120629"/>
            <a:ext cx="83703" cy="54794"/>
          </a:xfrm>
          <a:prstGeom prst="line">
            <a:avLst/>
          </a:prstGeom>
          <a:noFill/>
          <a:ln w="21590">
            <a:solidFill>
              <a:srgbClr val="B84419"/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 flipV="1">
            <a:off x="5617230" y="12061767"/>
            <a:ext cx="83703" cy="58862"/>
          </a:xfrm>
          <a:prstGeom prst="line">
            <a:avLst/>
          </a:prstGeom>
          <a:noFill/>
          <a:ln w="21590">
            <a:solidFill>
              <a:srgbClr val="B84419"/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 flipV="1">
            <a:off x="5700932" y="11998327"/>
            <a:ext cx="83703" cy="63440"/>
          </a:xfrm>
          <a:prstGeom prst="line">
            <a:avLst/>
          </a:prstGeom>
          <a:noFill/>
          <a:ln w="21590">
            <a:solidFill>
              <a:srgbClr val="B84419"/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 flipV="1">
            <a:off x="5784635" y="11929710"/>
            <a:ext cx="83703" cy="68617"/>
          </a:xfrm>
          <a:prstGeom prst="line">
            <a:avLst/>
          </a:prstGeom>
          <a:noFill/>
          <a:ln w="21590">
            <a:solidFill>
              <a:srgbClr val="B84419"/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 flipV="1">
            <a:off x="5868338" y="11855207"/>
            <a:ext cx="83703" cy="74502"/>
          </a:xfrm>
          <a:prstGeom prst="line">
            <a:avLst/>
          </a:prstGeom>
          <a:noFill/>
          <a:ln w="21590">
            <a:solidFill>
              <a:srgbClr val="B84419"/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 flipV="1">
            <a:off x="5952041" y="11773977"/>
            <a:ext cx="83703" cy="81231"/>
          </a:xfrm>
          <a:prstGeom prst="line">
            <a:avLst/>
          </a:prstGeom>
          <a:noFill/>
          <a:ln w="21590">
            <a:solidFill>
              <a:srgbClr val="B84419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 flipV="1">
            <a:off x="6035743" y="11685007"/>
            <a:ext cx="83703" cy="88970"/>
          </a:xfrm>
          <a:prstGeom prst="line">
            <a:avLst/>
          </a:prstGeom>
          <a:noFill/>
          <a:ln w="21590">
            <a:solidFill>
              <a:srgbClr val="B84419"/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 flipV="1">
            <a:off x="6119446" y="11587074"/>
            <a:ext cx="83703" cy="97933"/>
          </a:xfrm>
          <a:prstGeom prst="line">
            <a:avLst/>
          </a:prstGeom>
          <a:noFill/>
          <a:ln w="21590">
            <a:solidFill>
              <a:srgbClr val="B84419"/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 flipV="1">
            <a:off x="6203149" y="11478681"/>
            <a:ext cx="83703" cy="108393"/>
          </a:xfrm>
          <a:prstGeom prst="line">
            <a:avLst/>
          </a:prstGeom>
          <a:noFill/>
          <a:ln w="21590">
            <a:solidFill>
              <a:srgbClr val="B84419"/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 flipV="1">
            <a:off x="6286852" y="11357981"/>
            <a:ext cx="83703" cy="120700"/>
          </a:xfrm>
          <a:prstGeom prst="line">
            <a:avLst/>
          </a:prstGeom>
          <a:noFill/>
          <a:ln w="21590">
            <a:solidFill>
              <a:srgbClr val="B84419"/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 flipV="1">
            <a:off x="6370554" y="11222665"/>
            <a:ext cx="83703" cy="135316"/>
          </a:xfrm>
          <a:prstGeom prst="line">
            <a:avLst/>
          </a:prstGeom>
          <a:noFill/>
          <a:ln w="21590">
            <a:solidFill>
              <a:srgbClr val="B84419"/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 flipV="1">
            <a:off x="6454257" y="11069806"/>
            <a:ext cx="83703" cy="152859"/>
          </a:xfrm>
          <a:prstGeom prst="line">
            <a:avLst/>
          </a:prstGeom>
          <a:noFill/>
          <a:ln w="21590">
            <a:solidFill>
              <a:srgbClr val="B84419"/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 flipV="1">
            <a:off x="1097280" y="13394453"/>
            <a:ext cx="83703" cy="677"/>
          </a:xfrm>
          <a:prstGeom prst="line">
            <a:avLst/>
          </a:prstGeom>
          <a:noFill/>
          <a:ln w="21590">
            <a:solidFill>
              <a:srgbClr val="321B40"/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 flipV="1">
            <a:off x="1180983" y="13393772"/>
            <a:ext cx="83703" cy="681"/>
          </a:xfrm>
          <a:prstGeom prst="line">
            <a:avLst/>
          </a:prstGeom>
          <a:noFill/>
          <a:ln w="21590">
            <a:solidFill>
              <a:srgbClr val="321B40"/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 flipV="1">
            <a:off x="1264686" y="13393085"/>
            <a:ext cx="83703" cy="687"/>
          </a:xfrm>
          <a:prstGeom prst="line">
            <a:avLst/>
          </a:prstGeom>
          <a:noFill/>
          <a:ln w="21590">
            <a:solidFill>
              <a:srgbClr val="321B40"/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 flipV="1">
            <a:off x="1348388" y="13392393"/>
            <a:ext cx="83703" cy="692"/>
          </a:xfrm>
          <a:prstGeom prst="line">
            <a:avLst/>
          </a:prstGeom>
          <a:noFill/>
          <a:ln w="21590">
            <a:solidFill>
              <a:srgbClr val="321B40"/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 flipV="1">
            <a:off x="1432091" y="13391695"/>
            <a:ext cx="83703" cy="698"/>
          </a:xfrm>
          <a:prstGeom prst="line">
            <a:avLst/>
          </a:prstGeom>
          <a:noFill/>
          <a:ln w="21590">
            <a:solidFill>
              <a:srgbClr val="321B40"/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 flipV="1">
            <a:off x="1515794" y="13390990"/>
            <a:ext cx="83703" cy="705"/>
          </a:xfrm>
          <a:prstGeom prst="line">
            <a:avLst/>
          </a:prstGeom>
          <a:noFill/>
          <a:ln w="21590">
            <a:solidFill>
              <a:srgbClr val="321B40"/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 flipV="1">
            <a:off x="1599497" y="13390279"/>
            <a:ext cx="83703" cy="712"/>
          </a:xfrm>
          <a:prstGeom prst="line">
            <a:avLst/>
          </a:prstGeom>
          <a:noFill/>
          <a:ln w="21590">
            <a:solidFill>
              <a:srgbClr val="321B40"/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 flipV="1">
            <a:off x="1683199" y="13389559"/>
            <a:ext cx="83703" cy="719"/>
          </a:xfrm>
          <a:prstGeom prst="line">
            <a:avLst/>
          </a:prstGeom>
          <a:noFill/>
          <a:ln w="21590">
            <a:solidFill>
              <a:srgbClr val="321B40"/>
            </a:solidFill>
            <a:prstDash val="solid"/>
          </a:ln>
        </p:spPr>
      </p:sp>
      <p:sp>
        <p:nvSpPr>
          <p:cNvPr id="157" name="Shape 154"/>
          <p:cNvSpPr/>
          <p:nvPr/>
        </p:nvSpPr>
        <p:spPr>
          <a:xfrm flipV="1">
            <a:off x="1766902" y="13388832"/>
            <a:ext cx="83703" cy="728"/>
          </a:xfrm>
          <a:prstGeom prst="line">
            <a:avLst/>
          </a:prstGeom>
          <a:noFill/>
          <a:ln w="21590">
            <a:solidFill>
              <a:srgbClr val="321B40"/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 flipV="1">
            <a:off x="1850605" y="13388095"/>
            <a:ext cx="83703" cy="736"/>
          </a:xfrm>
          <a:prstGeom prst="line">
            <a:avLst/>
          </a:prstGeom>
          <a:noFill/>
          <a:ln w="21590">
            <a:solidFill>
              <a:srgbClr val="321B40"/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 flipV="1">
            <a:off x="1934308" y="13387349"/>
            <a:ext cx="83703" cy="746"/>
          </a:xfrm>
          <a:prstGeom prst="line">
            <a:avLst/>
          </a:prstGeom>
          <a:noFill/>
          <a:ln w="21590">
            <a:solidFill>
              <a:srgbClr val="321B40"/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 flipV="1">
            <a:off x="2018010" y="13386594"/>
            <a:ext cx="83703" cy="756"/>
          </a:xfrm>
          <a:prstGeom prst="line">
            <a:avLst/>
          </a:prstGeom>
          <a:noFill/>
          <a:ln w="21590">
            <a:solidFill>
              <a:srgbClr val="321B40"/>
            </a:solidFill>
            <a:prstDash val="solid"/>
          </a:ln>
        </p:spPr>
      </p:sp>
      <p:sp>
        <p:nvSpPr>
          <p:cNvPr id="161" name="Shape 158"/>
          <p:cNvSpPr/>
          <p:nvPr/>
        </p:nvSpPr>
        <p:spPr>
          <a:xfrm flipV="1">
            <a:off x="2101713" y="13385827"/>
            <a:ext cx="83703" cy="767"/>
          </a:xfrm>
          <a:prstGeom prst="line">
            <a:avLst/>
          </a:prstGeom>
          <a:noFill/>
          <a:ln w="21590">
            <a:solidFill>
              <a:srgbClr val="321B40"/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 flipV="1">
            <a:off x="2185416" y="13385049"/>
            <a:ext cx="83703" cy="778"/>
          </a:xfrm>
          <a:prstGeom prst="line">
            <a:avLst/>
          </a:prstGeom>
          <a:noFill/>
          <a:ln w="21590">
            <a:solidFill>
              <a:srgbClr val="321B40"/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 flipV="1">
            <a:off x="2269119" y="13384259"/>
            <a:ext cx="83703" cy="790"/>
          </a:xfrm>
          <a:prstGeom prst="line">
            <a:avLst/>
          </a:prstGeom>
          <a:noFill/>
          <a:ln w="21590">
            <a:solidFill>
              <a:srgbClr val="321B40"/>
            </a:solidFill>
            <a:prstDash val="solid"/>
          </a:ln>
        </p:spPr>
      </p:sp>
      <p:sp>
        <p:nvSpPr>
          <p:cNvPr id="164" name="Shape 161"/>
          <p:cNvSpPr/>
          <p:nvPr/>
        </p:nvSpPr>
        <p:spPr>
          <a:xfrm flipV="1">
            <a:off x="2352822" y="13383455"/>
            <a:ext cx="83703" cy="803"/>
          </a:xfrm>
          <a:prstGeom prst="line">
            <a:avLst/>
          </a:prstGeom>
          <a:noFill/>
          <a:ln w="21590">
            <a:solidFill>
              <a:srgbClr val="321B40"/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 flipV="1">
            <a:off x="2436524" y="13382638"/>
            <a:ext cx="83703" cy="817"/>
          </a:xfrm>
          <a:prstGeom prst="line">
            <a:avLst/>
          </a:prstGeom>
          <a:noFill/>
          <a:ln w="21590">
            <a:solidFill>
              <a:srgbClr val="321B40"/>
            </a:solidFill>
            <a:prstDash val="solid"/>
          </a:ln>
        </p:spPr>
      </p:sp>
      <p:sp>
        <p:nvSpPr>
          <p:cNvPr id="166" name="Shape 163"/>
          <p:cNvSpPr/>
          <p:nvPr/>
        </p:nvSpPr>
        <p:spPr>
          <a:xfrm flipV="1">
            <a:off x="2520227" y="13381807"/>
            <a:ext cx="83703" cy="832"/>
          </a:xfrm>
          <a:prstGeom prst="line">
            <a:avLst/>
          </a:prstGeom>
          <a:noFill/>
          <a:ln w="21590">
            <a:solidFill>
              <a:srgbClr val="321B40"/>
            </a:solidFill>
            <a:prstDash val="solid"/>
          </a:ln>
        </p:spPr>
      </p:sp>
      <p:sp>
        <p:nvSpPr>
          <p:cNvPr id="167" name="Shape 164"/>
          <p:cNvSpPr/>
          <p:nvPr/>
        </p:nvSpPr>
        <p:spPr>
          <a:xfrm flipV="1">
            <a:off x="2603930" y="13380959"/>
            <a:ext cx="83703" cy="847"/>
          </a:xfrm>
          <a:prstGeom prst="line">
            <a:avLst/>
          </a:prstGeom>
          <a:noFill/>
          <a:ln w="21590">
            <a:solidFill>
              <a:srgbClr val="321B40"/>
            </a:solidFill>
            <a:prstDash val="solid"/>
          </a:ln>
        </p:spPr>
      </p:sp>
      <p:sp>
        <p:nvSpPr>
          <p:cNvPr id="168" name="Shape 165"/>
          <p:cNvSpPr/>
          <p:nvPr/>
        </p:nvSpPr>
        <p:spPr>
          <a:xfrm flipV="1">
            <a:off x="2687633" y="13380096"/>
            <a:ext cx="83703" cy="864"/>
          </a:xfrm>
          <a:prstGeom prst="line">
            <a:avLst/>
          </a:prstGeom>
          <a:noFill/>
          <a:ln w="21590">
            <a:solidFill>
              <a:srgbClr val="321B40"/>
            </a:solidFill>
            <a:prstDash val="solid"/>
          </a:ln>
        </p:spPr>
      </p:sp>
      <p:sp>
        <p:nvSpPr>
          <p:cNvPr id="169" name="Shape 166"/>
          <p:cNvSpPr/>
          <p:nvPr/>
        </p:nvSpPr>
        <p:spPr>
          <a:xfrm flipV="1">
            <a:off x="2771335" y="13379214"/>
            <a:ext cx="83703" cy="881"/>
          </a:xfrm>
          <a:prstGeom prst="line">
            <a:avLst/>
          </a:prstGeom>
          <a:noFill/>
          <a:ln w="21590">
            <a:solidFill>
              <a:srgbClr val="321B40"/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 flipV="1">
            <a:off x="2855038" y="13378314"/>
            <a:ext cx="83703" cy="900"/>
          </a:xfrm>
          <a:prstGeom prst="line">
            <a:avLst/>
          </a:prstGeom>
          <a:noFill/>
          <a:ln w="21590">
            <a:solidFill>
              <a:srgbClr val="321B40"/>
            </a:solidFill>
            <a:prstDash val="solid"/>
          </a:ln>
        </p:spPr>
      </p:sp>
      <p:sp>
        <p:nvSpPr>
          <p:cNvPr id="171" name="Shape 168"/>
          <p:cNvSpPr/>
          <p:nvPr/>
        </p:nvSpPr>
        <p:spPr>
          <a:xfrm flipV="1">
            <a:off x="2938741" y="13377394"/>
            <a:ext cx="83703" cy="920"/>
          </a:xfrm>
          <a:prstGeom prst="line">
            <a:avLst/>
          </a:prstGeom>
          <a:noFill/>
          <a:ln w="21590">
            <a:solidFill>
              <a:srgbClr val="321B40"/>
            </a:solidFill>
            <a:prstDash val="solid"/>
          </a:ln>
        </p:spPr>
      </p:sp>
      <p:sp>
        <p:nvSpPr>
          <p:cNvPr id="172" name="Shape 169"/>
          <p:cNvSpPr/>
          <p:nvPr/>
        </p:nvSpPr>
        <p:spPr>
          <a:xfrm flipV="1">
            <a:off x="3022444" y="13376453"/>
            <a:ext cx="83703" cy="941"/>
          </a:xfrm>
          <a:prstGeom prst="line">
            <a:avLst/>
          </a:prstGeom>
          <a:noFill/>
          <a:ln w="21590">
            <a:solidFill>
              <a:srgbClr val="321B40"/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 flipV="1">
            <a:off x="3106146" y="13375490"/>
            <a:ext cx="83703" cy="963"/>
          </a:xfrm>
          <a:prstGeom prst="line">
            <a:avLst/>
          </a:prstGeom>
          <a:noFill/>
          <a:ln w="21590">
            <a:solidFill>
              <a:srgbClr val="321B40"/>
            </a:solidFill>
            <a:prstDash val="solid"/>
          </a:ln>
        </p:spPr>
      </p:sp>
      <p:sp>
        <p:nvSpPr>
          <p:cNvPr id="174" name="Shape 171"/>
          <p:cNvSpPr/>
          <p:nvPr/>
        </p:nvSpPr>
        <p:spPr>
          <a:xfrm flipV="1">
            <a:off x="3189849" y="13374502"/>
            <a:ext cx="83703" cy="987"/>
          </a:xfrm>
          <a:prstGeom prst="line">
            <a:avLst/>
          </a:prstGeom>
          <a:noFill/>
          <a:ln w="21590">
            <a:solidFill>
              <a:srgbClr val="321B40"/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 flipV="1">
            <a:off x="3273552" y="13373490"/>
            <a:ext cx="83703" cy="1013"/>
          </a:xfrm>
          <a:prstGeom prst="line">
            <a:avLst/>
          </a:prstGeom>
          <a:noFill/>
          <a:ln w="21590">
            <a:solidFill>
              <a:srgbClr val="321B40"/>
            </a:solidFill>
            <a:prstDash val="solid"/>
          </a:ln>
        </p:spPr>
      </p:sp>
      <p:sp>
        <p:nvSpPr>
          <p:cNvPr id="176" name="Shape 173"/>
          <p:cNvSpPr/>
          <p:nvPr/>
        </p:nvSpPr>
        <p:spPr>
          <a:xfrm flipV="1">
            <a:off x="3357255" y="13372450"/>
            <a:ext cx="83703" cy="1040"/>
          </a:xfrm>
          <a:prstGeom prst="line">
            <a:avLst/>
          </a:prstGeom>
          <a:noFill/>
          <a:ln w="21590">
            <a:solidFill>
              <a:srgbClr val="321B40"/>
            </a:solidFill>
            <a:prstDash val="solid"/>
          </a:ln>
        </p:spPr>
      </p:sp>
      <p:sp>
        <p:nvSpPr>
          <p:cNvPr id="177" name="Shape 174"/>
          <p:cNvSpPr/>
          <p:nvPr/>
        </p:nvSpPr>
        <p:spPr>
          <a:xfrm flipV="1">
            <a:off x="3440958" y="13371382"/>
            <a:ext cx="83703" cy="1068"/>
          </a:xfrm>
          <a:prstGeom prst="line">
            <a:avLst/>
          </a:prstGeom>
          <a:noFill/>
          <a:ln w="21590">
            <a:solidFill>
              <a:srgbClr val="321B40"/>
            </a:solidFill>
            <a:prstDash val="solid"/>
          </a:ln>
        </p:spPr>
      </p:sp>
      <p:sp>
        <p:nvSpPr>
          <p:cNvPr id="178" name="Shape 175"/>
          <p:cNvSpPr/>
          <p:nvPr/>
        </p:nvSpPr>
        <p:spPr>
          <a:xfrm flipV="1">
            <a:off x="3524660" y="13370283"/>
            <a:ext cx="83703" cy="1099"/>
          </a:xfrm>
          <a:prstGeom prst="line">
            <a:avLst/>
          </a:prstGeom>
          <a:noFill/>
          <a:ln w="21590">
            <a:solidFill>
              <a:srgbClr val="321B40"/>
            </a:solidFill>
            <a:prstDash val="solid"/>
          </a:ln>
        </p:spPr>
      </p:sp>
      <p:sp>
        <p:nvSpPr>
          <p:cNvPr id="179" name="Shape 176"/>
          <p:cNvSpPr/>
          <p:nvPr/>
        </p:nvSpPr>
        <p:spPr>
          <a:xfrm flipV="1">
            <a:off x="3608363" y="13369151"/>
            <a:ext cx="83703" cy="1132"/>
          </a:xfrm>
          <a:prstGeom prst="line">
            <a:avLst/>
          </a:prstGeom>
          <a:noFill/>
          <a:ln w="21590">
            <a:solidFill>
              <a:srgbClr val="321B40"/>
            </a:solidFill>
            <a:prstDash val="solid"/>
          </a:ln>
        </p:spPr>
      </p:sp>
      <p:sp>
        <p:nvSpPr>
          <p:cNvPr id="180" name="Shape 177"/>
          <p:cNvSpPr/>
          <p:nvPr/>
        </p:nvSpPr>
        <p:spPr>
          <a:xfrm flipV="1">
            <a:off x="3692066" y="13367984"/>
            <a:ext cx="83703" cy="1167"/>
          </a:xfrm>
          <a:prstGeom prst="line">
            <a:avLst/>
          </a:prstGeom>
          <a:noFill/>
          <a:ln w="21590">
            <a:solidFill>
              <a:srgbClr val="321B40"/>
            </a:solidFill>
            <a:prstDash val="solid"/>
          </a:ln>
        </p:spPr>
      </p:sp>
      <p:sp>
        <p:nvSpPr>
          <p:cNvPr id="181" name="Shape 178"/>
          <p:cNvSpPr/>
          <p:nvPr/>
        </p:nvSpPr>
        <p:spPr>
          <a:xfrm flipV="1">
            <a:off x="3775769" y="13366780"/>
            <a:ext cx="83703" cy="1204"/>
          </a:xfrm>
          <a:prstGeom prst="line">
            <a:avLst/>
          </a:prstGeom>
          <a:noFill/>
          <a:ln w="21590">
            <a:solidFill>
              <a:srgbClr val="321B40"/>
            </a:solidFill>
            <a:prstDash val="solid"/>
          </a:ln>
        </p:spPr>
      </p:sp>
      <p:sp>
        <p:nvSpPr>
          <p:cNvPr id="182" name="Shape 179"/>
          <p:cNvSpPr/>
          <p:nvPr/>
        </p:nvSpPr>
        <p:spPr>
          <a:xfrm flipV="1">
            <a:off x="3859471" y="13365537"/>
            <a:ext cx="83703" cy="1244"/>
          </a:xfrm>
          <a:prstGeom prst="line">
            <a:avLst/>
          </a:prstGeom>
          <a:noFill/>
          <a:ln w="21590">
            <a:solidFill>
              <a:srgbClr val="321B40"/>
            </a:solidFill>
            <a:prstDash val="solid"/>
          </a:ln>
        </p:spPr>
      </p:sp>
      <p:sp>
        <p:nvSpPr>
          <p:cNvPr id="183" name="Shape 180"/>
          <p:cNvSpPr/>
          <p:nvPr/>
        </p:nvSpPr>
        <p:spPr>
          <a:xfrm flipV="1">
            <a:off x="3943174" y="13364250"/>
            <a:ext cx="83703" cy="1286"/>
          </a:xfrm>
          <a:prstGeom prst="line">
            <a:avLst/>
          </a:prstGeom>
          <a:noFill/>
          <a:ln w="21590">
            <a:solidFill>
              <a:srgbClr val="321B40"/>
            </a:solidFill>
            <a:prstDash val="solid"/>
          </a:ln>
        </p:spPr>
      </p:sp>
      <p:sp>
        <p:nvSpPr>
          <p:cNvPr id="184" name="Shape 181"/>
          <p:cNvSpPr/>
          <p:nvPr/>
        </p:nvSpPr>
        <p:spPr>
          <a:xfrm flipV="1">
            <a:off x="4026877" y="13362918"/>
            <a:ext cx="83703" cy="1332"/>
          </a:xfrm>
          <a:prstGeom prst="line">
            <a:avLst/>
          </a:prstGeom>
          <a:noFill/>
          <a:ln w="21590">
            <a:solidFill>
              <a:srgbClr val="321B40"/>
            </a:solidFill>
            <a:prstDash val="solid"/>
          </a:ln>
        </p:spPr>
      </p:sp>
      <p:sp>
        <p:nvSpPr>
          <p:cNvPr id="185" name="Shape 182"/>
          <p:cNvSpPr/>
          <p:nvPr/>
        </p:nvSpPr>
        <p:spPr>
          <a:xfrm flipV="1">
            <a:off x="4110580" y="13361537"/>
            <a:ext cx="83703" cy="1381"/>
          </a:xfrm>
          <a:prstGeom prst="line">
            <a:avLst/>
          </a:prstGeom>
          <a:noFill/>
          <a:ln w="21590">
            <a:solidFill>
              <a:srgbClr val="321B40"/>
            </a:solidFill>
            <a:prstDash val="solid"/>
          </a:ln>
        </p:spPr>
      </p:sp>
      <p:sp>
        <p:nvSpPr>
          <p:cNvPr id="186" name="Shape 183"/>
          <p:cNvSpPr/>
          <p:nvPr/>
        </p:nvSpPr>
        <p:spPr>
          <a:xfrm flipV="1">
            <a:off x="4194282" y="13360103"/>
            <a:ext cx="83703" cy="1434"/>
          </a:xfrm>
          <a:prstGeom prst="line">
            <a:avLst/>
          </a:prstGeom>
          <a:noFill/>
          <a:ln w="21590">
            <a:solidFill>
              <a:srgbClr val="321B40"/>
            </a:solidFill>
            <a:prstDash val="solid"/>
          </a:ln>
        </p:spPr>
      </p:sp>
      <p:sp>
        <p:nvSpPr>
          <p:cNvPr id="187" name="Shape 184"/>
          <p:cNvSpPr/>
          <p:nvPr/>
        </p:nvSpPr>
        <p:spPr>
          <a:xfrm flipV="1">
            <a:off x="4277985" y="13358613"/>
            <a:ext cx="83703" cy="1490"/>
          </a:xfrm>
          <a:prstGeom prst="line">
            <a:avLst/>
          </a:prstGeom>
          <a:noFill/>
          <a:ln w="21590">
            <a:solidFill>
              <a:srgbClr val="321B40"/>
            </a:solidFill>
            <a:prstDash val="solid"/>
          </a:ln>
        </p:spPr>
      </p:sp>
      <p:sp>
        <p:nvSpPr>
          <p:cNvPr id="188" name="Shape 185"/>
          <p:cNvSpPr/>
          <p:nvPr/>
        </p:nvSpPr>
        <p:spPr>
          <a:xfrm flipV="1">
            <a:off x="4361688" y="13357061"/>
            <a:ext cx="83703" cy="1552"/>
          </a:xfrm>
          <a:prstGeom prst="line">
            <a:avLst/>
          </a:prstGeom>
          <a:noFill/>
          <a:ln w="21590">
            <a:solidFill>
              <a:srgbClr val="321B40"/>
            </a:solidFill>
            <a:prstDash val="solid"/>
          </a:ln>
        </p:spPr>
      </p:sp>
      <p:sp>
        <p:nvSpPr>
          <p:cNvPr id="189" name="Shape 186"/>
          <p:cNvSpPr/>
          <p:nvPr/>
        </p:nvSpPr>
        <p:spPr>
          <a:xfrm flipV="1">
            <a:off x="4445391" y="13355444"/>
            <a:ext cx="83703" cy="1617"/>
          </a:xfrm>
          <a:prstGeom prst="line">
            <a:avLst/>
          </a:prstGeom>
          <a:noFill/>
          <a:ln w="21590">
            <a:solidFill>
              <a:srgbClr val="321B40"/>
            </a:solidFill>
            <a:prstDash val="solid"/>
          </a:ln>
        </p:spPr>
      </p:sp>
      <p:sp>
        <p:nvSpPr>
          <p:cNvPr id="190" name="Shape 187"/>
          <p:cNvSpPr/>
          <p:nvPr/>
        </p:nvSpPr>
        <p:spPr>
          <a:xfrm flipV="1">
            <a:off x="4529094" y="13353755"/>
            <a:ext cx="83703" cy="1689"/>
          </a:xfrm>
          <a:prstGeom prst="line">
            <a:avLst/>
          </a:prstGeom>
          <a:noFill/>
          <a:ln w="21590">
            <a:solidFill>
              <a:srgbClr val="321B40"/>
            </a:solidFill>
            <a:prstDash val="solid"/>
          </a:ln>
        </p:spPr>
      </p:sp>
      <p:sp>
        <p:nvSpPr>
          <p:cNvPr id="191" name="Shape 188"/>
          <p:cNvSpPr/>
          <p:nvPr/>
        </p:nvSpPr>
        <p:spPr>
          <a:xfrm flipV="1">
            <a:off x="4612796" y="13351989"/>
            <a:ext cx="83703" cy="1766"/>
          </a:xfrm>
          <a:prstGeom prst="line">
            <a:avLst/>
          </a:prstGeom>
          <a:noFill/>
          <a:ln w="21590">
            <a:solidFill>
              <a:srgbClr val="321B40"/>
            </a:solidFill>
            <a:prstDash val="solid"/>
          </a:ln>
        </p:spPr>
      </p:sp>
      <p:sp>
        <p:nvSpPr>
          <p:cNvPr id="192" name="Shape 189"/>
          <p:cNvSpPr/>
          <p:nvPr/>
        </p:nvSpPr>
        <p:spPr>
          <a:xfrm flipV="1">
            <a:off x="4696499" y="13350140"/>
            <a:ext cx="83703" cy="1850"/>
          </a:xfrm>
          <a:prstGeom prst="line">
            <a:avLst/>
          </a:prstGeom>
          <a:noFill/>
          <a:ln w="21590">
            <a:solidFill>
              <a:srgbClr val="321B40"/>
            </a:solidFill>
            <a:prstDash val="solid"/>
          </a:ln>
        </p:spPr>
      </p:sp>
      <p:sp>
        <p:nvSpPr>
          <p:cNvPr id="193" name="Shape 190"/>
          <p:cNvSpPr/>
          <p:nvPr/>
        </p:nvSpPr>
        <p:spPr>
          <a:xfrm flipV="1">
            <a:off x="4780202" y="13348199"/>
            <a:ext cx="83703" cy="1941"/>
          </a:xfrm>
          <a:prstGeom prst="line">
            <a:avLst/>
          </a:prstGeom>
          <a:noFill/>
          <a:ln w="21590">
            <a:solidFill>
              <a:srgbClr val="321B40"/>
            </a:solidFill>
            <a:prstDash val="solid"/>
          </a:ln>
        </p:spPr>
      </p:sp>
      <p:sp>
        <p:nvSpPr>
          <p:cNvPr id="194" name="Shape 191"/>
          <p:cNvSpPr/>
          <p:nvPr/>
        </p:nvSpPr>
        <p:spPr>
          <a:xfrm flipV="1">
            <a:off x="4863905" y="13346159"/>
            <a:ext cx="83703" cy="2040"/>
          </a:xfrm>
          <a:prstGeom prst="line">
            <a:avLst/>
          </a:prstGeom>
          <a:noFill/>
          <a:ln w="21590">
            <a:solidFill>
              <a:srgbClr val="321B40"/>
            </a:solidFill>
            <a:prstDash val="solid"/>
          </a:ln>
        </p:spPr>
      </p:sp>
      <p:sp>
        <p:nvSpPr>
          <p:cNvPr id="195" name="Shape 192"/>
          <p:cNvSpPr/>
          <p:nvPr/>
        </p:nvSpPr>
        <p:spPr>
          <a:xfrm flipV="1">
            <a:off x="4947607" y="13344011"/>
            <a:ext cx="83703" cy="2148"/>
          </a:xfrm>
          <a:prstGeom prst="line">
            <a:avLst/>
          </a:prstGeom>
          <a:noFill/>
          <a:ln w="21590">
            <a:solidFill>
              <a:srgbClr val="321B40"/>
            </a:solidFill>
            <a:prstDash val="solid"/>
          </a:ln>
        </p:spPr>
      </p:sp>
      <p:sp>
        <p:nvSpPr>
          <p:cNvPr id="196" name="Shape 193"/>
          <p:cNvSpPr/>
          <p:nvPr/>
        </p:nvSpPr>
        <p:spPr>
          <a:xfrm flipV="1">
            <a:off x="5031310" y="13341744"/>
            <a:ext cx="83703" cy="2267"/>
          </a:xfrm>
          <a:prstGeom prst="line">
            <a:avLst/>
          </a:prstGeom>
          <a:noFill/>
          <a:ln w="21590">
            <a:solidFill>
              <a:srgbClr val="321B40"/>
            </a:solidFill>
            <a:prstDash val="solid"/>
          </a:ln>
        </p:spPr>
      </p:sp>
      <p:sp>
        <p:nvSpPr>
          <p:cNvPr id="197" name="Shape 194"/>
          <p:cNvSpPr/>
          <p:nvPr/>
        </p:nvSpPr>
        <p:spPr>
          <a:xfrm flipV="1">
            <a:off x="5115013" y="13339346"/>
            <a:ext cx="83703" cy="2397"/>
          </a:xfrm>
          <a:prstGeom prst="line">
            <a:avLst/>
          </a:prstGeom>
          <a:noFill/>
          <a:ln w="21590">
            <a:solidFill>
              <a:srgbClr val="321B40"/>
            </a:solidFill>
            <a:prstDash val="solid"/>
          </a:ln>
        </p:spPr>
      </p:sp>
      <p:sp>
        <p:nvSpPr>
          <p:cNvPr id="198" name="Shape 195"/>
          <p:cNvSpPr/>
          <p:nvPr/>
        </p:nvSpPr>
        <p:spPr>
          <a:xfrm flipV="1">
            <a:off x="5198716" y="13336805"/>
            <a:ext cx="83703" cy="2541"/>
          </a:xfrm>
          <a:prstGeom prst="line">
            <a:avLst/>
          </a:prstGeom>
          <a:noFill/>
          <a:ln w="21590">
            <a:solidFill>
              <a:srgbClr val="321B40"/>
            </a:solidFill>
            <a:prstDash val="solid"/>
          </a:ln>
        </p:spPr>
      </p:sp>
      <p:sp>
        <p:nvSpPr>
          <p:cNvPr id="199" name="Shape 196"/>
          <p:cNvSpPr/>
          <p:nvPr/>
        </p:nvSpPr>
        <p:spPr>
          <a:xfrm flipV="1">
            <a:off x="5282418" y="13334106"/>
            <a:ext cx="83703" cy="2699"/>
          </a:xfrm>
          <a:prstGeom prst="line">
            <a:avLst/>
          </a:prstGeom>
          <a:noFill/>
          <a:ln w="21590">
            <a:solidFill>
              <a:srgbClr val="321B40"/>
            </a:solidFill>
            <a:prstDash val="solid"/>
          </a:ln>
        </p:spPr>
      </p:sp>
      <p:sp>
        <p:nvSpPr>
          <p:cNvPr id="200" name="Shape 197"/>
          <p:cNvSpPr/>
          <p:nvPr/>
        </p:nvSpPr>
        <p:spPr>
          <a:xfrm flipV="1">
            <a:off x="5366121" y="13331232"/>
            <a:ext cx="83703" cy="2875"/>
          </a:xfrm>
          <a:prstGeom prst="line">
            <a:avLst/>
          </a:prstGeom>
          <a:noFill/>
          <a:ln w="21590">
            <a:solidFill>
              <a:srgbClr val="321B40"/>
            </a:solidFill>
            <a:prstDash val="solid"/>
          </a:ln>
        </p:spPr>
      </p:sp>
      <p:sp>
        <p:nvSpPr>
          <p:cNvPr id="201" name="Shape 198"/>
          <p:cNvSpPr/>
          <p:nvPr/>
        </p:nvSpPr>
        <p:spPr>
          <a:xfrm flipV="1">
            <a:off x="5449824" y="13328162"/>
            <a:ext cx="83703" cy="3070"/>
          </a:xfrm>
          <a:prstGeom prst="line">
            <a:avLst/>
          </a:prstGeom>
          <a:noFill/>
          <a:ln w="21590">
            <a:solidFill>
              <a:srgbClr val="321B40"/>
            </a:solidFill>
            <a:prstDash val="solid"/>
          </a:ln>
        </p:spPr>
      </p:sp>
      <p:sp>
        <p:nvSpPr>
          <p:cNvPr id="202" name="Shape 199"/>
          <p:cNvSpPr/>
          <p:nvPr/>
        </p:nvSpPr>
        <p:spPr>
          <a:xfrm flipV="1">
            <a:off x="5533527" y="13324874"/>
            <a:ext cx="83703" cy="3288"/>
          </a:xfrm>
          <a:prstGeom prst="line">
            <a:avLst/>
          </a:prstGeom>
          <a:noFill/>
          <a:ln w="21590">
            <a:solidFill>
              <a:srgbClr val="321B40"/>
            </a:solidFill>
            <a:prstDash val="solid"/>
          </a:ln>
        </p:spPr>
      </p:sp>
      <p:sp>
        <p:nvSpPr>
          <p:cNvPr id="203" name="Shape 200"/>
          <p:cNvSpPr/>
          <p:nvPr/>
        </p:nvSpPr>
        <p:spPr>
          <a:xfrm flipV="1">
            <a:off x="5617230" y="13321342"/>
            <a:ext cx="83703" cy="3532"/>
          </a:xfrm>
          <a:prstGeom prst="line">
            <a:avLst/>
          </a:prstGeom>
          <a:noFill/>
          <a:ln w="21590">
            <a:solidFill>
              <a:srgbClr val="321B40"/>
            </a:solidFill>
            <a:prstDash val="solid"/>
          </a:ln>
        </p:spPr>
      </p:sp>
      <p:sp>
        <p:nvSpPr>
          <p:cNvPr id="204" name="Shape 201"/>
          <p:cNvSpPr/>
          <p:nvPr/>
        </p:nvSpPr>
        <p:spPr>
          <a:xfrm flipV="1">
            <a:off x="5700932" y="13317536"/>
            <a:ext cx="83703" cy="3806"/>
          </a:xfrm>
          <a:prstGeom prst="line">
            <a:avLst/>
          </a:prstGeom>
          <a:noFill/>
          <a:ln w="21590">
            <a:solidFill>
              <a:srgbClr val="321B40"/>
            </a:solidFill>
            <a:prstDash val="solid"/>
          </a:ln>
        </p:spPr>
      </p:sp>
      <p:sp>
        <p:nvSpPr>
          <p:cNvPr id="205" name="Shape 202"/>
          <p:cNvSpPr/>
          <p:nvPr/>
        </p:nvSpPr>
        <p:spPr>
          <a:xfrm flipV="1">
            <a:off x="5784635" y="13313419"/>
            <a:ext cx="83703" cy="4117"/>
          </a:xfrm>
          <a:prstGeom prst="line">
            <a:avLst/>
          </a:prstGeom>
          <a:noFill/>
          <a:ln w="21590">
            <a:solidFill>
              <a:srgbClr val="321B40"/>
            </a:solidFill>
            <a:prstDash val="solid"/>
          </a:ln>
        </p:spPr>
      </p:sp>
      <p:sp>
        <p:nvSpPr>
          <p:cNvPr id="206" name="Shape 203"/>
          <p:cNvSpPr/>
          <p:nvPr/>
        </p:nvSpPr>
        <p:spPr>
          <a:xfrm flipV="1">
            <a:off x="5868338" y="13308949"/>
            <a:ext cx="83703" cy="4470"/>
          </a:xfrm>
          <a:prstGeom prst="line">
            <a:avLst/>
          </a:prstGeom>
          <a:noFill/>
          <a:ln w="21590">
            <a:solidFill>
              <a:srgbClr val="321B40"/>
            </a:solidFill>
            <a:prstDash val="solid"/>
          </a:ln>
        </p:spPr>
      </p:sp>
      <p:sp>
        <p:nvSpPr>
          <p:cNvPr id="207" name="Shape 204"/>
          <p:cNvSpPr/>
          <p:nvPr/>
        </p:nvSpPr>
        <p:spPr>
          <a:xfrm flipV="1">
            <a:off x="5952041" y="13304075"/>
            <a:ext cx="83703" cy="4874"/>
          </a:xfrm>
          <a:prstGeom prst="line">
            <a:avLst/>
          </a:prstGeom>
          <a:noFill/>
          <a:ln w="21590">
            <a:solidFill>
              <a:srgbClr val="321B40"/>
            </a:solidFill>
            <a:prstDash val="solid"/>
          </a:ln>
        </p:spPr>
      </p:sp>
      <p:sp>
        <p:nvSpPr>
          <p:cNvPr id="208" name="Shape 205"/>
          <p:cNvSpPr/>
          <p:nvPr/>
        </p:nvSpPr>
        <p:spPr>
          <a:xfrm flipV="1">
            <a:off x="6035743" y="13298737"/>
            <a:ext cx="83703" cy="5338"/>
          </a:xfrm>
          <a:prstGeom prst="line">
            <a:avLst/>
          </a:prstGeom>
          <a:noFill/>
          <a:ln w="21590">
            <a:solidFill>
              <a:srgbClr val="321B40"/>
            </a:solidFill>
            <a:prstDash val="solid"/>
          </a:ln>
        </p:spPr>
      </p:sp>
      <p:sp>
        <p:nvSpPr>
          <p:cNvPr id="209" name="Shape 206"/>
          <p:cNvSpPr/>
          <p:nvPr/>
        </p:nvSpPr>
        <p:spPr>
          <a:xfrm flipV="1">
            <a:off x="6119446" y="13292861"/>
            <a:ext cx="83703" cy="5876"/>
          </a:xfrm>
          <a:prstGeom prst="line">
            <a:avLst/>
          </a:prstGeom>
          <a:noFill/>
          <a:ln w="21590">
            <a:solidFill>
              <a:srgbClr val="321B40"/>
            </a:solidFill>
            <a:prstDash val="solid"/>
          </a:ln>
        </p:spPr>
      </p:sp>
      <p:sp>
        <p:nvSpPr>
          <p:cNvPr id="210" name="Shape 207"/>
          <p:cNvSpPr/>
          <p:nvPr/>
        </p:nvSpPr>
        <p:spPr>
          <a:xfrm flipV="1">
            <a:off x="6203149" y="13286357"/>
            <a:ext cx="83703" cy="6504"/>
          </a:xfrm>
          <a:prstGeom prst="line">
            <a:avLst/>
          </a:prstGeom>
          <a:noFill/>
          <a:ln w="21590">
            <a:solidFill>
              <a:srgbClr val="321B40"/>
            </a:solidFill>
            <a:prstDash val="solid"/>
          </a:ln>
        </p:spPr>
      </p:sp>
      <p:sp>
        <p:nvSpPr>
          <p:cNvPr id="211" name="Shape 208"/>
          <p:cNvSpPr/>
          <p:nvPr/>
        </p:nvSpPr>
        <p:spPr>
          <a:xfrm flipV="1">
            <a:off x="6286852" y="13279115"/>
            <a:ext cx="83703" cy="7242"/>
          </a:xfrm>
          <a:prstGeom prst="line">
            <a:avLst/>
          </a:prstGeom>
          <a:noFill/>
          <a:ln w="21590">
            <a:solidFill>
              <a:srgbClr val="321B40"/>
            </a:solidFill>
            <a:prstDash val="solid"/>
          </a:ln>
        </p:spPr>
      </p:sp>
      <p:sp>
        <p:nvSpPr>
          <p:cNvPr id="212" name="Shape 209"/>
          <p:cNvSpPr/>
          <p:nvPr/>
        </p:nvSpPr>
        <p:spPr>
          <a:xfrm flipV="1">
            <a:off x="6370554" y="13270996"/>
            <a:ext cx="83703" cy="8119"/>
          </a:xfrm>
          <a:prstGeom prst="line">
            <a:avLst/>
          </a:prstGeom>
          <a:noFill/>
          <a:ln w="21590">
            <a:solidFill>
              <a:srgbClr val="321B40"/>
            </a:solidFill>
            <a:prstDash val="solid"/>
          </a:ln>
        </p:spPr>
      </p:sp>
      <p:sp>
        <p:nvSpPr>
          <p:cNvPr id="213" name="Shape 210"/>
          <p:cNvSpPr/>
          <p:nvPr/>
        </p:nvSpPr>
        <p:spPr>
          <a:xfrm flipV="1">
            <a:off x="6454257" y="13261825"/>
            <a:ext cx="83703" cy="9172"/>
          </a:xfrm>
          <a:prstGeom prst="line">
            <a:avLst/>
          </a:prstGeom>
          <a:noFill/>
          <a:ln w="21590">
            <a:solidFill>
              <a:srgbClr val="321B40"/>
            </a:solidFill>
            <a:prstDash val="solid"/>
          </a:ln>
        </p:spPr>
      </p:sp>
      <p:sp>
        <p:nvSpPr>
          <p:cNvPr id="214" name="Text 211"/>
          <p:cNvSpPr/>
          <p:nvPr/>
        </p:nvSpPr>
        <p:spPr>
          <a:xfrm>
            <a:off x="1115568" y="10359416"/>
            <a:ext cx="2560320" cy="2154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B8441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GPS: δL = 5 m (ipoteză)</a:t>
            </a:r>
            <a:endParaRPr lang="en-US" sz="1100" dirty="0"/>
          </a:p>
        </p:txBody>
      </p:sp>
      <p:sp>
        <p:nvSpPr>
          <p:cNvPr id="215" name="Text 212"/>
          <p:cNvSpPr/>
          <p:nvPr/>
        </p:nvSpPr>
        <p:spPr>
          <a:xfrm>
            <a:off x="3703320" y="10359416"/>
            <a:ext cx="2743200" cy="2154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Telemetru: δL = 0,3 m (ipoteză)</a:t>
            </a:r>
            <a:endParaRPr lang="en-US" sz="1100" dirty="0"/>
          </a:p>
        </p:txBody>
      </p:sp>
      <p:sp>
        <p:nvSpPr>
          <p:cNvPr id="216" name="Text 213"/>
          <p:cNvSpPr/>
          <p:nvPr/>
        </p:nvSpPr>
        <p:spPr>
          <a:xfrm>
            <a:off x="1965960" y="13703388"/>
            <a:ext cx="4023360" cy="2240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Elevația Soarelui e (grade)</a:t>
            </a:r>
            <a:endParaRPr lang="en-US" sz="1100" dirty="0"/>
          </a:p>
        </p:txBody>
      </p:sp>
      <p:sp>
        <p:nvSpPr>
          <p:cNvPr id="217" name="Text 214"/>
          <p:cNvSpPr/>
          <p:nvPr/>
        </p:nvSpPr>
        <p:spPr>
          <a:xfrm>
            <a:off x="713232" y="14082601"/>
            <a:ext cx="4572000" cy="3275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δh ≈ tan(e) · δL</a:t>
            </a:r>
            <a:endParaRPr lang="en-US" sz="2000" dirty="0"/>
          </a:p>
        </p:txBody>
      </p:sp>
      <p:sp>
        <p:nvSpPr>
          <p:cNvPr id="218" name="Text 215"/>
          <p:cNvSpPr/>
          <p:nvPr/>
        </p:nvSpPr>
        <p:spPr>
          <a:xfrm>
            <a:off x="713232" y="14496288"/>
            <a:ext cx="6035040" cy="5343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25A6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Modelul izolează eroarea lungimii; curbele exprimă ipoteze, nu precizii măsurate.</a:t>
            </a:r>
            <a:endParaRPr lang="en-US" sz="1100" dirty="0"/>
          </a:p>
        </p:txBody>
      </p:sp>
      <p:sp>
        <p:nvSpPr>
          <p:cNvPr id="219" name="Text 216"/>
          <p:cNvSpPr/>
          <p:nvPr/>
        </p:nvSpPr>
        <p:spPr>
          <a:xfrm>
            <a:off x="7909560" y="10592115"/>
            <a:ext cx="5669280" cy="1896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25A6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Clădiri eligibile în simulare (%)</a:t>
            </a:r>
            <a:endParaRPr lang="en-US" sz="1100" dirty="0"/>
          </a:p>
        </p:txBody>
      </p:sp>
      <p:sp>
        <p:nvSpPr>
          <p:cNvPr id="220" name="Shape 217"/>
          <p:cNvSpPr/>
          <p:nvPr/>
        </p:nvSpPr>
        <p:spPr>
          <a:xfrm>
            <a:off x="7909560" y="13384504"/>
            <a:ext cx="5669280" cy="914"/>
          </a:xfrm>
          <a:prstGeom prst="line">
            <a:avLst/>
          </a:prstGeom>
          <a:noFill/>
          <a:ln w="8890">
            <a:solidFill>
              <a:srgbClr val="DDD7E2"/>
            </a:solidFill>
            <a:prstDash val="solid"/>
          </a:ln>
        </p:spPr>
      </p:sp>
      <p:sp>
        <p:nvSpPr>
          <p:cNvPr id="221" name="Text 218"/>
          <p:cNvSpPr/>
          <p:nvPr/>
        </p:nvSpPr>
        <p:spPr>
          <a:xfrm>
            <a:off x="7498080" y="13298319"/>
            <a:ext cx="347472" cy="1723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625A6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</a:t>
            </a:r>
            <a:endParaRPr lang="en-US" sz="1100" dirty="0"/>
          </a:p>
        </p:txBody>
      </p:sp>
      <p:sp>
        <p:nvSpPr>
          <p:cNvPr id="222" name="Shape 219"/>
          <p:cNvSpPr/>
          <p:nvPr/>
        </p:nvSpPr>
        <p:spPr>
          <a:xfrm>
            <a:off x="7909560" y="12888079"/>
            <a:ext cx="5669280" cy="914"/>
          </a:xfrm>
          <a:prstGeom prst="line">
            <a:avLst/>
          </a:prstGeom>
          <a:noFill/>
          <a:ln w="8890">
            <a:solidFill>
              <a:srgbClr val="DDD7E2"/>
            </a:solidFill>
            <a:prstDash val="solid"/>
          </a:ln>
        </p:spPr>
      </p:sp>
      <p:sp>
        <p:nvSpPr>
          <p:cNvPr id="223" name="Text 220"/>
          <p:cNvSpPr/>
          <p:nvPr/>
        </p:nvSpPr>
        <p:spPr>
          <a:xfrm>
            <a:off x="7498080" y="12801894"/>
            <a:ext cx="347472" cy="1723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625A6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</a:t>
            </a:r>
            <a:endParaRPr lang="en-US" sz="1100" dirty="0"/>
          </a:p>
        </p:txBody>
      </p:sp>
      <p:sp>
        <p:nvSpPr>
          <p:cNvPr id="224" name="Shape 221"/>
          <p:cNvSpPr/>
          <p:nvPr/>
        </p:nvSpPr>
        <p:spPr>
          <a:xfrm>
            <a:off x="7909560" y="12391655"/>
            <a:ext cx="5669280" cy="914"/>
          </a:xfrm>
          <a:prstGeom prst="line">
            <a:avLst/>
          </a:prstGeom>
          <a:noFill/>
          <a:ln w="8890">
            <a:solidFill>
              <a:srgbClr val="DDD7E2"/>
            </a:solidFill>
            <a:prstDash val="solid"/>
          </a:ln>
        </p:spPr>
      </p:sp>
      <p:sp>
        <p:nvSpPr>
          <p:cNvPr id="225" name="Text 222"/>
          <p:cNvSpPr/>
          <p:nvPr/>
        </p:nvSpPr>
        <p:spPr>
          <a:xfrm>
            <a:off x="7498080" y="12305470"/>
            <a:ext cx="347472" cy="1723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625A6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40</a:t>
            </a:r>
            <a:endParaRPr lang="en-US" sz="1100" dirty="0"/>
          </a:p>
        </p:txBody>
      </p:sp>
      <p:sp>
        <p:nvSpPr>
          <p:cNvPr id="226" name="Shape 223"/>
          <p:cNvSpPr/>
          <p:nvPr/>
        </p:nvSpPr>
        <p:spPr>
          <a:xfrm>
            <a:off x="7909560" y="11895230"/>
            <a:ext cx="5669280" cy="914"/>
          </a:xfrm>
          <a:prstGeom prst="line">
            <a:avLst/>
          </a:prstGeom>
          <a:noFill/>
          <a:ln w="8890">
            <a:solidFill>
              <a:srgbClr val="DDD7E2"/>
            </a:solidFill>
            <a:prstDash val="solid"/>
          </a:ln>
        </p:spPr>
      </p:sp>
      <p:sp>
        <p:nvSpPr>
          <p:cNvPr id="227" name="Text 224"/>
          <p:cNvSpPr/>
          <p:nvPr/>
        </p:nvSpPr>
        <p:spPr>
          <a:xfrm>
            <a:off x="7498080" y="11809045"/>
            <a:ext cx="347472" cy="1723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625A6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60</a:t>
            </a:r>
            <a:endParaRPr lang="en-US" sz="1100" dirty="0"/>
          </a:p>
        </p:txBody>
      </p:sp>
      <p:sp>
        <p:nvSpPr>
          <p:cNvPr id="228" name="Shape 225"/>
          <p:cNvSpPr/>
          <p:nvPr/>
        </p:nvSpPr>
        <p:spPr>
          <a:xfrm>
            <a:off x="7909560" y="11398805"/>
            <a:ext cx="5669280" cy="914"/>
          </a:xfrm>
          <a:prstGeom prst="line">
            <a:avLst/>
          </a:prstGeom>
          <a:noFill/>
          <a:ln w="8890">
            <a:solidFill>
              <a:srgbClr val="DDD7E2"/>
            </a:solidFill>
            <a:prstDash val="solid"/>
          </a:ln>
        </p:spPr>
      </p:sp>
      <p:sp>
        <p:nvSpPr>
          <p:cNvPr id="229" name="Text 226"/>
          <p:cNvSpPr/>
          <p:nvPr/>
        </p:nvSpPr>
        <p:spPr>
          <a:xfrm>
            <a:off x="7498080" y="11312620"/>
            <a:ext cx="347472" cy="1723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625A6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80</a:t>
            </a:r>
            <a:endParaRPr lang="en-US" sz="1100" dirty="0"/>
          </a:p>
        </p:txBody>
      </p:sp>
      <p:sp>
        <p:nvSpPr>
          <p:cNvPr id="230" name="Shape 227"/>
          <p:cNvSpPr/>
          <p:nvPr/>
        </p:nvSpPr>
        <p:spPr>
          <a:xfrm>
            <a:off x="7909560" y="10902381"/>
            <a:ext cx="5669280" cy="914"/>
          </a:xfrm>
          <a:prstGeom prst="line">
            <a:avLst/>
          </a:prstGeom>
          <a:noFill/>
          <a:ln w="8890">
            <a:solidFill>
              <a:srgbClr val="DDD7E2"/>
            </a:solidFill>
            <a:prstDash val="solid"/>
          </a:ln>
        </p:spPr>
      </p:sp>
      <p:sp>
        <p:nvSpPr>
          <p:cNvPr id="231" name="Text 228"/>
          <p:cNvSpPr/>
          <p:nvPr/>
        </p:nvSpPr>
        <p:spPr>
          <a:xfrm>
            <a:off x="7498080" y="10816196"/>
            <a:ext cx="347472" cy="1723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625A6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100</a:t>
            </a:r>
            <a:endParaRPr lang="en-US" sz="1100" dirty="0"/>
          </a:p>
        </p:txBody>
      </p:sp>
      <p:sp>
        <p:nvSpPr>
          <p:cNvPr id="232" name="Shape 229"/>
          <p:cNvSpPr/>
          <p:nvPr/>
        </p:nvSpPr>
        <p:spPr>
          <a:xfrm>
            <a:off x="8037576" y="11202718"/>
            <a:ext cx="274320" cy="2181786"/>
          </a:xfrm>
          <a:prstGeom prst="rect">
            <a:avLst/>
          </a:prstGeom>
          <a:solidFill>
            <a:srgbClr val="AF9ABF"/>
          </a:solidFill>
          <a:ln w="12700">
            <a:solidFill>
              <a:srgbClr val="AF9ABF">
                <a:alpha val="0"/>
              </a:srgbClr>
            </a:solidFill>
            <a:prstDash val="solid"/>
          </a:ln>
        </p:spPr>
      </p:sp>
      <p:sp>
        <p:nvSpPr>
          <p:cNvPr id="233" name="Shape 230"/>
          <p:cNvSpPr/>
          <p:nvPr/>
        </p:nvSpPr>
        <p:spPr>
          <a:xfrm>
            <a:off x="8330184" y="11818284"/>
            <a:ext cx="274320" cy="1566220"/>
          </a:xfrm>
          <a:prstGeom prst="rect">
            <a:avLst/>
          </a:prstGeom>
          <a:solidFill>
            <a:srgbClr val="321B40"/>
          </a:solidFill>
          <a:ln w="12700">
            <a:solidFill>
              <a:srgbClr val="321B40">
                <a:alpha val="0"/>
              </a:srgbClr>
            </a:solidFill>
            <a:prstDash val="solid"/>
          </a:ln>
        </p:spPr>
      </p:sp>
      <p:sp>
        <p:nvSpPr>
          <p:cNvPr id="234" name="Text 231"/>
          <p:cNvSpPr/>
          <p:nvPr/>
        </p:nvSpPr>
        <p:spPr>
          <a:xfrm>
            <a:off x="8001000" y="11004492"/>
            <a:ext cx="365760" cy="1723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87,9</a:t>
            </a:r>
            <a:endParaRPr lang="en-US" sz="1100" dirty="0"/>
          </a:p>
        </p:txBody>
      </p:sp>
      <p:sp>
        <p:nvSpPr>
          <p:cNvPr id="235" name="Text 232"/>
          <p:cNvSpPr/>
          <p:nvPr/>
        </p:nvSpPr>
        <p:spPr>
          <a:xfrm>
            <a:off x="7927848" y="13462070"/>
            <a:ext cx="822960" cy="4136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27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oct 10:00</a:t>
            </a:r>
            <a:endParaRPr lang="en-US" sz="1100" dirty="0"/>
          </a:p>
        </p:txBody>
      </p:sp>
      <p:sp>
        <p:nvSpPr>
          <p:cNvPr id="236" name="Shape 233"/>
          <p:cNvSpPr/>
          <p:nvPr/>
        </p:nvSpPr>
        <p:spPr>
          <a:xfrm>
            <a:off x="8951976" y="11148111"/>
            <a:ext cx="274320" cy="2236393"/>
          </a:xfrm>
          <a:prstGeom prst="rect">
            <a:avLst/>
          </a:prstGeom>
          <a:solidFill>
            <a:srgbClr val="AF9ABF"/>
          </a:solidFill>
          <a:ln w="12700">
            <a:solidFill>
              <a:srgbClr val="AF9ABF">
                <a:alpha val="0"/>
              </a:srgbClr>
            </a:solidFill>
            <a:prstDash val="solid"/>
          </a:ln>
        </p:spPr>
      </p:sp>
      <p:sp>
        <p:nvSpPr>
          <p:cNvPr id="237" name="Shape 234"/>
          <p:cNvSpPr/>
          <p:nvPr/>
        </p:nvSpPr>
        <p:spPr>
          <a:xfrm>
            <a:off x="9244584" y="11624678"/>
            <a:ext cx="274320" cy="1759825"/>
          </a:xfrm>
          <a:prstGeom prst="rect">
            <a:avLst/>
          </a:prstGeom>
          <a:solidFill>
            <a:srgbClr val="321B40"/>
          </a:solidFill>
          <a:ln w="12700">
            <a:solidFill>
              <a:srgbClr val="321B40">
                <a:alpha val="0"/>
              </a:srgbClr>
            </a:solidFill>
            <a:prstDash val="solid"/>
          </a:ln>
        </p:spPr>
      </p:sp>
      <p:sp>
        <p:nvSpPr>
          <p:cNvPr id="238" name="Text 235"/>
          <p:cNvSpPr/>
          <p:nvPr/>
        </p:nvSpPr>
        <p:spPr>
          <a:xfrm>
            <a:off x="8915400" y="10949886"/>
            <a:ext cx="365760" cy="1723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90,1</a:t>
            </a:r>
            <a:endParaRPr lang="en-US" sz="1100" dirty="0"/>
          </a:p>
        </p:txBody>
      </p:sp>
      <p:sp>
        <p:nvSpPr>
          <p:cNvPr id="239" name="Text 236"/>
          <p:cNvSpPr/>
          <p:nvPr/>
        </p:nvSpPr>
        <p:spPr>
          <a:xfrm>
            <a:off x="8842248" y="13462070"/>
            <a:ext cx="822960" cy="4136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27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oct 12:00</a:t>
            </a:r>
            <a:endParaRPr lang="en-US" sz="1100" dirty="0"/>
          </a:p>
        </p:txBody>
      </p:sp>
      <p:sp>
        <p:nvSpPr>
          <p:cNvPr id="240" name="Shape 237"/>
          <p:cNvSpPr/>
          <p:nvPr/>
        </p:nvSpPr>
        <p:spPr>
          <a:xfrm>
            <a:off x="9866376" y="11269735"/>
            <a:ext cx="274320" cy="2114769"/>
          </a:xfrm>
          <a:prstGeom prst="rect">
            <a:avLst/>
          </a:prstGeom>
          <a:solidFill>
            <a:srgbClr val="AF9ABF"/>
          </a:solidFill>
          <a:ln w="12700">
            <a:solidFill>
              <a:srgbClr val="AF9ABF">
                <a:alpha val="0"/>
              </a:srgbClr>
            </a:solidFill>
            <a:prstDash val="solid"/>
          </a:ln>
        </p:spPr>
      </p:sp>
      <p:sp>
        <p:nvSpPr>
          <p:cNvPr id="241" name="Shape 238"/>
          <p:cNvSpPr/>
          <p:nvPr/>
        </p:nvSpPr>
        <p:spPr>
          <a:xfrm>
            <a:off x="10158984" y="11905158"/>
            <a:ext cx="274320" cy="1479345"/>
          </a:xfrm>
          <a:prstGeom prst="rect">
            <a:avLst/>
          </a:prstGeom>
          <a:solidFill>
            <a:srgbClr val="321B40"/>
          </a:solidFill>
          <a:ln w="12700">
            <a:solidFill>
              <a:srgbClr val="321B40">
                <a:alpha val="0"/>
              </a:srgbClr>
            </a:solidFill>
            <a:prstDash val="solid"/>
          </a:ln>
        </p:spPr>
      </p:sp>
      <p:sp>
        <p:nvSpPr>
          <p:cNvPr id="242" name="Text 239"/>
          <p:cNvSpPr/>
          <p:nvPr/>
        </p:nvSpPr>
        <p:spPr>
          <a:xfrm>
            <a:off x="9829800" y="11071510"/>
            <a:ext cx="365760" cy="1723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85,2</a:t>
            </a:r>
            <a:endParaRPr lang="en-US" sz="1100" dirty="0"/>
          </a:p>
        </p:txBody>
      </p:sp>
      <p:sp>
        <p:nvSpPr>
          <p:cNvPr id="243" name="Text 240"/>
          <p:cNvSpPr/>
          <p:nvPr/>
        </p:nvSpPr>
        <p:spPr>
          <a:xfrm>
            <a:off x="9756648" y="13462070"/>
            <a:ext cx="822960" cy="4136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27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oct 14:00</a:t>
            </a:r>
            <a:endParaRPr lang="en-US" sz="1100" dirty="0"/>
          </a:p>
        </p:txBody>
      </p:sp>
      <p:sp>
        <p:nvSpPr>
          <p:cNvPr id="244" name="Shape 241"/>
          <p:cNvSpPr/>
          <p:nvPr/>
        </p:nvSpPr>
        <p:spPr>
          <a:xfrm>
            <a:off x="10780776" y="11118325"/>
            <a:ext cx="274320" cy="2266178"/>
          </a:xfrm>
          <a:prstGeom prst="rect">
            <a:avLst/>
          </a:prstGeom>
          <a:solidFill>
            <a:srgbClr val="AF9ABF"/>
          </a:solidFill>
          <a:ln w="12700">
            <a:solidFill>
              <a:srgbClr val="AF9ABF">
                <a:alpha val="0"/>
              </a:srgbClr>
            </a:solidFill>
            <a:prstDash val="solid"/>
          </a:ln>
        </p:spPr>
      </p:sp>
      <p:sp>
        <p:nvSpPr>
          <p:cNvPr id="245" name="Shape 242"/>
          <p:cNvSpPr/>
          <p:nvPr/>
        </p:nvSpPr>
        <p:spPr>
          <a:xfrm>
            <a:off x="11073384" y="11656946"/>
            <a:ext cx="274320" cy="1727558"/>
          </a:xfrm>
          <a:prstGeom prst="rect">
            <a:avLst/>
          </a:prstGeom>
          <a:solidFill>
            <a:srgbClr val="321B40"/>
          </a:solidFill>
          <a:ln w="12700">
            <a:solidFill>
              <a:srgbClr val="321B40">
                <a:alpha val="0"/>
              </a:srgbClr>
            </a:solidFill>
            <a:prstDash val="solid"/>
          </a:ln>
        </p:spPr>
      </p:sp>
      <p:sp>
        <p:nvSpPr>
          <p:cNvPr id="246" name="Text 243"/>
          <p:cNvSpPr/>
          <p:nvPr/>
        </p:nvSpPr>
        <p:spPr>
          <a:xfrm>
            <a:off x="10744200" y="10920100"/>
            <a:ext cx="365760" cy="1723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91,3</a:t>
            </a:r>
            <a:endParaRPr lang="en-US" sz="1100" dirty="0"/>
          </a:p>
        </p:txBody>
      </p:sp>
      <p:sp>
        <p:nvSpPr>
          <p:cNvPr id="247" name="Text 244"/>
          <p:cNvSpPr/>
          <p:nvPr/>
        </p:nvSpPr>
        <p:spPr>
          <a:xfrm>
            <a:off x="10671048" y="13462070"/>
            <a:ext cx="822960" cy="4136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iun 09:00</a:t>
            </a:r>
            <a:endParaRPr lang="en-US" sz="1100" dirty="0"/>
          </a:p>
        </p:txBody>
      </p:sp>
      <p:sp>
        <p:nvSpPr>
          <p:cNvPr id="248" name="Shape 245"/>
          <p:cNvSpPr/>
          <p:nvPr/>
        </p:nvSpPr>
        <p:spPr>
          <a:xfrm>
            <a:off x="11695176" y="11001666"/>
            <a:ext cx="274320" cy="2382838"/>
          </a:xfrm>
          <a:prstGeom prst="rect">
            <a:avLst/>
          </a:prstGeom>
          <a:solidFill>
            <a:srgbClr val="AF9ABF"/>
          </a:solidFill>
          <a:ln w="12700">
            <a:solidFill>
              <a:srgbClr val="AF9ABF">
                <a:alpha val="0"/>
              </a:srgbClr>
            </a:solidFill>
            <a:prstDash val="solid"/>
          </a:ln>
        </p:spPr>
      </p:sp>
      <p:sp>
        <p:nvSpPr>
          <p:cNvPr id="249" name="Shape 246"/>
          <p:cNvSpPr/>
          <p:nvPr/>
        </p:nvSpPr>
        <p:spPr>
          <a:xfrm>
            <a:off x="11987784" y="11428591"/>
            <a:ext cx="274320" cy="1955913"/>
          </a:xfrm>
          <a:prstGeom prst="rect">
            <a:avLst/>
          </a:prstGeom>
          <a:solidFill>
            <a:srgbClr val="321B40"/>
          </a:solidFill>
          <a:ln w="12700">
            <a:solidFill>
              <a:srgbClr val="321B40">
                <a:alpha val="0"/>
              </a:srgbClr>
            </a:solidFill>
            <a:prstDash val="solid"/>
          </a:ln>
        </p:spPr>
      </p:sp>
      <p:sp>
        <p:nvSpPr>
          <p:cNvPr id="250" name="Text 247"/>
          <p:cNvSpPr/>
          <p:nvPr/>
        </p:nvSpPr>
        <p:spPr>
          <a:xfrm>
            <a:off x="11658600" y="10803441"/>
            <a:ext cx="365760" cy="1723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96,0</a:t>
            </a:r>
            <a:endParaRPr lang="en-US" sz="1100" dirty="0"/>
          </a:p>
        </p:txBody>
      </p:sp>
      <p:sp>
        <p:nvSpPr>
          <p:cNvPr id="251" name="Text 248"/>
          <p:cNvSpPr/>
          <p:nvPr/>
        </p:nvSpPr>
        <p:spPr>
          <a:xfrm>
            <a:off x="11585448" y="13462070"/>
            <a:ext cx="822960" cy="4136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iun 13:00</a:t>
            </a:r>
            <a:endParaRPr lang="en-US" sz="1100" dirty="0"/>
          </a:p>
        </p:txBody>
      </p:sp>
      <p:sp>
        <p:nvSpPr>
          <p:cNvPr id="252" name="Shape 249"/>
          <p:cNvSpPr/>
          <p:nvPr/>
        </p:nvSpPr>
        <p:spPr>
          <a:xfrm>
            <a:off x="12609576" y="11108397"/>
            <a:ext cx="274320" cy="2276107"/>
          </a:xfrm>
          <a:prstGeom prst="rect">
            <a:avLst/>
          </a:prstGeom>
          <a:solidFill>
            <a:srgbClr val="AF9ABF"/>
          </a:solidFill>
          <a:ln w="12700">
            <a:solidFill>
              <a:srgbClr val="AF9ABF">
                <a:alpha val="0"/>
              </a:srgbClr>
            </a:solidFill>
            <a:prstDash val="solid"/>
          </a:ln>
        </p:spPr>
      </p:sp>
      <p:sp>
        <p:nvSpPr>
          <p:cNvPr id="253" name="Shape 250"/>
          <p:cNvSpPr/>
          <p:nvPr/>
        </p:nvSpPr>
        <p:spPr>
          <a:xfrm>
            <a:off x="12902184" y="11602339"/>
            <a:ext cx="274320" cy="1782164"/>
          </a:xfrm>
          <a:prstGeom prst="rect">
            <a:avLst/>
          </a:prstGeom>
          <a:solidFill>
            <a:srgbClr val="321B40"/>
          </a:solidFill>
          <a:ln w="12700">
            <a:solidFill>
              <a:srgbClr val="321B40">
                <a:alpha val="0"/>
              </a:srgbClr>
            </a:solidFill>
            <a:prstDash val="solid"/>
          </a:ln>
        </p:spPr>
      </p:sp>
      <p:sp>
        <p:nvSpPr>
          <p:cNvPr id="254" name="Text 251"/>
          <p:cNvSpPr/>
          <p:nvPr/>
        </p:nvSpPr>
        <p:spPr>
          <a:xfrm>
            <a:off x="12573000" y="10910172"/>
            <a:ext cx="365760" cy="1723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91,7</a:t>
            </a:r>
            <a:endParaRPr lang="en-US" sz="1100" dirty="0"/>
          </a:p>
        </p:txBody>
      </p:sp>
      <p:sp>
        <p:nvSpPr>
          <p:cNvPr id="255" name="Text 252"/>
          <p:cNvSpPr/>
          <p:nvPr/>
        </p:nvSpPr>
        <p:spPr>
          <a:xfrm>
            <a:off x="12499848" y="13462070"/>
            <a:ext cx="822960" cy="4136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iun 17:00</a:t>
            </a:r>
            <a:endParaRPr lang="en-US" sz="1100" dirty="0"/>
          </a:p>
        </p:txBody>
      </p:sp>
      <p:sp>
        <p:nvSpPr>
          <p:cNvPr id="256" name="Shape 253"/>
          <p:cNvSpPr/>
          <p:nvPr/>
        </p:nvSpPr>
        <p:spPr>
          <a:xfrm>
            <a:off x="7909560" y="10411127"/>
            <a:ext cx="137160" cy="77566"/>
          </a:xfrm>
          <a:prstGeom prst="rect">
            <a:avLst/>
          </a:prstGeom>
          <a:solidFill>
            <a:srgbClr val="AF9ABF"/>
          </a:solidFill>
          <a:ln w="12700">
            <a:solidFill>
              <a:srgbClr val="AF9ABF">
                <a:alpha val="0"/>
              </a:srgbClr>
            </a:solidFill>
            <a:prstDash val="solid"/>
          </a:ln>
        </p:spPr>
      </p:sp>
      <p:sp>
        <p:nvSpPr>
          <p:cNvPr id="257" name="Text 254"/>
          <p:cNvSpPr/>
          <p:nvPr/>
        </p:nvSpPr>
        <p:spPr>
          <a:xfrm>
            <a:off x="8138160" y="10376653"/>
            <a:ext cx="2651760" cy="1896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25A6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Toate clădirile (n = 38.913)</a:t>
            </a:r>
            <a:endParaRPr lang="en-US" sz="1100" dirty="0"/>
          </a:p>
        </p:txBody>
      </p:sp>
      <p:sp>
        <p:nvSpPr>
          <p:cNvPr id="258" name="Shape 255"/>
          <p:cNvSpPr/>
          <p:nvPr/>
        </p:nvSpPr>
        <p:spPr>
          <a:xfrm>
            <a:off x="10789920" y="10411127"/>
            <a:ext cx="137160" cy="77566"/>
          </a:xfrm>
          <a:prstGeom prst="rect">
            <a:avLst/>
          </a:prstGeom>
          <a:solidFill>
            <a:srgbClr val="321B40"/>
          </a:solidFill>
          <a:ln w="12700">
            <a:solidFill>
              <a:srgbClr val="321B40">
                <a:alpha val="0"/>
              </a:srgbClr>
            </a:solidFill>
            <a:prstDash val="solid"/>
          </a:ln>
        </p:spPr>
      </p:sp>
      <p:sp>
        <p:nvSpPr>
          <p:cNvPr id="259" name="Text 256"/>
          <p:cNvSpPr/>
          <p:nvPr/>
        </p:nvSpPr>
        <p:spPr>
          <a:xfrm>
            <a:off x="11018520" y="10376653"/>
            <a:ext cx="2560320" cy="1896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Înălțime ≥ 20 m (n = 805)</a:t>
            </a:r>
            <a:endParaRPr lang="en-US" sz="1100" dirty="0"/>
          </a:p>
        </p:txBody>
      </p:sp>
      <p:sp>
        <p:nvSpPr>
          <p:cNvPr id="260" name="Text 257"/>
          <p:cNvSpPr/>
          <p:nvPr/>
        </p:nvSpPr>
        <p:spPr>
          <a:xfrm>
            <a:off x="7635240" y="14082601"/>
            <a:ext cx="6126480" cy="3016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Toamna: 85–90% total; 60–71% la ≥ 20 m.</a:t>
            </a:r>
            <a:endParaRPr lang="en-US" sz="1500" dirty="0"/>
          </a:p>
        </p:txBody>
      </p:sp>
      <p:sp>
        <p:nvSpPr>
          <p:cNvPr id="261" name="Text 258"/>
          <p:cNvSpPr/>
          <p:nvPr/>
        </p:nvSpPr>
        <p:spPr>
          <a:xfrm>
            <a:off x="7635240" y="14496288"/>
            <a:ext cx="6126480" cy="5343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25A6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Simulare: obstacolele sunt celelalte clădiri. Arborii, mașinile și accesul fizic nu sunt incluse.</a:t>
            </a:r>
            <a:endParaRPr lang="en-US" sz="1100" dirty="0"/>
          </a:p>
        </p:txBody>
      </p:sp>
      <p:sp>
        <p:nvSpPr>
          <p:cNvPr id="262" name="Shape 259"/>
          <p:cNvSpPr/>
          <p:nvPr/>
        </p:nvSpPr>
        <p:spPr>
          <a:xfrm>
            <a:off x="548640" y="15297807"/>
            <a:ext cx="6492240" cy="293028"/>
          </a:xfrm>
          <a:prstGeom prst="rect">
            <a:avLst/>
          </a:prstGeom>
          <a:solidFill>
            <a:srgbClr val="321B40"/>
          </a:solidFill>
          <a:ln w="12700">
            <a:solidFill>
              <a:srgbClr val="321B40">
                <a:alpha val="0"/>
              </a:srgbClr>
            </a:solidFill>
            <a:prstDash val="solid"/>
          </a:ln>
        </p:spPr>
      </p:sp>
      <p:sp>
        <p:nvSpPr>
          <p:cNvPr id="263" name="Text 260"/>
          <p:cNvSpPr/>
          <p:nvPr/>
        </p:nvSpPr>
        <p:spPr>
          <a:xfrm>
            <a:off x="658368" y="15327972"/>
            <a:ext cx="6309360" cy="2068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06  COMPARAȚIA GBA CU OSM</a:t>
            </a:r>
            <a:endParaRPr lang="en-US" sz="1300" dirty="0"/>
          </a:p>
        </p:txBody>
      </p:sp>
      <p:sp>
        <p:nvSpPr>
          <p:cNvPr id="264" name="Shape 261"/>
          <p:cNvSpPr/>
          <p:nvPr/>
        </p:nvSpPr>
        <p:spPr>
          <a:xfrm>
            <a:off x="7498080" y="15297807"/>
            <a:ext cx="6583680" cy="293028"/>
          </a:xfrm>
          <a:prstGeom prst="rect">
            <a:avLst/>
          </a:prstGeom>
          <a:solidFill>
            <a:srgbClr val="321B40"/>
          </a:solidFill>
          <a:ln w="12700">
            <a:solidFill>
              <a:srgbClr val="321B40">
                <a:alpha val="0"/>
              </a:srgbClr>
            </a:solidFill>
            <a:prstDash val="solid"/>
          </a:ln>
        </p:spPr>
      </p:sp>
      <p:sp>
        <p:nvSpPr>
          <p:cNvPr id="265" name="Text 262"/>
          <p:cNvSpPr/>
          <p:nvPr/>
        </p:nvSpPr>
        <p:spPr>
          <a:xfrm>
            <a:off x="7607808" y="15327972"/>
            <a:ext cx="6400800" cy="2068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07  DE LA DATE LA TRASEU</a:t>
            </a:r>
            <a:endParaRPr lang="en-US" sz="1300" dirty="0"/>
          </a:p>
        </p:txBody>
      </p:sp>
      <p:sp>
        <p:nvSpPr>
          <p:cNvPr id="266" name="Text 263"/>
          <p:cNvSpPr/>
          <p:nvPr/>
        </p:nvSpPr>
        <p:spPr>
          <a:xfrm>
            <a:off x="594360" y="15702876"/>
            <a:ext cx="6400800" cy="2757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Tabelul 1  Diferențe GBA − înălțime etichetată OSM</a:t>
            </a:r>
            <a:endParaRPr lang="en-US" sz="1300" dirty="0"/>
          </a:p>
        </p:txBody>
      </p:sp>
      <p:sp>
        <p:nvSpPr>
          <p:cNvPr id="267" name="Shape 264"/>
          <p:cNvSpPr/>
          <p:nvPr/>
        </p:nvSpPr>
        <p:spPr>
          <a:xfrm>
            <a:off x="685800" y="16151037"/>
            <a:ext cx="1508760" cy="327502"/>
          </a:xfrm>
          <a:prstGeom prst="rect">
            <a:avLst/>
          </a:prstGeom>
          <a:solidFill>
            <a:srgbClr val="321B40"/>
          </a:solidFill>
          <a:ln w="12700">
            <a:solidFill>
              <a:srgbClr val="321B40">
                <a:alpha val="0"/>
              </a:srgbClr>
            </a:solidFill>
            <a:prstDash val="solid"/>
          </a:ln>
        </p:spPr>
      </p:sp>
      <p:sp>
        <p:nvSpPr>
          <p:cNvPr id="268" name="Text 265"/>
          <p:cNvSpPr/>
          <p:nvPr/>
        </p:nvSpPr>
        <p:spPr>
          <a:xfrm>
            <a:off x="713232" y="16202748"/>
            <a:ext cx="1453896" cy="2154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OSM</a:t>
            </a:r>
            <a:endParaRPr lang="en-US" sz="1100" dirty="0"/>
          </a:p>
        </p:txBody>
      </p:sp>
      <p:sp>
        <p:nvSpPr>
          <p:cNvPr id="269" name="Shape 266"/>
          <p:cNvSpPr/>
          <p:nvPr/>
        </p:nvSpPr>
        <p:spPr>
          <a:xfrm>
            <a:off x="2240280" y="16151037"/>
            <a:ext cx="640080" cy="327502"/>
          </a:xfrm>
          <a:prstGeom prst="rect">
            <a:avLst/>
          </a:prstGeom>
          <a:solidFill>
            <a:srgbClr val="321B40"/>
          </a:solidFill>
          <a:ln w="12700">
            <a:solidFill>
              <a:srgbClr val="321B40">
                <a:alpha val="0"/>
              </a:srgbClr>
            </a:solidFill>
            <a:prstDash val="solid"/>
          </a:ln>
        </p:spPr>
      </p:sp>
      <p:sp>
        <p:nvSpPr>
          <p:cNvPr id="270" name="Text 267"/>
          <p:cNvSpPr/>
          <p:nvPr/>
        </p:nvSpPr>
        <p:spPr>
          <a:xfrm>
            <a:off x="2267712" y="16202748"/>
            <a:ext cx="585216" cy="2154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</a:t>
            </a:r>
            <a:endParaRPr lang="en-US" sz="1100" dirty="0"/>
          </a:p>
        </p:txBody>
      </p:sp>
      <p:sp>
        <p:nvSpPr>
          <p:cNvPr id="271" name="Shape 268"/>
          <p:cNvSpPr/>
          <p:nvPr/>
        </p:nvSpPr>
        <p:spPr>
          <a:xfrm>
            <a:off x="2880360" y="16151037"/>
            <a:ext cx="1234440" cy="327502"/>
          </a:xfrm>
          <a:prstGeom prst="rect">
            <a:avLst/>
          </a:prstGeom>
          <a:solidFill>
            <a:srgbClr val="321B40"/>
          </a:solidFill>
          <a:ln w="12700">
            <a:solidFill>
              <a:srgbClr val="321B40">
                <a:alpha val="0"/>
              </a:srgbClr>
            </a:solidFill>
            <a:prstDash val="solid"/>
          </a:ln>
        </p:spPr>
      </p:sp>
      <p:sp>
        <p:nvSpPr>
          <p:cNvPr id="272" name="Text 269"/>
          <p:cNvSpPr/>
          <p:nvPr/>
        </p:nvSpPr>
        <p:spPr>
          <a:xfrm>
            <a:off x="2907792" y="16202748"/>
            <a:ext cx="1179576" cy="2154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Bias (m)</a:t>
            </a:r>
            <a:endParaRPr lang="en-US" sz="1100" dirty="0"/>
          </a:p>
        </p:txBody>
      </p:sp>
      <p:sp>
        <p:nvSpPr>
          <p:cNvPr id="273" name="Shape 270"/>
          <p:cNvSpPr/>
          <p:nvPr/>
        </p:nvSpPr>
        <p:spPr>
          <a:xfrm>
            <a:off x="4160520" y="16151037"/>
            <a:ext cx="1097280" cy="327502"/>
          </a:xfrm>
          <a:prstGeom prst="rect">
            <a:avLst/>
          </a:prstGeom>
          <a:solidFill>
            <a:srgbClr val="321B40"/>
          </a:solidFill>
          <a:ln w="12700">
            <a:solidFill>
              <a:srgbClr val="321B40">
                <a:alpha val="0"/>
              </a:srgbClr>
            </a:solidFill>
            <a:prstDash val="solid"/>
          </a:ln>
        </p:spPr>
      </p:sp>
      <p:sp>
        <p:nvSpPr>
          <p:cNvPr id="274" name="Text 271"/>
          <p:cNvSpPr/>
          <p:nvPr/>
        </p:nvSpPr>
        <p:spPr>
          <a:xfrm>
            <a:off x="4187952" y="16202748"/>
            <a:ext cx="1042416" cy="2154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MAE (m)</a:t>
            </a:r>
            <a:endParaRPr lang="en-US" sz="1100" dirty="0"/>
          </a:p>
        </p:txBody>
      </p:sp>
      <p:sp>
        <p:nvSpPr>
          <p:cNvPr id="275" name="Shape 272"/>
          <p:cNvSpPr/>
          <p:nvPr/>
        </p:nvSpPr>
        <p:spPr>
          <a:xfrm>
            <a:off x="5303520" y="16151037"/>
            <a:ext cx="960120" cy="327502"/>
          </a:xfrm>
          <a:prstGeom prst="rect">
            <a:avLst/>
          </a:prstGeom>
          <a:solidFill>
            <a:srgbClr val="321B40"/>
          </a:solidFill>
          <a:ln w="12700">
            <a:solidFill>
              <a:srgbClr val="321B40">
                <a:alpha val="0"/>
              </a:srgbClr>
            </a:solidFill>
            <a:prstDash val="solid"/>
          </a:ln>
        </p:spPr>
      </p:sp>
      <p:sp>
        <p:nvSpPr>
          <p:cNvPr id="276" name="Text 273"/>
          <p:cNvSpPr/>
          <p:nvPr/>
        </p:nvSpPr>
        <p:spPr>
          <a:xfrm>
            <a:off x="5330952" y="16202748"/>
            <a:ext cx="905256" cy="2154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În ±3 m</a:t>
            </a:r>
            <a:endParaRPr lang="en-US" sz="1100" dirty="0"/>
          </a:p>
        </p:txBody>
      </p:sp>
      <p:sp>
        <p:nvSpPr>
          <p:cNvPr id="277" name="Shape 274"/>
          <p:cNvSpPr/>
          <p:nvPr/>
        </p:nvSpPr>
        <p:spPr>
          <a:xfrm>
            <a:off x="685800" y="16495776"/>
            <a:ext cx="1508760" cy="327502"/>
          </a:xfrm>
          <a:prstGeom prst="rect">
            <a:avLst/>
          </a:prstGeom>
          <a:solidFill>
            <a:srgbClr val="F1EDF5"/>
          </a:solidFill>
          <a:ln w="12700">
            <a:solidFill>
              <a:srgbClr val="F1EDF5">
                <a:alpha val="0"/>
              </a:srgbClr>
            </a:solidFill>
            <a:prstDash val="solid"/>
          </a:ln>
        </p:spPr>
      </p:sp>
      <p:sp>
        <p:nvSpPr>
          <p:cNvPr id="278" name="Text 275"/>
          <p:cNvSpPr/>
          <p:nvPr/>
        </p:nvSpPr>
        <p:spPr>
          <a:xfrm>
            <a:off x="713232" y="16547487"/>
            <a:ext cx="1453896" cy="2154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0–10 m</a:t>
            </a:r>
            <a:endParaRPr lang="en-US" sz="1100" dirty="0"/>
          </a:p>
        </p:txBody>
      </p:sp>
      <p:sp>
        <p:nvSpPr>
          <p:cNvPr id="279" name="Shape 276"/>
          <p:cNvSpPr/>
          <p:nvPr/>
        </p:nvSpPr>
        <p:spPr>
          <a:xfrm>
            <a:off x="2240280" y="16495776"/>
            <a:ext cx="640080" cy="327502"/>
          </a:xfrm>
          <a:prstGeom prst="rect">
            <a:avLst/>
          </a:prstGeom>
          <a:solidFill>
            <a:srgbClr val="F1EDF5"/>
          </a:solidFill>
          <a:ln w="12700">
            <a:solidFill>
              <a:srgbClr val="F1EDF5">
                <a:alpha val="0"/>
              </a:srgbClr>
            </a:solidFill>
            <a:prstDash val="solid"/>
          </a:ln>
        </p:spPr>
      </p:sp>
      <p:sp>
        <p:nvSpPr>
          <p:cNvPr id="280" name="Text 277"/>
          <p:cNvSpPr/>
          <p:nvPr/>
        </p:nvSpPr>
        <p:spPr>
          <a:xfrm>
            <a:off x="2267712" y="16547487"/>
            <a:ext cx="585216" cy="2154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45</a:t>
            </a:r>
            <a:endParaRPr lang="en-US" sz="1100" dirty="0"/>
          </a:p>
        </p:txBody>
      </p:sp>
      <p:sp>
        <p:nvSpPr>
          <p:cNvPr id="281" name="Shape 278"/>
          <p:cNvSpPr/>
          <p:nvPr/>
        </p:nvSpPr>
        <p:spPr>
          <a:xfrm>
            <a:off x="2880360" y="16495776"/>
            <a:ext cx="1234440" cy="327502"/>
          </a:xfrm>
          <a:prstGeom prst="rect">
            <a:avLst/>
          </a:prstGeom>
          <a:solidFill>
            <a:srgbClr val="F1EDF5"/>
          </a:solidFill>
          <a:ln w="12700">
            <a:solidFill>
              <a:srgbClr val="F1EDF5">
                <a:alpha val="0"/>
              </a:srgbClr>
            </a:solidFill>
            <a:prstDash val="solid"/>
          </a:ln>
        </p:spPr>
      </p:sp>
      <p:sp>
        <p:nvSpPr>
          <p:cNvPr id="282" name="Text 279"/>
          <p:cNvSpPr/>
          <p:nvPr/>
        </p:nvSpPr>
        <p:spPr>
          <a:xfrm>
            <a:off x="2907792" y="16547487"/>
            <a:ext cx="1179576" cy="2154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-0,1</a:t>
            </a:r>
            <a:endParaRPr lang="en-US" sz="1100" dirty="0"/>
          </a:p>
        </p:txBody>
      </p:sp>
      <p:sp>
        <p:nvSpPr>
          <p:cNvPr id="283" name="Shape 280"/>
          <p:cNvSpPr/>
          <p:nvPr/>
        </p:nvSpPr>
        <p:spPr>
          <a:xfrm>
            <a:off x="4160520" y="16495776"/>
            <a:ext cx="1097280" cy="327502"/>
          </a:xfrm>
          <a:prstGeom prst="rect">
            <a:avLst/>
          </a:prstGeom>
          <a:solidFill>
            <a:srgbClr val="F1EDF5"/>
          </a:solidFill>
          <a:ln w="12700">
            <a:solidFill>
              <a:srgbClr val="F1EDF5">
                <a:alpha val="0"/>
              </a:srgbClr>
            </a:solidFill>
            <a:prstDash val="solid"/>
          </a:ln>
        </p:spPr>
      </p:sp>
      <p:sp>
        <p:nvSpPr>
          <p:cNvPr id="284" name="Text 281"/>
          <p:cNvSpPr/>
          <p:nvPr/>
        </p:nvSpPr>
        <p:spPr>
          <a:xfrm>
            <a:off x="4187952" y="16547487"/>
            <a:ext cx="1042416" cy="2154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2,3</a:t>
            </a:r>
            <a:endParaRPr lang="en-US" sz="1100" dirty="0"/>
          </a:p>
        </p:txBody>
      </p:sp>
      <p:sp>
        <p:nvSpPr>
          <p:cNvPr id="285" name="Shape 282"/>
          <p:cNvSpPr/>
          <p:nvPr/>
        </p:nvSpPr>
        <p:spPr>
          <a:xfrm>
            <a:off x="5303520" y="16495776"/>
            <a:ext cx="960120" cy="327502"/>
          </a:xfrm>
          <a:prstGeom prst="rect">
            <a:avLst/>
          </a:prstGeom>
          <a:solidFill>
            <a:srgbClr val="F1EDF5"/>
          </a:solidFill>
          <a:ln w="12700">
            <a:solidFill>
              <a:srgbClr val="F1EDF5">
                <a:alpha val="0"/>
              </a:srgbClr>
            </a:solidFill>
            <a:prstDash val="solid"/>
          </a:ln>
        </p:spPr>
      </p:sp>
      <p:sp>
        <p:nvSpPr>
          <p:cNvPr id="286" name="Text 283"/>
          <p:cNvSpPr/>
          <p:nvPr/>
        </p:nvSpPr>
        <p:spPr>
          <a:xfrm>
            <a:off x="5330952" y="16547487"/>
            <a:ext cx="905256" cy="2154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71,1%</a:t>
            </a:r>
            <a:endParaRPr lang="en-US" sz="1100" dirty="0"/>
          </a:p>
        </p:txBody>
      </p:sp>
      <p:sp>
        <p:nvSpPr>
          <p:cNvPr id="287" name="Shape 284"/>
          <p:cNvSpPr/>
          <p:nvPr/>
        </p:nvSpPr>
        <p:spPr>
          <a:xfrm>
            <a:off x="685800" y="16840515"/>
            <a:ext cx="1508760" cy="327502"/>
          </a:xfrm>
          <a:prstGeom prst="rect">
            <a:avLst/>
          </a:prstGeom>
          <a:solidFill>
            <a:srgbClr val="F9F7FA"/>
          </a:solidFill>
          <a:ln w="12700">
            <a:solidFill>
              <a:srgbClr val="F9F7FA">
                <a:alpha val="0"/>
              </a:srgbClr>
            </a:solidFill>
            <a:prstDash val="solid"/>
          </a:ln>
        </p:spPr>
      </p:sp>
      <p:sp>
        <p:nvSpPr>
          <p:cNvPr id="288" name="Text 285"/>
          <p:cNvSpPr/>
          <p:nvPr/>
        </p:nvSpPr>
        <p:spPr>
          <a:xfrm>
            <a:off x="713232" y="16892226"/>
            <a:ext cx="1453896" cy="2154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</a:t>
            </a:r>
            <a:endParaRPr lang="en-US" sz="1100" dirty="0"/>
          </a:p>
        </p:txBody>
      </p:sp>
      <p:sp>
        <p:nvSpPr>
          <p:cNvPr id="289" name="Shape 286"/>
          <p:cNvSpPr/>
          <p:nvPr/>
        </p:nvSpPr>
        <p:spPr>
          <a:xfrm>
            <a:off x="2240280" y="16840515"/>
            <a:ext cx="640080" cy="327502"/>
          </a:xfrm>
          <a:prstGeom prst="rect">
            <a:avLst/>
          </a:prstGeom>
          <a:solidFill>
            <a:srgbClr val="F9F7FA"/>
          </a:solidFill>
          <a:ln w="12700">
            <a:solidFill>
              <a:srgbClr val="F9F7FA">
                <a:alpha val="0"/>
              </a:srgbClr>
            </a:solidFill>
            <a:prstDash val="solid"/>
          </a:ln>
        </p:spPr>
      </p:sp>
      <p:sp>
        <p:nvSpPr>
          <p:cNvPr id="290" name="Text 287"/>
          <p:cNvSpPr/>
          <p:nvPr/>
        </p:nvSpPr>
        <p:spPr>
          <a:xfrm>
            <a:off x="2267712" y="16892226"/>
            <a:ext cx="585216" cy="2154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28</a:t>
            </a:r>
            <a:endParaRPr lang="en-US" sz="1100" dirty="0"/>
          </a:p>
        </p:txBody>
      </p:sp>
      <p:sp>
        <p:nvSpPr>
          <p:cNvPr id="291" name="Shape 288"/>
          <p:cNvSpPr/>
          <p:nvPr/>
        </p:nvSpPr>
        <p:spPr>
          <a:xfrm>
            <a:off x="2880360" y="16840515"/>
            <a:ext cx="1234440" cy="327502"/>
          </a:xfrm>
          <a:prstGeom prst="rect">
            <a:avLst/>
          </a:prstGeom>
          <a:solidFill>
            <a:srgbClr val="F9F7FA"/>
          </a:solidFill>
          <a:ln w="12700">
            <a:solidFill>
              <a:srgbClr val="F9F7FA">
                <a:alpha val="0"/>
              </a:srgbClr>
            </a:solidFill>
            <a:prstDash val="solid"/>
          </a:ln>
        </p:spPr>
      </p:sp>
      <p:sp>
        <p:nvSpPr>
          <p:cNvPr id="292" name="Text 289"/>
          <p:cNvSpPr/>
          <p:nvPr/>
        </p:nvSpPr>
        <p:spPr>
          <a:xfrm>
            <a:off x="2907792" y="16892226"/>
            <a:ext cx="1179576" cy="2154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-5,1</a:t>
            </a:r>
            <a:endParaRPr lang="en-US" sz="1100" dirty="0"/>
          </a:p>
        </p:txBody>
      </p:sp>
      <p:sp>
        <p:nvSpPr>
          <p:cNvPr id="293" name="Shape 290"/>
          <p:cNvSpPr/>
          <p:nvPr/>
        </p:nvSpPr>
        <p:spPr>
          <a:xfrm>
            <a:off x="4160520" y="16840515"/>
            <a:ext cx="1097280" cy="327502"/>
          </a:xfrm>
          <a:prstGeom prst="rect">
            <a:avLst/>
          </a:prstGeom>
          <a:solidFill>
            <a:srgbClr val="F9F7FA"/>
          </a:solidFill>
          <a:ln w="12700">
            <a:solidFill>
              <a:srgbClr val="F9F7FA">
                <a:alpha val="0"/>
              </a:srgbClr>
            </a:solidFill>
            <a:prstDash val="solid"/>
          </a:ln>
        </p:spPr>
      </p:sp>
      <p:sp>
        <p:nvSpPr>
          <p:cNvPr id="294" name="Text 291"/>
          <p:cNvSpPr/>
          <p:nvPr/>
        </p:nvSpPr>
        <p:spPr>
          <a:xfrm>
            <a:off x="4187952" y="16892226"/>
            <a:ext cx="1042416" cy="2154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5,5</a:t>
            </a:r>
            <a:endParaRPr lang="en-US" sz="1100" dirty="0"/>
          </a:p>
        </p:txBody>
      </p:sp>
      <p:sp>
        <p:nvSpPr>
          <p:cNvPr id="295" name="Shape 292"/>
          <p:cNvSpPr/>
          <p:nvPr/>
        </p:nvSpPr>
        <p:spPr>
          <a:xfrm>
            <a:off x="5303520" y="16840515"/>
            <a:ext cx="960120" cy="327502"/>
          </a:xfrm>
          <a:prstGeom prst="rect">
            <a:avLst/>
          </a:prstGeom>
          <a:solidFill>
            <a:srgbClr val="F9F7FA"/>
          </a:solidFill>
          <a:ln w="12700">
            <a:solidFill>
              <a:srgbClr val="F9F7FA">
                <a:alpha val="0"/>
              </a:srgbClr>
            </a:solidFill>
            <a:prstDash val="solid"/>
          </a:ln>
        </p:spPr>
      </p:sp>
      <p:sp>
        <p:nvSpPr>
          <p:cNvPr id="296" name="Text 293"/>
          <p:cNvSpPr/>
          <p:nvPr/>
        </p:nvSpPr>
        <p:spPr>
          <a:xfrm>
            <a:off x="5330952" y="16892226"/>
            <a:ext cx="905256" cy="2154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17,9%</a:t>
            </a:r>
            <a:endParaRPr lang="en-US" sz="1100" dirty="0"/>
          </a:p>
        </p:txBody>
      </p:sp>
      <p:sp>
        <p:nvSpPr>
          <p:cNvPr id="297" name="Shape 294"/>
          <p:cNvSpPr/>
          <p:nvPr/>
        </p:nvSpPr>
        <p:spPr>
          <a:xfrm>
            <a:off x="685800" y="17185255"/>
            <a:ext cx="1508760" cy="327502"/>
          </a:xfrm>
          <a:prstGeom prst="rect">
            <a:avLst/>
          </a:prstGeom>
          <a:solidFill>
            <a:srgbClr val="F1EDF5"/>
          </a:solidFill>
          <a:ln w="12700">
            <a:solidFill>
              <a:srgbClr val="F1EDF5">
                <a:alpha val="0"/>
              </a:srgbClr>
            </a:solidFill>
            <a:prstDash val="solid"/>
          </a:ln>
        </p:spPr>
      </p:sp>
      <p:sp>
        <p:nvSpPr>
          <p:cNvPr id="298" name="Text 295"/>
          <p:cNvSpPr/>
          <p:nvPr/>
        </p:nvSpPr>
        <p:spPr>
          <a:xfrm>
            <a:off x="713232" y="17236966"/>
            <a:ext cx="1453896" cy="2154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20–40 m</a:t>
            </a:r>
            <a:endParaRPr lang="en-US" sz="1100" dirty="0"/>
          </a:p>
        </p:txBody>
      </p:sp>
      <p:sp>
        <p:nvSpPr>
          <p:cNvPr id="299" name="Shape 296"/>
          <p:cNvSpPr/>
          <p:nvPr/>
        </p:nvSpPr>
        <p:spPr>
          <a:xfrm>
            <a:off x="2240280" y="17185255"/>
            <a:ext cx="640080" cy="327502"/>
          </a:xfrm>
          <a:prstGeom prst="rect">
            <a:avLst/>
          </a:prstGeom>
          <a:solidFill>
            <a:srgbClr val="F1EDF5"/>
          </a:solidFill>
          <a:ln w="12700">
            <a:solidFill>
              <a:srgbClr val="F1EDF5">
                <a:alpha val="0"/>
              </a:srgbClr>
            </a:solidFill>
            <a:prstDash val="solid"/>
          </a:ln>
        </p:spPr>
      </p:sp>
      <p:sp>
        <p:nvSpPr>
          <p:cNvPr id="300" name="Text 297"/>
          <p:cNvSpPr/>
          <p:nvPr/>
        </p:nvSpPr>
        <p:spPr>
          <a:xfrm>
            <a:off x="2267712" y="17236966"/>
            <a:ext cx="585216" cy="2154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</a:t>
            </a:r>
            <a:endParaRPr lang="en-US" sz="1100" dirty="0"/>
          </a:p>
        </p:txBody>
      </p:sp>
      <p:sp>
        <p:nvSpPr>
          <p:cNvPr id="301" name="Shape 298"/>
          <p:cNvSpPr/>
          <p:nvPr/>
        </p:nvSpPr>
        <p:spPr>
          <a:xfrm>
            <a:off x="2880360" y="17185255"/>
            <a:ext cx="1234440" cy="327502"/>
          </a:xfrm>
          <a:prstGeom prst="rect">
            <a:avLst/>
          </a:prstGeom>
          <a:solidFill>
            <a:srgbClr val="F1EDF5"/>
          </a:solidFill>
          <a:ln w="12700">
            <a:solidFill>
              <a:srgbClr val="F1EDF5">
                <a:alpha val="0"/>
              </a:srgbClr>
            </a:solidFill>
            <a:prstDash val="solid"/>
          </a:ln>
        </p:spPr>
      </p:sp>
      <p:sp>
        <p:nvSpPr>
          <p:cNvPr id="302" name="Text 299"/>
          <p:cNvSpPr/>
          <p:nvPr/>
        </p:nvSpPr>
        <p:spPr>
          <a:xfrm>
            <a:off x="2907792" y="17236966"/>
            <a:ext cx="1179576" cy="2154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-15,7</a:t>
            </a:r>
            <a:endParaRPr lang="en-US" sz="1100" dirty="0"/>
          </a:p>
        </p:txBody>
      </p:sp>
      <p:sp>
        <p:nvSpPr>
          <p:cNvPr id="303" name="Shape 300"/>
          <p:cNvSpPr/>
          <p:nvPr/>
        </p:nvSpPr>
        <p:spPr>
          <a:xfrm>
            <a:off x="4160520" y="17185255"/>
            <a:ext cx="1097280" cy="327502"/>
          </a:xfrm>
          <a:prstGeom prst="rect">
            <a:avLst/>
          </a:prstGeom>
          <a:solidFill>
            <a:srgbClr val="F1EDF5"/>
          </a:solidFill>
          <a:ln w="12700">
            <a:solidFill>
              <a:srgbClr val="F1EDF5">
                <a:alpha val="0"/>
              </a:srgbClr>
            </a:solidFill>
            <a:prstDash val="solid"/>
          </a:ln>
        </p:spPr>
      </p:sp>
      <p:sp>
        <p:nvSpPr>
          <p:cNvPr id="304" name="Text 301"/>
          <p:cNvSpPr/>
          <p:nvPr/>
        </p:nvSpPr>
        <p:spPr>
          <a:xfrm>
            <a:off x="4187952" y="17236966"/>
            <a:ext cx="1042416" cy="2154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15,7</a:t>
            </a:r>
            <a:endParaRPr lang="en-US" sz="1100" dirty="0"/>
          </a:p>
        </p:txBody>
      </p:sp>
      <p:sp>
        <p:nvSpPr>
          <p:cNvPr id="305" name="Shape 302"/>
          <p:cNvSpPr/>
          <p:nvPr/>
        </p:nvSpPr>
        <p:spPr>
          <a:xfrm>
            <a:off x="5303520" y="17185255"/>
            <a:ext cx="960120" cy="327502"/>
          </a:xfrm>
          <a:prstGeom prst="rect">
            <a:avLst/>
          </a:prstGeom>
          <a:solidFill>
            <a:srgbClr val="F1EDF5"/>
          </a:solidFill>
          <a:ln w="12700">
            <a:solidFill>
              <a:srgbClr val="F1EDF5">
                <a:alpha val="0"/>
              </a:srgbClr>
            </a:solidFill>
            <a:prstDash val="solid"/>
          </a:ln>
        </p:spPr>
      </p:sp>
      <p:sp>
        <p:nvSpPr>
          <p:cNvPr id="306" name="Text 303"/>
          <p:cNvSpPr/>
          <p:nvPr/>
        </p:nvSpPr>
        <p:spPr>
          <a:xfrm>
            <a:off x="5330952" y="17236966"/>
            <a:ext cx="905256" cy="2154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10,0%</a:t>
            </a:r>
            <a:endParaRPr lang="en-US" sz="1100" dirty="0"/>
          </a:p>
        </p:txBody>
      </p:sp>
      <p:sp>
        <p:nvSpPr>
          <p:cNvPr id="307" name="Text 304"/>
          <p:cNvSpPr/>
          <p:nvPr/>
        </p:nvSpPr>
        <p:spPr>
          <a:xfrm>
            <a:off x="713232" y="17710982"/>
            <a:ext cx="6080760" cy="4740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25A6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Referințe OSM; total n = 88. Cinci cazuri ≥ 40 m sunt omise din tabel.</a:t>
            </a:r>
            <a:endParaRPr lang="en-US" sz="1100" dirty="0"/>
          </a:p>
        </p:txBody>
      </p:sp>
      <p:sp>
        <p:nvSpPr>
          <p:cNvPr id="308" name="Text 305"/>
          <p:cNvSpPr/>
          <p:nvPr/>
        </p:nvSpPr>
        <p:spPr>
          <a:xfrm>
            <a:off x="713232" y="18253946"/>
            <a:ext cx="6080760" cy="4740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25A6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Subset concordant cu etajele: n = 37; bias −5,0 m; MAE 6,1 m.</a:t>
            </a:r>
            <a:endParaRPr lang="en-US" sz="1100" dirty="0"/>
          </a:p>
        </p:txBody>
      </p:sp>
      <p:sp>
        <p:nvSpPr>
          <p:cNvPr id="309" name="Text 306"/>
          <p:cNvSpPr/>
          <p:nvPr/>
        </p:nvSpPr>
        <p:spPr>
          <a:xfrm>
            <a:off x="7635240" y="15702876"/>
            <a:ext cx="6309360" cy="2757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1. Mai multe înălțimi disponibile</a:t>
            </a:r>
            <a:endParaRPr lang="en-US" sz="1400" dirty="0"/>
          </a:p>
        </p:txBody>
      </p:sp>
      <p:sp>
        <p:nvSpPr>
          <p:cNvPr id="310" name="Text 307"/>
          <p:cNvSpPr/>
          <p:nvPr/>
        </p:nvSpPr>
        <p:spPr>
          <a:xfrm>
            <a:off x="7635240" y="16013141"/>
            <a:ext cx="6309360" cy="482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Date OSM în 41 orașe; Copernicus 2012 completează înălțimi lipsă unde are acoperire. Măsurătorile confirmate au prioritate.</a:t>
            </a:r>
            <a:endParaRPr lang="en-US" sz="1200" dirty="0"/>
          </a:p>
        </p:txBody>
      </p:sp>
      <p:sp>
        <p:nvSpPr>
          <p:cNvPr id="311" name="Text 308"/>
          <p:cNvSpPr/>
          <p:nvPr/>
        </p:nvSpPr>
        <p:spPr>
          <a:xfrm>
            <a:off x="7635240" y="16547487"/>
            <a:ext cx="6309360" cy="2757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2. Recomandare adaptată vremii</a:t>
            </a:r>
            <a:endParaRPr lang="en-US" sz="1400" dirty="0"/>
          </a:p>
        </p:txBody>
      </p:sp>
      <p:sp>
        <p:nvSpPr>
          <p:cNvPr id="312" name="Text 309"/>
          <p:cNvSpPr/>
          <p:nvPr/>
        </p:nvSpPr>
        <p:spPr>
          <a:xfrm>
            <a:off x="7635240" y="16857752"/>
            <a:ext cx="6309360" cy="482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Prognoza Open-Meteo ajustează alegerea între alternative, în funcție de radiația directă și durata mersului.</a:t>
            </a:r>
            <a:endParaRPr lang="en-US" sz="1200" dirty="0"/>
          </a:p>
        </p:txBody>
      </p:sp>
      <p:sp>
        <p:nvSpPr>
          <p:cNvPr id="313" name="Text 310"/>
          <p:cNvSpPr/>
          <p:nvPr/>
        </p:nvSpPr>
        <p:spPr>
          <a:xfrm>
            <a:off x="7635240" y="17392098"/>
            <a:ext cx="6309360" cy="2757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3. Măsurare → hartă → traseu</a:t>
            </a:r>
            <a:endParaRPr lang="en-US" sz="1400" dirty="0"/>
          </a:p>
        </p:txBody>
      </p:sp>
      <p:sp>
        <p:nvSpPr>
          <p:cNvPr id="314" name="Text 311"/>
          <p:cNvSpPr/>
          <p:nvPr/>
        </p:nvSpPr>
        <p:spPr>
          <a:xfrm>
            <a:off x="7635240" y="17702364"/>
            <a:ext cx="6309360" cy="482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Telefonul salvează măsurători; baza comună este opțională. Serverul recalculează înălțimile și actualizează umbrele.</a:t>
            </a:r>
            <a:endParaRPr lang="en-US" sz="1200" dirty="0"/>
          </a:p>
        </p:txBody>
      </p:sp>
      <p:sp>
        <p:nvSpPr>
          <p:cNvPr id="315" name="Text 312"/>
          <p:cNvSpPr/>
          <p:nvPr/>
        </p:nvSpPr>
        <p:spPr>
          <a:xfrm>
            <a:off x="7635240" y="18253946"/>
            <a:ext cx="6309360" cy="4740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441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Testată pe teren în Constanța. Rutare în 41 orașe publicate; extindere automată prin catalogul de date.</a:t>
            </a:r>
            <a:endParaRPr lang="en-US" sz="1200" dirty="0"/>
          </a:p>
        </p:txBody>
      </p:sp>
      <p:sp>
        <p:nvSpPr>
          <p:cNvPr id="316" name="Shape 313"/>
          <p:cNvSpPr/>
          <p:nvPr/>
        </p:nvSpPr>
        <p:spPr>
          <a:xfrm>
            <a:off x="548640" y="18960662"/>
            <a:ext cx="13533120" cy="413687"/>
          </a:xfrm>
          <a:prstGeom prst="rect">
            <a:avLst/>
          </a:prstGeom>
          <a:solidFill>
            <a:srgbClr val="B84419"/>
          </a:solidFill>
          <a:ln w="12700">
            <a:solidFill>
              <a:srgbClr val="B84419">
                <a:alpha val="0"/>
              </a:srgbClr>
            </a:solidFill>
            <a:prstDash val="solid"/>
          </a:ln>
        </p:spPr>
      </p:sp>
      <p:sp>
        <p:nvSpPr>
          <p:cNvPr id="317" name="Text 314"/>
          <p:cNvSpPr/>
          <p:nvPr/>
        </p:nvSpPr>
        <p:spPr>
          <a:xfrm>
            <a:off x="713232" y="19038228"/>
            <a:ext cx="13075920" cy="2240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CONCLUZIE: ÎNĂLȚIMILE LOCALE ȘI MOMENTUL MĂSURĂRII CONTEAZĂ ÎN MODELAREA UMBRELOR.</a:t>
            </a:r>
            <a:endParaRPr lang="en-US" sz="1400" dirty="0"/>
          </a:p>
        </p:txBody>
      </p:sp>
      <p:sp>
        <p:nvSpPr>
          <p:cNvPr id="318" name="Text 315"/>
          <p:cNvSpPr/>
          <p:nvPr/>
        </p:nvSpPr>
        <p:spPr>
          <a:xfrm>
            <a:off x="594360" y="19529482"/>
            <a:ext cx="12070080" cy="4136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25A6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Surse: © OpenStreetMap contributors (ODbL); GlobalBuildingAtlas (ESSD 2025); Open-Meteo (CC BY 4.0); NOAA/Meeus.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25A6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Copernicus: © European Union, Copernicus Land Monitoring Service 2022, European Environment Agency (EEA).</a:t>
            </a:r>
            <a:endParaRPr lang="en-US" sz="1100" dirty="0"/>
          </a:p>
        </p:txBody>
      </p:sp>
      <p:sp>
        <p:nvSpPr>
          <p:cNvPr id="319" name="Shape 316"/>
          <p:cNvSpPr/>
          <p:nvPr/>
        </p:nvSpPr>
        <p:spPr>
          <a:xfrm>
            <a:off x="594360" y="20012117"/>
            <a:ext cx="12298680" cy="914"/>
          </a:xfrm>
          <a:prstGeom prst="line">
            <a:avLst/>
          </a:prstGeom>
          <a:noFill/>
          <a:ln w="8890">
            <a:solidFill>
              <a:srgbClr val="DDD7E2"/>
            </a:solidFill>
            <a:prstDash val="solid"/>
          </a:ln>
        </p:spPr>
      </p:sp>
      <p:pic>
        <p:nvPicPr>
          <p:cNvPr id="320" name="Image 1" descr="/home/kawase/Documents/GitHub/umbra/docs/poster/qr-githu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7360" y="19460534"/>
            <a:ext cx="914400" cy="914400"/>
          </a:xfrm>
          <a:prstGeom prst="rect">
            <a:avLst/>
          </a:prstGeom>
        </p:spPr>
      </p:pic>
      <p:sp>
        <p:nvSpPr>
          <p:cNvPr id="321" name="Text 317"/>
          <p:cNvSpPr/>
          <p:nvPr/>
        </p:nvSpPr>
        <p:spPr>
          <a:xfrm>
            <a:off x="594360" y="20081065"/>
            <a:ext cx="12252960" cy="2154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21B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Liceul Tehnologic de Marină · Liceul Internațional de Informatică Constanța · Liceul Tehnologic de Electrotehnică și Telecomunicații</a:t>
            </a:r>
            <a:endParaRPr lang="en-US" sz="1100" dirty="0"/>
          </a:p>
        </p:txBody>
      </p:sp>
      <p:sp>
        <p:nvSpPr>
          <p:cNvPr id="322" name="Text 318"/>
          <p:cNvSpPr/>
          <p:nvPr/>
        </p:nvSpPr>
        <p:spPr>
          <a:xfrm>
            <a:off x="594360" y="20331001"/>
            <a:ext cx="12252960" cy="2154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25A6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Coordonator: prof. Ramona Rădulescu · Informatică pentru Viitor · radramra@gmail.com     |     github.com/Ieditzu/umbra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UMBRA — poster științific</dc:title>
  <dc:subject>PptxGenJS Presentation</dc:subject>
  <dc:creator>Echipa Umbra</dc:creator>
  <cp:lastModifiedBy>Echipa Umbra</cp:lastModifiedBy>
  <cp:revision>1</cp:revision>
  <dcterms:created xsi:type="dcterms:W3CDTF">2026-10-29T10:56:06Z</dcterms:created>
  <dcterms:modified xsi:type="dcterms:W3CDTF">2026-10-29T10:56:06Z</dcterms:modified>
</cp:coreProperties>
</file>