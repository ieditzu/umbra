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4630400" cy="21945600"/>
  <p:notesSz cx="21945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RoSEF 2026  /  TEHNOLOGIA INFORMAȚIEI ȘI COMUNICAȚIILOR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UMBRA</a:t>
            </a:r>
            <a:endParaRPr lang="en-US" sz="8200" dirty="0"/>
          </a:p>
        </p:txBody>
      </p:sp>
      <p:sp>
        <p:nvSpPr>
          <p:cNvPr id="4" name="Text 2"/>
          <p:cNvSpPr/>
          <p:nvPr/>
        </p:nvSpPr>
        <p:spPr>
          <a:xfrm>
            <a:off x="8641080" y="585216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Trasee umbrite.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Înălțimi din umbre.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641080" y="161848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Aplicație mobilă + cercetare  /  Constanța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956816"/>
            <a:ext cx="1335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Eduard-Mihai Perjoc · Eduard-Andrei Haivas · Cezar-Ștefan Manea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313432"/>
            <a:ext cx="1280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Clasa a X-a · Constanța    |    Coordonator: prof. Ramona Rădulescu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3533120" cy="914"/>
          </a:xfrm>
          <a:prstGeom prst="line">
            <a:avLst/>
          </a:prstGeom>
          <a:noFill/>
          <a:ln w="19050">
            <a:solidFill>
              <a:srgbClr val="321B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88920"/>
            <a:ext cx="4251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8209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 CE FACE APLICAȚIA UMBRA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 unde mergi cu mai puțin soare?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Alegi plecarea, destinația, ora și ocolul maxim acceptat.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4498848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Serverul modelează Soarele și umbrele și compară traseele. Telefonul afișează harta și ghidarea GPS.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5285232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„Măsoară clădirea”: GPS, ruletă/laser sau fotografie din dronă → înălțime și incertitudine.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6007608"/>
            <a:ext cx="4114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Înălțimi confirmate → umbre și trasee.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Salvare locală; partajare opțională.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6510528"/>
            <a:ext cx="4251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65425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 PRINCIPIU ȘI METODĂ</a:t>
            </a:r>
            <a:endParaRPr lang="en-US" sz="1300" dirty="0"/>
          </a:p>
        </p:txBody>
      </p:sp>
      <p:pic>
        <p:nvPicPr>
          <p:cNvPr id="18" name="Image 0" descr="/home/perjoc/github/umbra/docs/poster/scientific/building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912864"/>
            <a:ext cx="3886200" cy="193852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051560" y="7845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788920" y="8595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3502152" y="8211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8368" y="90342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 = L · tan(e)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658368" y="952804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h: înălțime · L: lungimea umbrei · e: elevația Soarelui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257800" y="2788920"/>
            <a:ext cx="8823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67528" y="2820924"/>
            <a:ext cx="8641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 DATE ȘI REZULTATE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303520" y="324612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1  Datele de înălțime lipsesc pentru 87,8% din clădiri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40680" y="3822192"/>
            <a:ext cx="42884" cy="475488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3564" y="3822192"/>
            <a:ext cx="935695" cy="47548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19259" y="3822192"/>
            <a:ext cx="7146130" cy="475488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3565389" y="3822192"/>
            <a:ext cx="13451" cy="475488"/>
          </a:xfrm>
          <a:prstGeom prst="rect">
            <a:avLst/>
          </a:prstGeom>
          <a:solidFill>
            <a:srgbClr val="D2CBD7"/>
          </a:solidFill>
          <a:ln w="12700">
            <a:solidFill>
              <a:srgbClr val="D2CBD7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72400" y="3886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45.159 fără înălțime sau etaje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44068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271 înălțimi OSM · 5.913 doar etaje · 85 alte cazuri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440680" y="4882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Instantaneu OSM Constanța: 51.428 clădiri; GBA asociat la 40.658 (79,1%).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303520" y="55778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2  Înălțimea GBA pe etaj scade la blocurile înalte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989320" y="853135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69280" y="842162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989320" y="797128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0" y="786155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989320" y="741121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0" y="730148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989320" y="685114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669280" y="674141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989320" y="629107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669280" y="618134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519672" y="6313475"/>
            <a:ext cx="822960" cy="2217877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519672" y="6039155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3,96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291072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1–2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2.591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330184" y="7332802"/>
            <a:ext cx="822960" cy="1198550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30184" y="705848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2,14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8101584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3–4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965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140696" y="7528827"/>
            <a:ext cx="822960" cy="1002525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140696" y="7254507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1,79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912096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5–8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1.042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11951208" y="7769657"/>
            <a:ext cx="822960" cy="761695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1951208" y="7495337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1,36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11722608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9–12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309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989320" y="9125712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Mediana înălțimii GBA / etaje (m)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989320" y="940917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4.925 asocieri; graficul prezintă 4.907 clădiri cu 1–12 etaje.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548640" y="10104120"/>
            <a:ext cx="649224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58368" y="1013612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 MODELUL INCERTITUDINII</a:t>
            </a:r>
            <a:endParaRPr lang="en-US" sz="1300" dirty="0"/>
          </a:p>
        </p:txBody>
      </p:sp>
      <p:sp>
        <p:nvSpPr>
          <p:cNvPr id="61" name="Shape 58"/>
          <p:cNvSpPr/>
          <p:nvPr/>
        </p:nvSpPr>
        <p:spPr>
          <a:xfrm>
            <a:off x="7498080" y="10104120"/>
            <a:ext cx="658368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607808" y="101361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 FEZABILITATE GEOMETRICĂ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94360" y="10533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3  Eroarea crește la Soare înalt</a:t>
            </a:r>
            <a:endParaRPr lang="en-US" sz="1500" dirty="0"/>
          </a:p>
        </p:txBody>
      </p:sp>
      <p:sp>
        <p:nvSpPr>
          <p:cNvPr id="64" name="Text 61"/>
          <p:cNvSpPr/>
          <p:nvPr/>
        </p:nvSpPr>
        <p:spPr>
          <a:xfrm>
            <a:off x="7543800" y="10533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4  Vârf de umbră neobstrucționat</a:t>
            </a:r>
            <a:endParaRPr lang="en-US" sz="1500" dirty="0"/>
          </a:p>
        </p:txBody>
      </p:sp>
      <p:sp>
        <p:nvSpPr>
          <p:cNvPr id="65" name="Text 62"/>
          <p:cNvSpPr/>
          <p:nvPr/>
        </p:nvSpPr>
        <p:spPr>
          <a:xfrm>
            <a:off x="1097280" y="11237976"/>
            <a:ext cx="5440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Eroarea înălțimii δh (m)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1097280" y="1421892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768096" y="141274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1097280" y="1355598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68096" y="134645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97280" y="1289304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68096" y="1280160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97280" y="1223010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68096" y="1213866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941832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1778860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2615887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30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3452915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40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289943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50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5126970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</a:t>
            </a:r>
            <a:endParaRPr lang="en-US" sz="1000" dirty="0"/>
          </a:p>
        </p:txBody>
      </p:sp>
      <p:sp>
        <p:nvSpPr>
          <p:cNvPr id="80" name="Text 77"/>
          <p:cNvSpPr/>
          <p:nvPr/>
        </p:nvSpPr>
        <p:spPr>
          <a:xfrm>
            <a:off x="5963998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70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 flipV="1">
            <a:off x="1097280" y="14090058"/>
            <a:ext cx="83703" cy="1196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1180983" y="14078008"/>
            <a:ext cx="83703" cy="1205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1264686" y="14065868"/>
            <a:ext cx="83703" cy="1214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V="1">
            <a:off x="1348388" y="14053630"/>
            <a:ext cx="83703" cy="1223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1432091" y="14041286"/>
            <a:ext cx="83703" cy="1234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515794" y="14028825"/>
            <a:ext cx="83703" cy="1246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V="1">
            <a:off x="1599497" y="14016239"/>
            <a:ext cx="83703" cy="1258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V="1">
            <a:off x="1683199" y="14003518"/>
            <a:ext cx="83703" cy="1272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766902" y="13990651"/>
            <a:ext cx="83703" cy="1286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850605" y="13977630"/>
            <a:ext cx="83703" cy="1302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1934308" y="13964441"/>
            <a:ext cx="83703" cy="131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2018010" y="13951075"/>
            <a:ext cx="83703" cy="1336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2101713" y="13937519"/>
            <a:ext cx="83703" cy="1355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2185416" y="13923760"/>
            <a:ext cx="83703" cy="1375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 flipV="1">
            <a:off x="2269119" y="13909786"/>
            <a:ext cx="83703" cy="1397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 flipV="1">
            <a:off x="2352822" y="13895583"/>
            <a:ext cx="83703" cy="1420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2436524" y="13881135"/>
            <a:ext cx="83703" cy="1444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2520227" y="13866429"/>
            <a:ext cx="83703" cy="1470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2603930" y="13851446"/>
            <a:ext cx="83703" cy="1498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2687633" y="13836171"/>
            <a:ext cx="83703" cy="1527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V="1">
            <a:off x="2771335" y="13820585"/>
            <a:ext cx="83703" cy="1558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V="1">
            <a:off x="2855038" y="13804669"/>
            <a:ext cx="83703" cy="1591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2938741" y="13788402"/>
            <a:ext cx="83703" cy="1626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V="1">
            <a:off x="3022444" y="13771761"/>
            <a:ext cx="83703" cy="1664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V="1">
            <a:off x="3106146" y="13754724"/>
            <a:ext cx="83703" cy="1703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V="1">
            <a:off x="3189849" y="13737266"/>
            <a:ext cx="83703" cy="1745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3273552" y="13719359"/>
            <a:ext cx="83703" cy="1790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3357255" y="13700975"/>
            <a:ext cx="83703" cy="183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V="1">
            <a:off x="3440958" y="13682082"/>
            <a:ext cx="83703" cy="1889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 flipV="1">
            <a:off x="3524660" y="13662647"/>
            <a:ext cx="83703" cy="1943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3608363" y="13642635"/>
            <a:ext cx="83703" cy="2001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 flipV="1">
            <a:off x="3692066" y="13622006"/>
            <a:ext cx="83703" cy="2062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775769" y="13600718"/>
            <a:ext cx="83703" cy="212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 flipV="1">
            <a:off x="3859471" y="13578726"/>
            <a:ext cx="83703" cy="2199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943174" y="13555980"/>
            <a:ext cx="83703" cy="2274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4026877" y="13532426"/>
            <a:ext cx="83703" cy="2355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4110580" y="13508004"/>
            <a:ext cx="83703" cy="2442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4194282" y="13482651"/>
            <a:ext cx="83703" cy="2535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4277985" y="13456295"/>
            <a:ext cx="83703" cy="2635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361688" y="13428859"/>
            <a:ext cx="83703" cy="2743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 flipV="1">
            <a:off x="4445391" y="13400257"/>
            <a:ext cx="83703" cy="2860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 flipV="1">
            <a:off x="4529094" y="13370395"/>
            <a:ext cx="83703" cy="2986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4612796" y="13339169"/>
            <a:ext cx="83703" cy="3122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V="1">
            <a:off x="4696499" y="13306461"/>
            <a:ext cx="83703" cy="3270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4780202" y="13272144"/>
            <a:ext cx="83703" cy="3431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V="1">
            <a:off x="4863905" y="13236071"/>
            <a:ext cx="83703" cy="3607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4947607" y="13198082"/>
            <a:ext cx="83703" cy="3798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5031310" y="13157994"/>
            <a:ext cx="83703" cy="400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 flipV="1">
            <a:off x="5115013" y="13115603"/>
            <a:ext cx="83703" cy="4239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 flipV="1">
            <a:off x="5198716" y="13070674"/>
            <a:ext cx="83703" cy="4492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282418" y="13022945"/>
            <a:ext cx="83703" cy="4773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5366121" y="12972111"/>
            <a:ext cx="83703" cy="5083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 flipV="1">
            <a:off x="5449824" y="12917827"/>
            <a:ext cx="83703" cy="542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5533527" y="12859692"/>
            <a:ext cx="83703" cy="5813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5617230" y="12797241"/>
            <a:ext cx="83703" cy="6245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5700932" y="12729932"/>
            <a:ext cx="83703" cy="6730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 flipV="1">
            <a:off x="5784635" y="12657131"/>
            <a:ext cx="83703" cy="7280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 flipV="1">
            <a:off x="5868338" y="12578086"/>
            <a:ext cx="83703" cy="7904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 flipV="1">
            <a:off x="5952041" y="12491902"/>
            <a:ext cx="83703" cy="861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 flipV="1">
            <a:off x="6035743" y="12397507"/>
            <a:ext cx="83703" cy="9439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V="1">
            <a:off x="6119446" y="12293602"/>
            <a:ext cx="83703" cy="10390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V="1">
            <a:off x="6203149" y="12178600"/>
            <a:ext cx="83703" cy="11500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6286852" y="12050541"/>
            <a:ext cx="83703" cy="12806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6370554" y="11906973"/>
            <a:ext cx="83703" cy="14356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V="1">
            <a:off x="6454257" y="11744794"/>
            <a:ext cx="83703" cy="16217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 flipV="1">
            <a:off x="1097280" y="14211188"/>
            <a:ext cx="83703" cy="71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1180983" y="14210465"/>
            <a:ext cx="83703" cy="72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 flipV="1">
            <a:off x="1264686" y="14209737"/>
            <a:ext cx="83703" cy="72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 flipV="1">
            <a:off x="1348388" y="14209003"/>
            <a:ext cx="83703" cy="7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 flipV="1">
            <a:off x="1432091" y="14208262"/>
            <a:ext cx="83703" cy="74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 flipV="1">
            <a:off x="1515794" y="14207514"/>
            <a:ext cx="83703" cy="74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1599497" y="14206759"/>
            <a:ext cx="83703" cy="75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1683199" y="14205996"/>
            <a:ext cx="83703" cy="76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1766902" y="14205224"/>
            <a:ext cx="83703" cy="77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 flipV="1">
            <a:off x="1850605" y="14204443"/>
            <a:ext cx="83703" cy="78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 flipV="1">
            <a:off x="1934308" y="14203651"/>
            <a:ext cx="83703" cy="79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 flipV="1">
            <a:off x="2018010" y="14202849"/>
            <a:ext cx="83703" cy="80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 flipV="1">
            <a:off x="2101713" y="14202036"/>
            <a:ext cx="83703" cy="81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V="1">
            <a:off x="2185416" y="14201210"/>
            <a:ext cx="83703" cy="82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V="1">
            <a:off x="2269119" y="14200372"/>
            <a:ext cx="83703" cy="8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V="1">
            <a:off x="2352822" y="14199520"/>
            <a:ext cx="83703" cy="85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V="1">
            <a:off x="2436524" y="14198653"/>
            <a:ext cx="83703" cy="86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V="1">
            <a:off x="2520227" y="14197771"/>
            <a:ext cx="83703" cy="88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V="1">
            <a:off x="2603930" y="14196872"/>
            <a:ext cx="83703" cy="89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 flipV="1">
            <a:off x="2687633" y="14195955"/>
            <a:ext cx="83703" cy="91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 flipV="1">
            <a:off x="2771335" y="14195020"/>
            <a:ext cx="83703" cy="93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 flipV="1">
            <a:off x="2855038" y="14194065"/>
            <a:ext cx="83703" cy="95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 flipV="1">
            <a:off x="2938741" y="14193089"/>
            <a:ext cx="83703" cy="97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 flipV="1">
            <a:off x="3022444" y="14192090"/>
            <a:ext cx="83703" cy="99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3106146" y="14191068"/>
            <a:ext cx="83703" cy="102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3189849" y="14190021"/>
            <a:ext cx="83703" cy="104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3273552" y="14188946"/>
            <a:ext cx="83703" cy="107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 flipV="1">
            <a:off x="3357255" y="14187843"/>
            <a:ext cx="83703" cy="110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 flipV="1">
            <a:off x="3440958" y="14186710"/>
            <a:ext cx="83703" cy="11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 flipV="1">
            <a:off x="3524660" y="14185544"/>
            <a:ext cx="83703" cy="116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 flipV="1">
            <a:off x="3608363" y="14184343"/>
            <a:ext cx="83703" cy="120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V="1">
            <a:off x="3692066" y="14183105"/>
            <a:ext cx="83703" cy="12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V="1">
            <a:off x="3775769" y="14181828"/>
            <a:ext cx="83703" cy="127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V="1">
            <a:off x="3859471" y="14180508"/>
            <a:ext cx="83703" cy="132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V="1">
            <a:off x="3943174" y="14179144"/>
            <a:ext cx="83703" cy="136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V="1">
            <a:off x="4026877" y="14177730"/>
            <a:ext cx="83703" cy="141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V="1">
            <a:off x="4110580" y="14176265"/>
            <a:ext cx="83703" cy="146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V="1">
            <a:off x="4194282" y="14174744"/>
            <a:ext cx="83703" cy="152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 flipV="1">
            <a:off x="4277985" y="14173162"/>
            <a:ext cx="83703" cy="158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 flipV="1">
            <a:off x="4361688" y="14171516"/>
            <a:ext cx="83703" cy="164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 flipV="1">
            <a:off x="4445391" y="14169800"/>
            <a:ext cx="83703" cy="171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 flipV="1">
            <a:off x="4529094" y="14168009"/>
            <a:ext cx="83703" cy="179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4612796" y="14166135"/>
            <a:ext cx="83703" cy="187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4696499" y="14164172"/>
            <a:ext cx="83703" cy="196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4780202" y="14162113"/>
            <a:ext cx="83703" cy="205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 flipV="1">
            <a:off x="4863905" y="14159949"/>
            <a:ext cx="83703" cy="21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 flipV="1">
            <a:off x="4947607" y="14157670"/>
            <a:ext cx="83703" cy="227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 flipV="1">
            <a:off x="5031310" y="14155264"/>
            <a:ext cx="83703" cy="240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 flipV="1">
            <a:off x="5115013" y="14152721"/>
            <a:ext cx="83703" cy="254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V="1">
            <a:off x="5198716" y="14150025"/>
            <a:ext cx="83703" cy="269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V="1">
            <a:off x="5282418" y="14147161"/>
            <a:ext cx="83703" cy="28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V="1">
            <a:off x="5366121" y="14144111"/>
            <a:ext cx="83703" cy="305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V="1">
            <a:off x="5449824" y="14140854"/>
            <a:ext cx="83703" cy="325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V="1">
            <a:off x="5533527" y="14137366"/>
            <a:ext cx="83703" cy="348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V="1">
            <a:off x="5617230" y="14133619"/>
            <a:ext cx="83703" cy="374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V="1">
            <a:off x="5700932" y="14129581"/>
            <a:ext cx="83703" cy="40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 flipV="1">
            <a:off x="5784635" y="14125213"/>
            <a:ext cx="83703" cy="436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 flipV="1">
            <a:off x="5868338" y="14120470"/>
            <a:ext cx="83703" cy="474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 flipV="1">
            <a:off x="5952041" y="14115299"/>
            <a:ext cx="83703" cy="517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 flipV="1">
            <a:off x="6035743" y="14109635"/>
            <a:ext cx="83703" cy="56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6119446" y="14103401"/>
            <a:ext cx="83703" cy="62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6203149" y="14096501"/>
            <a:ext cx="83703" cy="690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6286852" y="14088817"/>
            <a:ext cx="83703" cy="768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 flipV="1">
            <a:off x="6370554" y="14080203"/>
            <a:ext cx="83703" cy="861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 flipV="1">
            <a:off x="6454257" y="14070472"/>
            <a:ext cx="83703" cy="973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1" name="Text 208"/>
          <p:cNvSpPr/>
          <p:nvPr/>
        </p:nvSpPr>
        <p:spPr>
          <a:xfrm>
            <a:off x="1115568" y="10991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GPS: δL = 5 m (ipoteză)</a:t>
            </a:r>
            <a:endParaRPr lang="en-US" sz="1000" dirty="0"/>
          </a:p>
        </p:txBody>
      </p:sp>
      <p:sp>
        <p:nvSpPr>
          <p:cNvPr id="212" name="Text 209"/>
          <p:cNvSpPr/>
          <p:nvPr/>
        </p:nvSpPr>
        <p:spPr>
          <a:xfrm>
            <a:off x="3703320" y="10991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Telemetru: δL = 0,3 m (ipoteză)</a:t>
            </a:r>
            <a:endParaRPr lang="en-US" sz="1000" dirty="0"/>
          </a:p>
        </p:txBody>
      </p:sp>
      <p:sp>
        <p:nvSpPr>
          <p:cNvPr id="213" name="Text 210"/>
          <p:cNvSpPr/>
          <p:nvPr/>
        </p:nvSpPr>
        <p:spPr>
          <a:xfrm>
            <a:off x="1965960" y="14538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Elevația Soarelui e (grade)</a:t>
            </a:r>
            <a:endParaRPr lang="en-US" sz="1100" dirty="0"/>
          </a:p>
        </p:txBody>
      </p:sp>
      <p:sp>
        <p:nvSpPr>
          <p:cNvPr id="214" name="Text 211"/>
          <p:cNvSpPr/>
          <p:nvPr/>
        </p:nvSpPr>
        <p:spPr>
          <a:xfrm>
            <a:off x="713232" y="149412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δh ≈ tan(e) · δL</a:t>
            </a:r>
            <a:endParaRPr lang="en-US" sz="2000" dirty="0"/>
          </a:p>
        </p:txBody>
      </p:sp>
      <p:sp>
        <p:nvSpPr>
          <p:cNvPr id="215" name="Text 212"/>
          <p:cNvSpPr/>
          <p:nvPr/>
        </p:nvSpPr>
        <p:spPr>
          <a:xfrm>
            <a:off x="713232" y="153802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Modelul izolează eroarea lungimii; curbele exprimă ipoteze, nu precizii măsurate.</a:t>
            </a:r>
            <a:endParaRPr lang="en-US" sz="1100" dirty="0"/>
          </a:p>
        </p:txBody>
      </p:sp>
      <p:sp>
        <p:nvSpPr>
          <p:cNvPr id="216" name="Text 213"/>
          <p:cNvSpPr/>
          <p:nvPr/>
        </p:nvSpPr>
        <p:spPr>
          <a:xfrm>
            <a:off x="7909560" y="11237976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Clădiri eligibile în simulare (%)</a:t>
            </a:r>
            <a:endParaRPr lang="en-US" sz="1000" dirty="0"/>
          </a:p>
        </p:txBody>
      </p:sp>
      <p:sp>
        <p:nvSpPr>
          <p:cNvPr id="217" name="Shape 214"/>
          <p:cNvSpPr/>
          <p:nvPr/>
        </p:nvSpPr>
        <p:spPr>
          <a:xfrm>
            <a:off x="7909560" y="14200632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18" name="Text 215"/>
          <p:cNvSpPr/>
          <p:nvPr/>
        </p:nvSpPr>
        <p:spPr>
          <a:xfrm>
            <a:off x="7498080" y="141091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000" dirty="0"/>
          </a:p>
        </p:txBody>
      </p:sp>
      <p:sp>
        <p:nvSpPr>
          <p:cNvPr id="219" name="Shape 216"/>
          <p:cNvSpPr/>
          <p:nvPr/>
        </p:nvSpPr>
        <p:spPr>
          <a:xfrm>
            <a:off x="7909560" y="13673938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0" name="Text 217"/>
          <p:cNvSpPr/>
          <p:nvPr/>
        </p:nvSpPr>
        <p:spPr>
          <a:xfrm>
            <a:off x="7498080" y="1358249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909560" y="13147243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2" name="Text 219"/>
          <p:cNvSpPr/>
          <p:nvPr/>
        </p:nvSpPr>
        <p:spPr>
          <a:xfrm>
            <a:off x="7498080" y="13055803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40</a:t>
            </a:r>
            <a:endParaRPr lang="en-US" sz="1000" dirty="0"/>
          </a:p>
        </p:txBody>
      </p:sp>
      <p:sp>
        <p:nvSpPr>
          <p:cNvPr id="223" name="Shape 220"/>
          <p:cNvSpPr/>
          <p:nvPr/>
        </p:nvSpPr>
        <p:spPr>
          <a:xfrm>
            <a:off x="7909560" y="12620549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4" name="Text 221"/>
          <p:cNvSpPr/>
          <p:nvPr/>
        </p:nvSpPr>
        <p:spPr>
          <a:xfrm>
            <a:off x="7498080" y="12529109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</a:t>
            </a:r>
            <a:endParaRPr lang="en-US" sz="1000" dirty="0"/>
          </a:p>
        </p:txBody>
      </p:sp>
      <p:sp>
        <p:nvSpPr>
          <p:cNvPr id="225" name="Shape 222"/>
          <p:cNvSpPr/>
          <p:nvPr/>
        </p:nvSpPr>
        <p:spPr>
          <a:xfrm>
            <a:off x="7909560" y="12093854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6" name="Text 223"/>
          <p:cNvSpPr/>
          <p:nvPr/>
        </p:nvSpPr>
        <p:spPr>
          <a:xfrm>
            <a:off x="7498080" y="1200241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</a:t>
            </a:r>
            <a:endParaRPr lang="en-US" sz="1000" dirty="0"/>
          </a:p>
        </p:txBody>
      </p:sp>
      <p:sp>
        <p:nvSpPr>
          <p:cNvPr id="227" name="Shape 224"/>
          <p:cNvSpPr/>
          <p:nvPr/>
        </p:nvSpPr>
        <p:spPr>
          <a:xfrm>
            <a:off x="7909560" y="11567160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8" name="Text 225"/>
          <p:cNvSpPr/>
          <p:nvPr/>
        </p:nvSpPr>
        <p:spPr>
          <a:xfrm>
            <a:off x="7498080" y="114757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100</a:t>
            </a:r>
            <a:endParaRPr lang="en-US" sz="1000" dirty="0"/>
          </a:p>
        </p:txBody>
      </p:sp>
      <p:sp>
        <p:nvSpPr>
          <p:cNvPr id="229" name="Shape 226"/>
          <p:cNvSpPr/>
          <p:nvPr/>
        </p:nvSpPr>
        <p:spPr>
          <a:xfrm>
            <a:off x="8037576" y="11885810"/>
            <a:ext cx="274320" cy="2314822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8330184" y="12538911"/>
            <a:ext cx="274320" cy="1661721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1" name="Text 228"/>
          <p:cNvSpPr/>
          <p:nvPr/>
        </p:nvSpPr>
        <p:spPr>
          <a:xfrm>
            <a:off x="8001000" y="1167549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87,9</a:t>
            </a:r>
            <a:endParaRPr lang="en-US" sz="900" dirty="0"/>
          </a:p>
        </p:txBody>
      </p:sp>
      <p:sp>
        <p:nvSpPr>
          <p:cNvPr id="232" name="Text 229"/>
          <p:cNvSpPr/>
          <p:nvPr/>
        </p:nvSpPr>
        <p:spPr>
          <a:xfrm>
            <a:off x="79278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10:00</a:t>
            </a:r>
            <a:endParaRPr lang="en-US" sz="900" dirty="0"/>
          </a:p>
        </p:txBody>
      </p:sp>
      <p:sp>
        <p:nvSpPr>
          <p:cNvPr id="233" name="Shape 230"/>
          <p:cNvSpPr/>
          <p:nvPr/>
        </p:nvSpPr>
        <p:spPr>
          <a:xfrm>
            <a:off x="8951976" y="11827874"/>
            <a:ext cx="274320" cy="237275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4" name="Shape 231"/>
          <p:cNvSpPr/>
          <p:nvPr/>
        </p:nvSpPr>
        <p:spPr>
          <a:xfrm>
            <a:off x="9244584" y="12333500"/>
            <a:ext cx="274320" cy="186713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5" name="Text 232"/>
          <p:cNvSpPr/>
          <p:nvPr/>
        </p:nvSpPr>
        <p:spPr>
          <a:xfrm>
            <a:off x="8915400" y="1161756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90,1</a:t>
            </a:r>
            <a:endParaRPr lang="en-US" sz="900" dirty="0"/>
          </a:p>
        </p:txBody>
      </p:sp>
      <p:sp>
        <p:nvSpPr>
          <p:cNvPr id="236" name="Text 233"/>
          <p:cNvSpPr/>
          <p:nvPr/>
        </p:nvSpPr>
        <p:spPr>
          <a:xfrm>
            <a:off x="88422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12:00</a:t>
            </a:r>
            <a:endParaRPr lang="en-US" sz="900" dirty="0"/>
          </a:p>
        </p:txBody>
      </p:sp>
      <p:sp>
        <p:nvSpPr>
          <p:cNvPr id="237" name="Shape 234"/>
          <p:cNvSpPr/>
          <p:nvPr/>
        </p:nvSpPr>
        <p:spPr>
          <a:xfrm>
            <a:off x="9866376" y="11956914"/>
            <a:ext cx="274320" cy="224371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10158984" y="12631083"/>
            <a:ext cx="274320" cy="1569549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9" name="Text 236"/>
          <p:cNvSpPr/>
          <p:nvPr/>
        </p:nvSpPr>
        <p:spPr>
          <a:xfrm>
            <a:off x="9829800" y="1174660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85,2</a:t>
            </a:r>
            <a:endParaRPr lang="en-US" sz="900" dirty="0"/>
          </a:p>
        </p:txBody>
      </p:sp>
      <p:sp>
        <p:nvSpPr>
          <p:cNvPr id="240" name="Text 237"/>
          <p:cNvSpPr/>
          <p:nvPr/>
        </p:nvSpPr>
        <p:spPr>
          <a:xfrm>
            <a:off x="97566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14:00</a:t>
            </a:r>
            <a:endParaRPr lang="en-US" sz="900" dirty="0"/>
          </a:p>
        </p:txBody>
      </p:sp>
      <p:sp>
        <p:nvSpPr>
          <p:cNvPr id="241" name="Shape 238"/>
          <p:cNvSpPr/>
          <p:nvPr/>
        </p:nvSpPr>
        <p:spPr>
          <a:xfrm>
            <a:off x="10780776" y="11796272"/>
            <a:ext cx="274320" cy="2404360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2" name="Shape 239"/>
          <p:cNvSpPr/>
          <p:nvPr/>
        </p:nvSpPr>
        <p:spPr>
          <a:xfrm>
            <a:off x="11073384" y="12367735"/>
            <a:ext cx="274320" cy="1832897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43" name="Text 240"/>
          <p:cNvSpPr/>
          <p:nvPr/>
        </p:nvSpPr>
        <p:spPr>
          <a:xfrm>
            <a:off x="10744200" y="115859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91,3</a:t>
            </a:r>
            <a:endParaRPr lang="en-US" sz="900" dirty="0"/>
          </a:p>
        </p:txBody>
      </p:sp>
      <p:sp>
        <p:nvSpPr>
          <p:cNvPr id="244" name="Text 241"/>
          <p:cNvSpPr/>
          <p:nvPr/>
        </p:nvSpPr>
        <p:spPr>
          <a:xfrm>
            <a:off x="106710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09:00</a:t>
            </a:r>
            <a:endParaRPr lang="en-US" sz="900" dirty="0"/>
          </a:p>
        </p:txBody>
      </p:sp>
      <p:sp>
        <p:nvSpPr>
          <p:cNvPr id="245" name="Shape 242"/>
          <p:cNvSpPr/>
          <p:nvPr/>
        </p:nvSpPr>
        <p:spPr>
          <a:xfrm>
            <a:off x="11695176" y="11672499"/>
            <a:ext cx="274320" cy="2528133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6" name="Shape 243"/>
          <p:cNvSpPr/>
          <p:nvPr/>
        </p:nvSpPr>
        <p:spPr>
          <a:xfrm>
            <a:off x="11987784" y="12125456"/>
            <a:ext cx="274320" cy="207517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47" name="Text 244"/>
          <p:cNvSpPr/>
          <p:nvPr/>
        </p:nvSpPr>
        <p:spPr>
          <a:xfrm>
            <a:off x="11658600" y="1146218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96,0</a:t>
            </a:r>
            <a:endParaRPr lang="en-US" sz="900" dirty="0"/>
          </a:p>
        </p:txBody>
      </p:sp>
      <p:sp>
        <p:nvSpPr>
          <p:cNvPr id="248" name="Text 245"/>
          <p:cNvSpPr/>
          <p:nvPr/>
        </p:nvSpPr>
        <p:spPr>
          <a:xfrm>
            <a:off x="115854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13:00</a:t>
            </a:r>
            <a:endParaRPr lang="en-US" sz="900" dirty="0"/>
          </a:p>
        </p:txBody>
      </p:sp>
      <p:sp>
        <p:nvSpPr>
          <p:cNvPr id="249" name="Shape 246"/>
          <p:cNvSpPr/>
          <p:nvPr/>
        </p:nvSpPr>
        <p:spPr>
          <a:xfrm>
            <a:off x="12609576" y="11785738"/>
            <a:ext cx="274320" cy="2414894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50" name="Shape 247"/>
          <p:cNvSpPr/>
          <p:nvPr/>
        </p:nvSpPr>
        <p:spPr>
          <a:xfrm>
            <a:off x="12902184" y="12309799"/>
            <a:ext cx="274320" cy="1890833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1" name="Text 248"/>
          <p:cNvSpPr/>
          <p:nvPr/>
        </p:nvSpPr>
        <p:spPr>
          <a:xfrm>
            <a:off x="12573000" y="1157542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91,7</a:t>
            </a:r>
            <a:endParaRPr lang="en-US" sz="900" dirty="0"/>
          </a:p>
        </p:txBody>
      </p:sp>
      <p:sp>
        <p:nvSpPr>
          <p:cNvPr id="252" name="Text 249"/>
          <p:cNvSpPr/>
          <p:nvPr/>
        </p:nvSpPr>
        <p:spPr>
          <a:xfrm>
            <a:off x="124998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17:00</a:t>
            </a:r>
            <a:endParaRPr lang="en-US" sz="900" dirty="0"/>
          </a:p>
        </p:txBody>
      </p:sp>
      <p:sp>
        <p:nvSpPr>
          <p:cNvPr id="253" name="Shape 250"/>
          <p:cNvSpPr/>
          <p:nvPr/>
        </p:nvSpPr>
        <p:spPr>
          <a:xfrm>
            <a:off x="7909560" y="11045952"/>
            <a:ext cx="137160" cy="82296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54" name="Text 251"/>
          <p:cNvSpPr/>
          <p:nvPr/>
        </p:nvSpPr>
        <p:spPr>
          <a:xfrm>
            <a:off x="8138160" y="110093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Toate clădirile (n = 38.913)</a:t>
            </a:r>
            <a:endParaRPr lang="en-US" sz="1000" dirty="0"/>
          </a:p>
        </p:txBody>
      </p:sp>
      <p:sp>
        <p:nvSpPr>
          <p:cNvPr id="255" name="Shape 252"/>
          <p:cNvSpPr/>
          <p:nvPr/>
        </p:nvSpPr>
        <p:spPr>
          <a:xfrm>
            <a:off x="10789920" y="11045952"/>
            <a:ext cx="137160" cy="822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6" name="Text 253"/>
          <p:cNvSpPr/>
          <p:nvPr/>
        </p:nvSpPr>
        <p:spPr>
          <a:xfrm>
            <a:off x="11018520" y="110093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Înălțime ≥ 20 m (n = 805)</a:t>
            </a:r>
            <a:endParaRPr lang="en-US" sz="1000" dirty="0"/>
          </a:p>
        </p:txBody>
      </p:sp>
      <p:sp>
        <p:nvSpPr>
          <p:cNvPr id="257" name="Text 254"/>
          <p:cNvSpPr/>
          <p:nvPr/>
        </p:nvSpPr>
        <p:spPr>
          <a:xfrm>
            <a:off x="7635240" y="1494129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Toamna: 85–90% total; 60–71% la ≥ 20 m.</a:t>
            </a:r>
            <a:endParaRPr lang="en-US" sz="1500" dirty="0"/>
          </a:p>
        </p:txBody>
      </p:sp>
      <p:sp>
        <p:nvSpPr>
          <p:cNvPr id="258" name="Text 255"/>
          <p:cNvSpPr/>
          <p:nvPr/>
        </p:nvSpPr>
        <p:spPr>
          <a:xfrm>
            <a:off x="7635240" y="15380208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Simulare: obstacolele sunt celelalte clădiri. Arborii, mașinile și accesul fizic nu sunt incluse.</a:t>
            </a:r>
            <a:endParaRPr lang="en-US" sz="1100" dirty="0"/>
          </a:p>
        </p:txBody>
      </p:sp>
      <p:sp>
        <p:nvSpPr>
          <p:cNvPr id="259" name="Shape 256"/>
          <p:cNvSpPr/>
          <p:nvPr/>
        </p:nvSpPr>
        <p:spPr>
          <a:xfrm>
            <a:off x="548640" y="16230600"/>
            <a:ext cx="649224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0" name="Text 257"/>
          <p:cNvSpPr/>
          <p:nvPr/>
        </p:nvSpPr>
        <p:spPr>
          <a:xfrm>
            <a:off x="658368" y="1626260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  COMPARAȚIA GBA CU OSM</a:t>
            </a:r>
            <a:endParaRPr lang="en-US" sz="1300" dirty="0"/>
          </a:p>
        </p:txBody>
      </p:sp>
      <p:sp>
        <p:nvSpPr>
          <p:cNvPr id="261" name="Shape 258"/>
          <p:cNvSpPr/>
          <p:nvPr/>
        </p:nvSpPr>
        <p:spPr>
          <a:xfrm>
            <a:off x="7498080" y="16230600"/>
            <a:ext cx="658368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2" name="Text 259"/>
          <p:cNvSpPr/>
          <p:nvPr/>
        </p:nvSpPr>
        <p:spPr>
          <a:xfrm>
            <a:off x="7607808" y="1626260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  CERCETAREA SUSȚINE APLICAȚIA</a:t>
            </a:r>
            <a:endParaRPr lang="en-US" sz="1300" dirty="0"/>
          </a:p>
        </p:txBody>
      </p:sp>
      <p:sp>
        <p:nvSpPr>
          <p:cNvPr id="263" name="Text 260"/>
          <p:cNvSpPr/>
          <p:nvPr/>
        </p:nvSpPr>
        <p:spPr>
          <a:xfrm>
            <a:off x="594360" y="1666036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Tabelul 1  Diferențe GBA − înălțime etichetată OSM</a:t>
            </a:r>
            <a:endParaRPr lang="en-US" sz="1300" dirty="0"/>
          </a:p>
        </p:txBody>
      </p:sp>
      <p:sp>
        <p:nvSpPr>
          <p:cNvPr id="264" name="Shape 261"/>
          <p:cNvSpPr/>
          <p:nvPr/>
        </p:nvSpPr>
        <p:spPr>
          <a:xfrm>
            <a:off x="685800" y="17135856"/>
            <a:ext cx="150876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5" name="Text 262"/>
          <p:cNvSpPr/>
          <p:nvPr/>
        </p:nvSpPr>
        <p:spPr>
          <a:xfrm>
            <a:off x="713232" y="1719072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OSM</a:t>
            </a:r>
            <a:endParaRPr lang="en-US" sz="1100" dirty="0"/>
          </a:p>
        </p:txBody>
      </p:sp>
      <p:sp>
        <p:nvSpPr>
          <p:cNvPr id="266" name="Shape 263"/>
          <p:cNvSpPr/>
          <p:nvPr/>
        </p:nvSpPr>
        <p:spPr>
          <a:xfrm>
            <a:off x="2240280" y="17135856"/>
            <a:ext cx="64008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7" name="Text 264"/>
          <p:cNvSpPr/>
          <p:nvPr/>
        </p:nvSpPr>
        <p:spPr>
          <a:xfrm>
            <a:off x="2267712" y="1719072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</a:t>
            </a:r>
            <a:endParaRPr lang="en-US" sz="1100" dirty="0"/>
          </a:p>
        </p:txBody>
      </p:sp>
      <p:sp>
        <p:nvSpPr>
          <p:cNvPr id="268" name="Shape 265"/>
          <p:cNvSpPr/>
          <p:nvPr/>
        </p:nvSpPr>
        <p:spPr>
          <a:xfrm>
            <a:off x="2880360" y="17135856"/>
            <a:ext cx="123444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9" name="Text 266"/>
          <p:cNvSpPr/>
          <p:nvPr/>
        </p:nvSpPr>
        <p:spPr>
          <a:xfrm>
            <a:off x="2907792" y="1719072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Bias (m)</a:t>
            </a:r>
            <a:endParaRPr lang="en-US" sz="1100" dirty="0"/>
          </a:p>
        </p:txBody>
      </p:sp>
      <p:sp>
        <p:nvSpPr>
          <p:cNvPr id="270" name="Shape 267"/>
          <p:cNvSpPr/>
          <p:nvPr/>
        </p:nvSpPr>
        <p:spPr>
          <a:xfrm>
            <a:off x="4160520" y="17135856"/>
            <a:ext cx="109728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1" name="Text 268"/>
          <p:cNvSpPr/>
          <p:nvPr/>
        </p:nvSpPr>
        <p:spPr>
          <a:xfrm>
            <a:off x="4187952" y="1719072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MAE (m)</a:t>
            </a:r>
            <a:endParaRPr lang="en-US" sz="1100" dirty="0"/>
          </a:p>
        </p:txBody>
      </p:sp>
      <p:sp>
        <p:nvSpPr>
          <p:cNvPr id="272" name="Shape 269"/>
          <p:cNvSpPr/>
          <p:nvPr/>
        </p:nvSpPr>
        <p:spPr>
          <a:xfrm>
            <a:off x="5303520" y="17135856"/>
            <a:ext cx="96012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3" name="Text 270"/>
          <p:cNvSpPr/>
          <p:nvPr/>
        </p:nvSpPr>
        <p:spPr>
          <a:xfrm>
            <a:off x="5330952" y="1719072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 ±3 m</a:t>
            </a:r>
            <a:endParaRPr lang="en-US" sz="1100" dirty="0"/>
          </a:p>
        </p:txBody>
      </p:sp>
      <p:sp>
        <p:nvSpPr>
          <p:cNvPr id="274" name="Shape 271"/>
          <p:cNvSpPr/>
          <p:nvPr/>
        </p:nvSpPr>
        <p:spPr>
          <a:xfrm>
            <a:off x="685800" y="17501616"/>
            <a:ext cx="150876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75" name="Text 272"/>
          <p:cNvSpPr/>
          <p:nvPr/>
        </p:nvSpPr>
        <p:spPr>
          <a:xfrm>
            <a:off x="713232" y="1755648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0–10 m</a:t>
            </a:r>
            <a:endParaRPr lang="en-US" sz="1100" dirty="0"/>
          </a:p>
        </p:txBody>
      </p:sp>
      <p:sp>
        <p:nvSpPr>
          <p:cNvPr id="276" name="Shape 273"/>
          <p:cNvSpPr/>
          <p:nvPr/>
        </p:nvSpPr>
        <p:spPr>
          <a:xfrm>
            <a:off x="2240280" y="17501616"/>
            <a:ext cx="6400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77" name="Text 274"/>
          <p:cNvSpPr/>
          <p:nvPr/>
        </p:nvSpPr>
        <p:spPr>
          <a:xfrm>
            <a:off x="2267712" y="1755648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45</a:t>
            </a:r>
            <a:endParaRPr lang="en-US" sz="1100" dirty="0"/>
          </a:p>
        </p:txBody>
      </p:sp>
      <p:sp>
        <p:nvSpPr>
          <p:cNvPr id="278" name="Shape 275"/>
          <p:cNvSpPr/>
          <p:nvPr/>
        </p:nvSpPr>
        <p:spPr>
          <a:xfrm>
            <a:off x="2880360" y="17501616"/>
            <a:ext cx="123444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79" name="Text 276"/>
          <p:cNvSpPr/>
          <p:nvPr/>
        </p:nvSpPr>
        <p:spPr>
          <a:xfrm>
            <a:off x="2907792" y="1755648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-0,1</a:t>
            </a:r>
            <a:endParaRPr lang="en-US" sz="1100" dirty="0"/>
          </a:p>
        </p:txBody>
      </p:sp>
      <p:sp>
        <p:nvSpPr>
          <p:cNvPr id="280" name="Shape 277"/>
          <p:cNvSpPr/>
          <p:nvPr/>
        </p:nvSpPr>
        <p:spPr>
          <a:xfrm>
            <a:off x="4160520" y="17501616"/>
            <a:ext cx="10972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1" name="Text 278"/>
          <p:cNvSpPr/>
          <p:nvPr/>
        </p:nvSpPr>
        <p:spPr>
          <a:xfrm>
            <a:off x="4187952" y="1755648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2,3</a:t>
            </a:r>
            <a:endParaRPr lang="en-US" sz="1100" dirty="0"/>
          </a:p>
        </p:txBody>
      </p:sp>
      <p:sp>
        <p:nvSpPr>
          <p:cNvPr id="282" name="Shape 279"/>
          <p:cNvSpPr/>
          <p:nvPr/>
        </p:nvSpPr>
        <p:spPr>
          <a:xfrm>
            <a:off x="5303520" y="17501616"/>
            <a:ext cx="96012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3" name="Text 280"/>
          <p:cNvSpPr/>
          <p:nvPr/>
        </p:nvSpPr>
        <p:spPr>
          <a:xfrm>
            <a:off x="5330952" y="1755648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71,1%</a:t>
            </a:r>
            <a:endParaRPr lang="en-US" sz="1100" dirty="0"/>
          </a:p>
        </p:txBody>
      </p:sp>
      <p:sp>
        <p:nvSpPr>
          <p:cNvPr id="284" name="Shape 281"/>
          <p:cNvSpPr/>
          <p:nvPr/>
        </p:nvSpPr>
        <p:spPr>
          <a:xfrm>
            <a:off x="685800" y="17867376"/>
            <a:ext cx="150876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85" name="Text 282"/>
          <p:cNvSpPr/>
          <p:nvPr/>
        </p:nvSpPr>
        <p:spPr>
          <a:xfrm>
            <a:off x="713232" y="1792224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</a:t>
            </a:r>
            <a:endParaRPr lang="en-US" sz="1100" dirty="0"/>
          </a:p>
        </p:txBody>
      </p:sp>
      <p:sp>
        <p:nvSpPr>
          <p:cNvPr id="286" name="Shape 283"/>
          <p:cNvSpPr/>
          <p:nvPr/>
        </p:nvSpPr>
        <p:spPr>
          <a:xfrm>
            <a:off x="2240280" y="17867376"/>
            <a:ext cx="64008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87" name="Text 284"/>
          <p:cNvSpPr/>
          <p:nvPr/>
        </p:nvSpPr>
        <p:spPr>
          <a:xfrm>
            <a:off x="2267712" y="1792224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28</a:t>
            </a:r>
            <a:endParaRPr lang="en-US" sz="1100" dirty="0"/>
          </a:p>
        </p:txBody>
      </p:sp>
      <p:sp>
        <p:nvSpPr>
          <p:cNvPr id="288" name="Shape 285"/>
          <p:cNvSpPr/>
          <p:nvPr/>
        </p:nvSpPr>
        <p:spPr>
          <a:xfrm>
            <a:off x="2880360" y="17867376"/>
            <a:ext cx="123444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89" name="Text 286"/>
          <p:cNvSpPr/>
          <p:nvPr/>
        </p:nvSpPr>
        <p:spPr>
          <a:xfrm>
            <a:off x="2907792" y="1792224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-5,1</a:t>
            </a:r>
            <a:endParaRPr lang="en-US" sz="1100" dirty="0"/>
          </a:p>
        </p:txBody>
      </p:sp>
      <p:sp>
        <p:nvSpPr>
          <p:cNvPr id="290" name="Shape 287"/>
          <p:cNvSpPr/>
          <p:nvPr/>
        </p:nvSpPr>
        <p:spPr>
          <a:xfrm>
            <a:off x="4160520" y="17867376"/>
            <a:ext cx="109728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1" name="Text 288"/>
          <p:cNvSpPr/>
          <p:nvPr/>
        </p:nvSpPr>
        <p:spPr>
          <a:xfrm>
            <a:off x="4187952" y="1792224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5,5</a:t>
            </a:r>
            <a:endParaRPr lang="en-US" sz="1100" dirty="0"/>
          </a:p>
        </p:txBody>
      </p:sp>
      <p:sp>
        <p:nvSpPr>
          <p:cNvPr id="292" name="Shape 289"/>
          <p:cNvSpPr/>
          <p:nvPr/>
        </p:nvSpPr>
        <p:spPr>
          <a:xfrm>
            <a:off x="5303520" y="17867376"/>
            <a:ext cx="96012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3" name="Text 290"/>
          <p:cNvSpPr/>
          <p:nvPr/>
        </p:nvSpPr>
        <p:spPr>
          <a:xfrm>
            <a:off x="5330952" y="1792224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17,9%</a:t>
            </a:r>
            <a:endParaRPr lang="en-US" sz="1100" dirty="0"/>
          </a:p>
        </p:txBody>
      </p:sp>
      <p:sp>
        <p:nvSpPr>
          <p:cNvPr id="294" name="Shape 291"/>
          <p:cNvSpPr/>
          <p:nvPr/>
        </p:nvSpPr>
        <p:spPr>
          <a:xfrm>
            <a:off x="685800" y="18233136"/>
            <a:ext cx="150876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5" name="Text 292"/>
          <p:cNvSpPr/>
          <p:nvPr/>
        </p:nvSpPr>
        <p:spPr>
          <a:xfrm>
            <a:off x="713232" y="1828800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20–40 m</a:t>
            </a:r>
            <a:endParaRPr lang="en-US" sz="1100" dirty="0"/>
          </a:p>
        </p:txBody>
      </p:sp>
      <p:sp>
        <p:nvSpPr>
          <p:cNvPr id="296" name="Shape 293"/>
          <p:cNvSpPr/>
          <p:nvPr/>
        </p:nvSpPr>
        <p:spPr>
          <a:xfrm>
            <a:off x="2240280" y="18233136"/>
            <a:ext cx="6400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7" name="Text 294"/>
          <p:cNvSpPr/>
          <p:nvPr/>
        </p:nvSpPr>
        <p:spPr>
          <a:xfrm>
            <a:off x="2267712" y="1828800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100" dirty="0"/>
          </a:p>
        </p:txBody>
      </p:sp>
      <p:sp>
        <p:nvSpPr>
          <p:cNvPr id="298" name="Shape 295"/>
          <p:cNvSpPr/>
          <p:nvPr/>
        </p:nvSpPr>
        <p:spPr>
          <a:xfrm>
            <a:off x="2880360" y="18233136"/>
            <a:ext cx="123444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9" name="Text 296"/>
          <p:cNvSpPr/>
          <p:nvPr/>
        </p:nvSpPr>
        <p:spPr>
          <a:xfrm>
            <a:off x="2907792" y="182880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-15,7</a:t>
            </a:r>
            <a:endParaRPr lang="en-US" sz="1100" dirty="0"/>
          </a:p>
        </p:txBody>
      </p:sp>
      <p:sp>
        <p:nvSpPr>
          <p:cNvPr id="300" name="Shape 297"/>
          <p:cNvSpPr/>
          <p:nvPr/>
        </p:nvSpPr>
        <p:spPr>
          <a:xfrm>
            <a:off x="4160520" y="18233136"/>
            <a:ext cx="10972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1" name="Text 298"/>
          <p:cNvSpPr/>
          <p:nvPr/>
        </p:nvSpPr>
        <p:spPr>
          <a:xfrm>
            <a:off x="4187952" y="1828800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15,7</a:t>
            </a:r>
            <a:endParaRPr lang="en-US" sz="1100" dirty="0"/>
          </a:p>
        </p:txBody>
      </p:sp>
      <p:sp>
        <p:nvSpPr>
          <p:cNvPr id="302" name="Shape 299"/>
          <p:cNvSpPr/>
          <p:nvPr/>
        </p:nvSpPr>
        <p:spPr>
          <a:xfrm>
            <a:off x="5303520" y="18233136"/>
            <a:ext cx="96012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3" name="Text 300"/>
          <p:cNvSpPr/>
          <p:nvPr/>
        </p:nvSpPr>
        <p:spPr>
          <a:xfrm>
            <a:off x="5330952" y="1828800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10,0%</a:t>
            </a:r>
            <a:endParaRPr lang="en-US" sz="1100" dirty="0"/>
          </a:p>
        </p:txBody>
      </p:sp>
      <p:sp>
        <p:nvSpPr>
          <p:cNvPr id="304" name="Text 301"/>
          <p:cNvSpPr/>
          <p:nvPr/>
        </p:nvSpPr>
        <p:spPr>
          <a:xfrm>
            <a:off x="713232" y="187909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Referințe OSM; total n = 88. Cinci cazuri ≥ 40 m sunt omise din tabel.</a:t>
            </a:r>
            <a:endParaRPr lang="en-US" sz="1100" dirty="0"/>
          </a:p>
        </p:txBody>
      </p:sp>
      <p:sp>
        <p:nvSpPr>
          <p:cNvPr id="305" name="Text 302"/>
          <p:cNvSpPr/>
          <p:nvPr/>
        </p:nvSpPr>
        <p:spPr>
          <a:xfrm>
            <a:off x="713232" y="1936699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Subset concordant cu etajele: n = 37; bias −5,0 m; MAE 6,1 m.</a:t>
            </a:r>
            <a:endParaRPr lang="en-US" sz="1100" dirty="0"/>
          </a:p>
        </p:txBody>
      </p:sp>
      <p:sp>
        <p:nvSpPr>
          <p:cNvPr id="306" name="Text 303"/>
          <p:cNvSpPr/>
          <p:nvPr/>
        </p:nvSpPr>
        <p:spPr>
          <a:xfrm>
            <a:off x="7635240" y="1667865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Întrebarea științifică</a:t>
            </a:r>
            <a:endParaRPr lang="en-US" sz="1300" dirty="0"/>
          </a:p>
        </p:txBody>
      </p:sp>
      <p:sp>
        <p:nvSpPr>
          <p:cNvPr id="307" name="Text 304"/>
          <p:cNvSpPr/>
          <p:nvPr/>
        </p:nvSpPr>
        <p:spPr>
          <a:xfrm>
            <a:off x="7635240" y="1704441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Cât de precis putem estima înălțimea unei clădiri din umbră și cum alegem momentul măsurării?</a:t>
            </a:r>
            <a:endParaRPr lang="en-US" sz="1400" dirty="0"/>
          </a:p>
        </p:txBody>
      </p:sp>
      <p:sp>
        <p:nvSpPr>
          <p:cNvPr id="308" name="Text 305"/>
          <p:cNvSpPr/>
          <p:nvPr/>
        </p:nvSpPr>
        <p:spPr>
          <a:xfrm>
            <a:off x="7635240" y="178765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 la măsurare la recomandare</a:t>
            </a:r>
            <a:endParaRPr lang="en-US" sz="1300" dirty="0"/>
          </a:p>
        </p:txBody>
      </p:sp>
      <p:sp>
        <p:nvSpPr>
          <p:cNvPr id="309" name="Text 306"/>
          <p:cNvSpPr/>
          <p:nvPr/>
        </p:nvSpPr>
        <p:spPr>
          <a:xfrm>
            <a:off x="7635240" y="1826971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Lungimea umbrei + poziția Soarelui → înălțime estimată → confirmare în aplicație → actualizarea umbrelor și traseelor.</a:t>
            </a:r>
            <a:endParaRPr lang="en-US" sz="1200" dirty="0"/>
          </a:p>
        </p:txBody>
      </p:sp>
      <p:sp>
        <p:nvSpPr>
          <p:cNvPr id="310" name="Text 307"/>
          <p:cNvSpPr/>
          <p:nvPr/>
        </p:nvSpPr>
        <p:spPr>
          <a:xfrm>
            <a:off x="7635240" y="19138392"/>
            <a:ext cx="6126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Testată pe teren în Constanța. Trasee umbrite în București și în toate reședințele de județ; înălțimi confirmate de utilizatori.</a:t>
            </a:r>
            <a:endParaRPr lang="en-US" sz="1200" dirty="0"/>
          </a:p>
        </p:txBody>
      </p:sp>
      <p:sp>
        <p:nvSpPr>
          <p:cNvPr id="311" name="Shape 308"/>
          <p:cNvSpPr/>
          <p:nvPr/>
        </p:nvSpPr>
        <p:spPr>
          <a:xfrm>
            <a:off x="548640" y="20116800"/>
            <a:ext cx="13533120" cy="438912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312" name="Text 309"/>
          <p:cNvSpPr/>
          <p:nvPr/>
        </p:nvSpPr>
        <p:spPr>
          <a:xfrm>
            <a:off x="713232" y="20199096"/>
            <a:ext cx="1307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REZULTATE COMPUTAȚIONALE: ANALIZA DATELOR OSM / GBA ȘI SIMULAREA UMBRELOR</a:t>
            </a:r>
            <a:endParaRPr lang="en-US" sz="1300" dirty="0"/>
          </a:p>
        </p:txBody>
      </p:sp>
      <p:sp>
        <p:nvSpPr>
          <p:cNvPr id="313" name="Text 310"/>
          <p:cNvSpPr/>
          <p:nvPr/>
        </p:nvSpPr>
        <p:spPr>
          <a:xfrm>
            <a:off x="594360" y="20720304"/>
            <a:ext cx="1325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Surse: OpenStreetMap contributors (ODbL); Zhu et al., GlobalBuildingAtlas, ESSD 2025; NOAA/Meeus; Reda &amp; Andreas, Solar Energy 2004.</a:t>
            </a:r>
            <a:endParaRPr lang="en-US" sz="1000" dirty="0"/>
          </a:p>
        </p:txBody>
      </p:sp>
      <p:sp>
        <p:nvSpPr>
          <p:cNvPr id="314" name="Shape 311"/>
          <p:cNvSpPr/>
          <p:nvPr/>
        </p:nvSpPr>
        <p:spPr>
          <a:xfrm>
            <a:off x="594360" y="21232368"/>
            <a:ext cx="13441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315" name="Text 312"/>
          <p:cNvSpPr/>
          <p:nvPr/>
        </p:nvSpPr>
        <p:spPr>
          <a:xfrm>
            <a:off x="594360" y="21305520"/>
            <a:ext cx="1335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Liceul Tehnologic de Marină · Liceul Internațional de Informatică Constanța · Liceul Tehnologic de Electrotehnică și Telecomunicații</a:t>
            </a:r>
            <a:endParaRPr lang="en-US" sz="900" dirty="0"/>
          </a:p>
        </p:txBody>
      </p:sp>
      <p:sp>
        <p:nvSpPr>
          <p:cNvPr id="316" name="Text 313"/>
          <p:cNvSpPr/>
          <p:nvPr/>
        </p:nvSpPr>
        <p:spPr>
          <a:xfrm>
            <a:off x="594360" y="21570696"/>
            <a:ext cx="1335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Coordonator: prof. Ramona Rădulescu · Informatică pentru Viitor · radramra@gmail.com     |     github.com/Ieditzu/umbra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UMBRA — poster științific</dc:title>
  <dc:subject>PptxGenJS Presentation</dc:subject>
  <dc:creator>Echipa Umbra</dc:creator>
  <cp:lastModifiedBy>Echipa Umbra</cp:lastModifiedBy>
  <cp:revision>1</cp:revision>
  <dcterms:created xsi:type="dcterms:W3CDTF">2026-10-29T09:41:35Z</dcterms:created>
  <dcterms:modified xsi:type="dcterms:W3CDTF">2026-10-29T09:41:35Z</dcterms:modified>
</cp:coreProperties>
</file>